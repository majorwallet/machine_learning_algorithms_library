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FA3ACA-5605-4274-8CDE-D36345998A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532593A-79F0-4795-9CD6-C77213128C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A043DD-FF21-499D-B41E-FE91A897A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1791E3-AB59-4BE7-8736-728887DF4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D3D822-91A5-404B-9250-637B151B3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9847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1AB9C6-0C5A-4997-8A5D-682537F0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F52487-473D-4444-A519-F1DDC6B285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AFEB0AE-F01E-45E4-93F1-EE7614FA8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48BE5B-B867-4121-A49B-8A70AB659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964C48-8E48-4370-9ACC-5B7AB7E9C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5730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A6F7B-5778-42B0-8F3C-02C40EDF0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9797885-64DA-4435-91B3-69895166C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6FDF8F5-01E0-4A9B-ABA2-89A9AED4F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CC53C7-D46C-4EC4-AFE9-3258EC142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288A5D-84EA-4D95-B3D8-B9EE9FC20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7191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88E009-1487-4AAF-A58E-8FB3ABF32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FEE8FB-B8DB-46C6-ABAF-FBEDFEAE1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9DFF3E-62ED-49EA-B4C1-2E6D67E0AD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BD452B-EAB7-4FEA-8198-3E38AF995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A1F0ED0-5389-4A6D-88C6-074D0817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21714F-519E-44A7-92E0-0E457E8F1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2183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54C32D-E88A-4EA6-BD6A-0F3A0FFFF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E64CFF-0D30-45B7-BEF8-26A91A6E6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01FAAA-A329-4A2E-942A-42F61156FD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51DC279-E0D8-4B05-80D0-E4BE86C286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353FF1-794E-4A9D-B8E0-5C13D750AE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229D0C-20C2-4A1B-A935-675004305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C3504C0-C0B6-4EBA-824C-EC2E17278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33B0B6-51F5-4FAD-A2B9-BF8F8D1D1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1346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3A3A6B-56EB-4B25-8F1F-9897258D5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3D41989-9B51-4E11-927E-9D6B86BA0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ADAF117-B8E8-41DC-8BA3-0E5BDD567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EA60E0D-1F33-4EFC-92DB-799303F10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2864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F5270ED-5A2E-41AF-A413-51C37757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67D7ACD-7EF4-4691-B738-D483DF31A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A8E1B-831D-4578-9D74-46D27661A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134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82F88A-6F36-44D5-83BA-AAF0E2036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15C2-6B61-4905-A1F6-08B7C2A36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9EFDCD6-07F0-44A3-8411-36D5BC82FC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63B2D21-F4B5-4333-9A53-7EAAEBF9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4B4BE39-731E-4114-A828-B4CFB7476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E26F6F-A3B0-4128-AC37-AA37B4A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55352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30315A-D17F-4D6B-9CE7-59104F761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B1F6CAD-07ED-4EB2-9D65-DB48597FB8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B5C5CA8-08ED-4A4B-82D7-52415EFD85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8B3E0-5F01-4004-B604-E149B4AF6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8D5B-FBBF-4483-99E0-7F34405B6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352EB2E-684E-4D29-920D-AA2B5C716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6879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5065A-867E-40C3-816A-D47BBAEFF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312505F-81A5-48D7-8055-1DE1093128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64D69-581B-418A-A5F3-20273FB94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A2DEC7-431B-49C8-B295-E5810AA3D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0B35FA-172C-4C33-8A6D-A2355FA08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5543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02903AB-1385-45EA-8459-D9E73B2D03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57B6BCF-5B80-4AC6-B88B-7669E981F7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DD2A93-4205-404D-A89F-E3F72CAF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5B9F5A-61A0-46FE-AF27-048CDE8B7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41B6A3B-3BB7-4AAC-9625-2DDEAF5E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0378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E29AD02-4180-419F-84C8-381675609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E1E40E-FAB8-471B-807D-E12B3973A5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E5A4-25DA-44CE-9068-07E005EE26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C7DBD6-C13B-417E-8330-F3B8993C078A}" type="datetimeFigureOut">
              <a:rPr lang="ko-KR" altLang="en-US" smtClean="0"/>
              <a:t>2022-04-12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766E2E-E20A-4FDE-A2AD-F6F5F77C5B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073CDE-AD19-46F1-903F-93F759231E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7408D3-33D7-4CD5-BFCC-74EB4EA0206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2771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FBA749-92AB-45F5-A5B9-1FB19BC174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Unsupervised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9DBC248-5B4C-4735-AD63-7BF2D6109F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Local Linear Embedding, LLE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F1395D0-51A0-4404-B999-D86CBCA95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000AFD-8775-421D-9052-0757397E4147}"/>
              </a:ext>
            </a:extLst>
          </p:cNvPr>
          <p:cNvSpPr txBox="1"/>
          <p:nvPr/>
        </p:nvSpPr>
        <p:spPr>
          <a:xfrm>
            <a:off x="0" y="6211669"/>
            <a:ext cx="2805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경희대학교 컴퓨터공학과</a:t>
            </a:r>
            <a:endParaRPr lang="en-US" altLang="ko-KR" dirty="0"/>
          </a:p>
          <a:p>
            <a:r>
              <a:rPr lang="en-US" altLang="ko-KR" dirty="0"/>
              <a:t>2019102191 </a:t>
            </a:r>
            <a:r>
              <a:rPr lang="ko-KR" altLang="en-US" dirty="0"/>
              <a:t>신주영</a:t>
            </a:r>
          </a:p>
        </p:txBody>
      </p:sp>
    </p:spTree>
    <p:extLst>
      <p:ext uri="{BB962C8B-B14F-4D97-AF65-F5344CB8AC3E}">
        <p14:creationId xmlns:p14="http://schemas.microsoft.com/office/powerpoint/2010/main" val="2714013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40961-8433-45B4-9971-EEEE06E58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Dictionary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12C357-8B58-4C80-9C0F-277140D430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</a:rPr>
              <a:t>manifold: The low-dimensional manifold is a low-dimensional shape bent or twisted in a high-dimensional space.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75C7467-E6E4-477F-AA33-21F15135D6B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938" y="1825625"/>
            <a:ext cx="3978442" cy="392563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28F8509-B123-4F59-84A3-4ED97E298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4343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38A385-E52F-4B4B-AF20-3E3AB7063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an algorithm that represents a curved or twisted structure in a high-dimensional space as a simple structure in a low-dimensional space.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is one of the manifold learnings that dimensionally reduce data of nonlinear structures.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LLE takes out the 2D structure hidden in the 3D space and represents it as 2D data.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673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1CA9C-D61D-4F44-8906-9353A301D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437E611-D0FA-4F71-9C3B-4BD8A0B649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243" y="2247037"/>
            <a:ext cx="8673513" cy="3320716"/>
          </a:xfr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03B52E7-2F47-4BB9-86CB-2CF5A96ABD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010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Fundamental Concept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Three steps in LLE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Construct </a:t>
            </a:r>
            <a:r>
              <a:rPr lang="en-US" altLang="ko-KR" b="0" i="0" dirty="0" err="1">
                <a:solidFill>
                  <a:srgbClr val="000000"/>
                </a:solidFill>
                <a:effectLst/>
              </a:rPr>
              <a:t>kNN</a:t>
            </a:r>
            <a:r>
              <a:rPr lang="en-US" altLang="ko-KR" b="0" i="0" dirty="0">
                <a:solidFill>
                  <a:srgbClr val="000000"/>
                </a:solidFill>
                <a:effectLst/>
              </a:rPr>
              <a:t> graph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Calculate the reconstruction of weights for reconstructing every point by its neighbors</a:t>
            </a:r>
          </a:p>
          <a:p>
            <a:pPr marL="914400" lvl="1" indent="-457200" algn="l">
              <a:buFont typeface="+mj-lt"/>
              <a:buAutoNum type="arabicPeriod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Use the obtained weights to embed the points in the low dimensional subspace</a:t>
            </a: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11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Training data: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j–</a:t>
                </a:r>
                <a:r>
                  <a:rPr lang="en-US" altLang="ko-KR" dirty="0" err="1">
                    <a:solidFill>
                      <a:srgbClr val="000000"/>
                    </a:solidFill>
                  </a:rPr>
                  <a:t>th</a:t>
                </a:r>
                <a:r>
                  <a:rPr lang="en-US" altLang="ko-KR" dirty="0">
                    <a:solidFill>
                      <a:srgbClr val="000000"/>
                    </a:solidFill>
                  </a:rPr>
                  <a:t> neighbor of</a:t>
                </a:r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 : 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r>
                  <a:rPr lang="en-US" altLang="ko-KR" dirty="0">
                    <a:solidFill>
                      <a:srgbClr val="000000"/>
                    </a:solidFill>
                  </a:rPr>
                  <a:t>Test dataset: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sSubSup>
                          <m:sSub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}</m:t>
                        </m:r>
                        <m:r>
                          <m:rPr>
                            <m:nor/>
                          </m:rPr>
                          <a:rPr lang="ko-KR" altLang="en-US" dirty="0"/>
                          <m:t> 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sSub>
                          <m:sSubPr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p>
                    </m:sSup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r>
                  <a:rPr lang="en-US" altLang="ko-KR" dirty="0">
                    <a:solidFill>
                      <a:srgbClr val="000000"/>
                    </a:solidFill>
                  </a:rPr>
                  <a:t>Training neighbors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dirty="0">
                    <a:solidFill>
                      <a:srgbClr val="000000"/>
                    </a:solidFill>
                    <a:latin typeface="Helvetica Neue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: 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,…,</m:t>
                    </m:r>
                    <m:sSubSup>
                      <m:sSub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ko-K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]∈</m:t>
                    </m:r>
                    <m:sSup>
                      <m:sSupPr>
                        <m:ctrlP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altLang="ko-KR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altLang="ko-KR" dirty="0">
                  <a:solidFill>
                    <a:srgbClr val="000000"/>
                  </a:solidFill>
                  <a:latin typeface="Helvetica Neue"/>
                </a:endParaRPr>
              </a:p>
              <a:p>
                <a:pPr algn="l">
                  <a:buFont typeface="Arial" panose="020B0604020202020204" pitchFamily="34" charset="0"/>
                  <a:buChar char="•"/>
                </a:pPr>
                <a:endParaRPr lang="en-US" altLang="ko-KR" b="0" i="0" dirty="0">
                  <a:solidFill>
                    <a:srgbClr val="000000"/>
                  </a:solidFill>
                  <a:effectLst/>
                  <a:latin typeface="Helvetica Neue"/>
                </a:endParaRPr>
              </a:p>
              <a:p>
                <a:endParaRPr lang="ko-KR" altLang="en-US" dirty="0"/>
              </a:p>
            </p:txBody>
          </p:sp>
        </mc:Choice>
        <mc:Fallback xmlns="">
          <p:sp>
            <p:nvSpPr>
              <p:cNvPr id="3" name="내용 개체 틀 2">
                <a:extLst>
                  <a:ext uri="{FF2B5EF4-FFF2-40B4-BE49-F238E27FC236}">
                    <a16:creationId xmlns:a16="http://schemas.microsoft.com/office/drawing/2014/main" id="{C390F7BD-D3DE-4461-B2F6-64926AC958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1763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Linear regional relationship modeling.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dirty="0">
                <a:solidFill>
                  <a:srgbClr val="000000"/>
                </a:solidFill>
              </a:rPr>
              <a:t>Fix the sample and find the optimal weight.</a:t>
            </a:r>
            <a:endParaRPr lang="en-US" altLang="ko-KR" b="0" i="0" dirty="0">
              <a:solidFill>
                <a:srgbClr val="000000"/>
              </a:solidFill>
              <a:effectLst/>
            </a:endParaRPr>
          </a:p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/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acc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𝑋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DDF403-81C0-4F3B-88FE-2CF53783C8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22942"/>
                <a:ext cx="3818931" cy="8667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/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ko-KR" altLang="en-US" i="1">
                        <a:latin typeface="Cambria Math" panose="02040503050406030204" pitchFamily="18" charset="0"/>
                      </a:rPr>
                      <m:t>조</m:t>
                    </m:r>
                  </m:oMath>
                </a14:m>
                <a:r>
                  <a:rPr lang="ko-KR" altLang="en-US" dirty="0"/>
                  <a:t>건</a:t>
                </a:r>
                <a:r>
                  <a:rPr lang="en-US" altLang="ko-KR" dirty="0"/>
                  <a:t>]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ko-KR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Pre>
                          <m:sPrePr>
                            <m:ctrlPr>
                              <a:rPr lang="en-US" altLang="ko-KR" i="1" dirty="0" smtClean="0">
                                <a:latin typeface="Cambria Math" panose="02040503050406030204" pitchFamily="18" charset="0"/>
                              </a:rPr>
                            </m:ctrlPr>
                          </m:sPrePr>
                          <m:sub>
                            <m:nary>
                              <m:naryPr>
                                <m:chr m:val="∑"/>
                                <m:ctrlPr>
                                  <a:rPr lang="en-US" altLang="ko-KR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ko-KR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b="0" i="1" dirty="0" smtClean="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en-US" altLang="ko-KR" b="0" i="1" dirty="0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nary>
                          </m:sub>
                          <m:sup>
                            <m:sSub>
                              <m:sSub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</m:sSub>
                          </m:sup>
                          <m:e>
                            <m:sPre>
                              <m:sPrePr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sPrePr>
                              <m:sub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=1, 2, 3, …,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일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                                                                                  </m:t>
                                </m:r>
                              </m:sub>
                              <m:sup>
                                <m:sSup>
                                  <m:sSupPr>
                                    <m:ctrlPr>
                                      <a:rPr lang="en-US" altLang="ko-K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d>
                                      <m:dPr>
                                        <m:ctrlP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e>
                                    </m:d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p>
                                  <m:sSupPr>
                                    <m:ctrlP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ko-KR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의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최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근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이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웃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개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중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하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나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가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아</m:t>
                                </m:r>
                                <m:r>
                                  <a:rPr lang="ko-KR" altLang="en-US" i="1" smtClean="0">
                                    <a:latin typeface="Cambria Math" panose="02040503050406030204" pitchFamily="18" charset="0"/>
                                  </a:rPr>
                                  <m:t>닐</m:t>
                                </m:r>
                                <m:r>
                                  <a:rPr lang="en-US" altLang="ko-KR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ko-KR" altLang="en-US" i="1">
                                    <a:latin typeface="Cambria Math" panose="02040503050406030204" pitchFamily="18" charset="0"/>
                                  </a:rPr>
                                  <m:t>때</m:t>
                                </m:r>
                              </m:sup>
                              <m:e/>
                            </m:sPre>
                          </m:e>
                        </m:sPre>
                      </m:e>
                    </m:d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AA7D3B-63FA-46C1-B04D-F3EB18AA0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730368"/>
                <a:ext cx="6379247" cy="8842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8453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5CF1A5-E7BF-484C-B563-E0B0090CE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Algorithm</a:t>
            </a:r>
            <a:br>
              <a:rPr lang="en-US" altLang="ko-KR" dirty="0"/>
            </a:br>
            <a:r>
              <a:rPr lang="en-US" altLang="ko-KR" sz="2400" dirty="0"/>
              <a:t>LLE step 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90F7BD-D3DE-4461-B2F6-64926AC95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Reduce the dimension of preserving relationships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0" i="0" dirty="0">
                <a:solidFill>
                  <a:srgbClr val="000000"/>
                </a:solidFill>
                <a:effectLst/>
              </a:rPr>
              <a:t>Fix the weights and find the optimal location of the sample image in the low-dimensional space.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1D4ABB4-7A7F-4A16-9B21-99AC71A414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/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𝑍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𝑎𝑟𝑔𝑚𝑖𝑛</m:t>
                      </m:r>
                      <m:nary>
                        <m:naryPr>
                          <m:chr m:val="∑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  <m:e>
                          <m:sSup>
                            <m:sSup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ctrl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p>
                                    <m:sSupPr>
                                      <m:ctrlP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𝑍</m:t>
                                      </m:r>
                                    </m:e>
                                    <m:sup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r>
                                        <a:rPr lang="en-US" altLang="ko-K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sup>
                                  </m:s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nary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1AE7616-9556-4218-839F-EA00F07296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429000"/>
                <a:ext cx="3670044" cy="84221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008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B0237-A0B5-4EBA-8931-21916DDC5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Sample Code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2D941E-9E90-4A7C-BD60-35356E97F45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altLang="ko-KR" dirty="0"/>
              <a:t>Import libraries</a:t>
            </a:r>
          </a:p>
          <a:p>
            <a:r>
              <a:rPr lang="en-US" altLang="ko-KR" dirty="0"/>
              <a:t>Make dataset</a:t>
            </a:r>
          </a:p>
          <a:p>
            <a:r>
              <a:rPr lang="en-US" altLang="ko-KR" dirty="0"/>
              <a:t>Set </a:t>
            </a:r>
            <a:r>
              <a:rPr lang="en-US" altLang="ko-KR" dirty="0" err="1"/>
              <a:t>n_neighbors</a:t>
            </a:r>
            <a:r>
              <a:rPr lang="en-US" altLang="ko-KR" dirty="0"/>
              <a:t> and dimension</a:t>
            </a:r>
          </a:p>
          <a:p>
            <a:r>
              <a:rPr lang="en-US" altLang="ko-KR" dirty="0"/>
              <a:t>Train data</a:t>
            </a:r>
          </a:p>
          <a:p>
            <a:r>
              <a:rPr lang="en-US" altLang="ko-KR" dirty="0"/>
              <a:t>Print result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014757D0-53FD-4766-BB86-0176250F0D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339608"/>
            <a:ext cx="5181600" cy="3323371"/>
          </a:xfr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3B9212F-5231-43BB-830E-5F40A4732D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429" y="6124103"/>
            <a:ext cx="3031958" cy="73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520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261</Words>
  <Application>Microsoft Office PowerPoint</Application>
  <PresentationFormat>와이드스크린</PresentationFormat>
  <Paragraphs>36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Helvetica Neue</vt:lpstr>
      <vt:lpstr>맑은 고딕</vt:lpstr>
      <vt:lpstr>Arial</vt:lpstr>
      <vt:lpstr>Cambria Math</vt:lpstr>
      <vt:lpstr>Office 테마</vt:lpstr>
      <vt:lpstr>Unsupervised Learning</vt:lpstr>
      <vt:lpstr>A Dictionary Concept</vt:lpstr>
      <vt:lpstr>Fundamental Concept</vt:lpstr>
      <vt:lpstr>Fundamental Concept</vt:lpstr>
      <vt:lpstr>Fundamental Concept</vt:lpstr>
      <vt:lpstr>Algorithm</vt:lpstr>
      <vt:lpstr>Algorithm LLE step 1</vt:lpstr>
      <vt:lpstr>Algorithm LLE step 2</vt:lpstr>
      <vt:lpstr>Sample Code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11</cp:revision>
  <dcterms:created xsi:type="dcterms:W3CDTF">2022-04-10T00:27:41Z</dcterms:created>
  <dcterms:modified xsi:type="dcterms:W3CDTF">2022-04-12T13:15:58Z</dcterms:modified>
</cp:coreProperties>
</file>