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73E645E-E2A4-4C06-A95F-CE6822496B6D}"/>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A0079BBF-A226-40E2-81EA-427D89358D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4D0FA0E9-BA33-4BAD-89EC-11D9A0E5B828}"/>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522CDDC1-04D8-4DE1-B4F8-61BA02F30B4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43618C9-FD19-4A5B-BFA3-E65AA38636B5}"/>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920730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3C4C-8505-4C6E-A362-D56753125F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BE43865-9094-45AB-AA41-8FA726760A3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69AC607-01E8-4774-AF93-B3DE7374F0D2}"/>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1A77C115-1834-43BE-9423-AD98CB13DC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C01FF4E-753C-48D0-821D-370D8E787806}"/>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828053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51FF101-27A1-4E8C-85C7-68899664D6D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1234B4C-03C4-4FFD-9186-09D6C9B6C7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B10198C0-3733-499D-9CB5-5DD412D64527}"/>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AD050F9E-ED34-4A97-84CA-D5244AC56BC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57A787-EC40-46A6-AC4A-DD95E10A0EA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833893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17DE68-3C24-4BE5-BFE3-381D3C4CF9D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252A226-DFD3-4EA3-BC62-E859A91BA7F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1827AF3-5E43-4A52-9F31-57B777505D3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FFF54CF4-D7DC-45C0-8004-393BA99CC241}"/>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6" name="바닥글 개체 틀 5">
            <a:extLst>
              <a:ext uri="{FF2B5EF4-FFF2-40B4-BE49-F238E27FC236}">
                <a16:creationId xmlns:a16="http://schemas.microsoft.com/office/drawing/2014/main" id="{7B81A39E-1513-4174-BC18-864B32E4897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379A0BF-5805-4CA7-8E67-B9420BC02B44}"/>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347663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0CDEAB-689A-4ACE-B6D9-6C4DF0652D0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5044452-286C-4926-9380-5E487CA94C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C8D03A7-EDAF-44F0-BB3F-5A1B0915532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9E2D91-AFE1-4F73-B58B-428B1B24E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4387DDF-2BBA-40AD-9007-AB985383F7D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23BBCFF-B7DA-44B4-A5B4-6959D1BBD221}"/>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8" name="바닥글 개체 틀 7">
            <a:extLst>
              <a:ext uri="{FF2B5EF4-FFF2-40B4-BE49-F238E27FC236}">
                <a16:creationId xmlns:a16="http://schemas.microsoft.com/office/drawing/2014/main" id="{F3E4E16E-7770-40A5-A580-25F6C451658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10D19EA8-327B-41D8-98E9-9AA220747E8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25030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7860477-B01A-49B5-90EC-F4169A615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ACBC916-D33C-4D23-9CA6-F68702CC917D}"/>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4" name="바닥글 개체 틀 3">
            <a:extLst>
              <a:ext uri="{FF2B5EF4-FFF2-40B4-BE49-F238E27FC236}">
                <a16:creationId xmlns:a16="http://schemas.microsoft.com/office/drawing/2014/main" id="{FBADF844-6D77-4E25-A802-89461F9D5F2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864353A-46E4-4740-9360-A25B7E3776C0}"/>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56145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BBEAEB9-C336-4DF5-B7D9-14AA04BB6380}"/>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3" name="바닥글 개체 틀 2">
            <a:extLst>
              <a:ext uri="{FF2B5EF4-FFF2-40B4-BE49-F238E27FC236}">
                <a16:creationId xmlns:a16="http://schemas.microsoft.com/office/drawing/2014/main" id="{B12C234D-3E17-4951-BECE-4EE0DBDAE8B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0BA5109-ECCA-4C46-B233-5246697ADD37}"/>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9738393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DFA3AF-5D4A-4BA9-B7A7-1B8F69077B6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8FC5C61-9712-411F-992D-C7B2F12155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269CE8-DE45-43B8-BEEE-1A601D33F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622817-716C-4426-8A21-1E469CB036F0}"/>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6" name="바닥글 개체 틀 5">
            <a:extLst>
              <a:ext uri="{FF2B5EF4-FFF2-40B4-BE49-F238E27FC236}">
                <a16:creationId xmlns:a16="http://schemas.microsoft.com/office/drawing/2014/main" id="{15B4180C-34AF-4B70-8B97-9D057E29B78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DB4501E-F127-44AB-B726-7CF75BACBF42}"/>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470693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8E562A-DC21-4028-84CA-FC52E6AA209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3309AA0-D846-4EFD-BD12-85A307E797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FD3FE0F-F1D7-41F3-A0FA-197B90049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019DBD-BCBE-4B1F-BD8B-73E945722E1B}"/>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6" name="바닥글 개체 틀 5">
            <a:extLst>
              <a:ext uri="{FF2B5EF4-FFF2-40B4-BE49-F238E27FC236}">
                <a16:creationId xmlns:a16="http://schemas.microsoft.com/office/drawing/2014/main" id="{A7276515-BF87-48C2-97A4-9B33327DFF3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DAADEC0-8C7C-4224-B239-61B2A6DF340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567491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44747E-496D-4E51-9C2F-41401B7735F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2909F39-D250-46AE-B081-54A9CA3AAB1E}"/>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F4D27F-A7DF-497B-B76B-0B3F2CFD9891}"/>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20170295-3126-4DAC-A692-30CED232B3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F795014-DB95-48D1-A262-2BD89356364F}"/>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42847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24F7A76-5F2B-4241-A175-555D5E648234}"/>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00BC974-7677-4E8D-AFDD-E27FC997220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6C1391F-FA79-4489-9D58-AC62C6C7C6DF}"/>
              </a:ext>
            </a:extLst>
          </p:cNvPr>
          <p:cNvSpPr>
            <a:spLocks noGrp="1"/>
          </p:cNvSpPr>
          <p:nvPr>
            <p:ph type="dt" sz="half" idx="10"/>
          </p:nvPr>
        </p:nvSpPr>
        <p:spPr/>
        <p:txBody>
          <a:body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3C29926F-69F2-47C1-B6B7-F4A6DAB1907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5537D-E309-46A2-AF64-813F2AABB393}"/>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866159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3DDD17B-2078-48CA-A9EA-F6D8B19A94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470B9EC-47BC-4286-9380-E0B7BAB87E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806479D-7F85-4998-9991-651C97177D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FC4A22-71F5-486E-8512-5F9DA9676D58}" type="datetimeFigureOut">
              <a:rPr lang="ko-KR" altLang="en-US" smtClean="0"/>
              <a:t>2022-03-30</a:t>
            </a:fld>
            <a:endParaRPr lang="ko-KR" altLang="en-US"/>
          </a:p>
        </p:txBody>
      </p:sp>
      <p:sp>
        <p:nvSpPr>
          <p:cNvPr id="5" name="바닥글 개체 틀 4">
            <a:extLst>
              <a:ext uri="{FF2B5EF4-FFF2-40B4-BE49-F238E27FC236}">
                <a16:creationId xmlns:a16="http://schemas.microsoft.com/office/drawing/2014/main" id="{74A49CC9-CCDE-48DE-9F48-C3483985E6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72F9CE54-E664-427B-BA62-D6EAA49DA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7687080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Linear Regression</a:t>
            </a:r>
            <a:endParaRPr lang="ko-KR" altLang="en-US" dirty="0"/>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r>
              <a:rPr lang="en-US" altLang="ko-KR" b="0" i="0" dirty="0">
                <a:solidFill>
                  <a:srgbClr val="000000"/>
                </a:solidFill>
                <a:effectLst/>
                <a:latin typeface="Helvetica Neue"/>
              </a:rPr>
              <a:t>A technique for modeling relationships in which dependent variables change large or small as independent variables grow</a:t>
            </a:r>
          </a:p>
          <a:p>
            <a:r>
              <a:rPr lang="en-US" altLang="ko-KR" b="0" i="0" dirty="0">
                <a:solidFill>
                  <a:srgbClr val="000000"/>
                </a:solidFill>
                <a:effectLst/>
                <a:latin typeface="Helvetica Neue"/>
              </a:rPr>
              <a:t>y = ax + b, a is called the inclination and b is called the y-intercept</a:t>
            </a:r>
          </a:p>
        </p:txBody>
      </p:sp>
      <p:pic>
        <p:nvPicPr>
          <p:cNvPr id="6" name="내용 개체 틀 5">
            <a:extLst>
              <a:ext uri="{FF2B5EF4-FFF2-40B4-BE49-F238E27FC236}">
                <a16:creationId xmlns:a16="http://schemas.microsoft.com/office/drawing/2014/main" id="{3FE5F466-DC8D-413D-85CB-F4A6B9E3BCD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410325" y="2067719"/>
            <a:ext cx="4705350" cy="3867150"/>
          </a:xfrm>
        </p:spPr>
      </p:pic>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733182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latin typeface="Helvetica Neue"/>
              </a:rPr>
              <a:t>Usually, in linear regression, the learning parameters a and b of the data points that are not on a straight line must be calculated</a:t>
            </a:r>
          </a:p>
          <a:p>
            <a:pPr algn="l">
              <a:buFont typeface="Arial" panose="020B0604020202020204" pitchFamily="34" charset="0"/>
              <a:buChar char="•"/>
            </a:pPr>
            <a:r>
              <a:rPr lang="en-US" altLang="ko-KR" b="0" i="0" dirty="0">
                <a:solidFill>
                  <a:srgbClr val="000000"/>
                </a:solidFill>
                <a:effectLst/>
                <a:latin typeface="Helvetica Neue"/>
              </a:rPr>
              <a:t>Create a straight line to minimize the mean square error</a:t>
            </a: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5" name="내용 개체 틀 4">
            <a:extLst>
              <a:ext uri="{FF2B5EF4-FFF2-40B4-BE49-F238E27FC236}">
                <a16:creationId xmlns:a16="http://schemas.microsoft.com/office/drawing/2014/main" id="{FA0518C4-D7D8-4EAE-8622-1D3BB074160B}"/>
              </a:ext>
            </a:extLst>
          </p:cNvPr>
          <p:cNvSpPr>
            <a:spLocks noGrp="1"/>
          </p:cNvSpPr>
          <p:nvPr>
            <p:ph sz="half" idx="2"/>
          </p:nvPr>
        </p:nvSpPr>
        <p:spPr/>
        <p:txBody>
          <a:bodyPr/>
          <a:lstStyle/>
          <a:p>
            <a:r>
              <a:rPr lang="en-US" altLang="ko-KR" dirty="0"/>
              <a:t>Mean square error formula</a:t>
            </a:r>
            <a:endParaRPr lang="ko-KR"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422888-7378-46BB-A5A5-5AA706D439CB}"/>
                  </a:ext>
                </a:extLst>
              </p:cNvPr>
              <p:cNvSpPr txBox="1"/>
              <p:nvPr/>
            </p:nvSpPr>
            <p:spPr>
              <a:xfrm>
                <a:off x="7141673" y="2665553"/>
                <a:ext cx="3242653" cy="152689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limLoc m:val="undOvr"/>
                          <m:grow m:val="on"/>
                          <m:ctrlPr>
                            <a:rPr lang="ko-KR" altLang="en-US" sz="2800" i="1" smtClean="0">
                              <a:latin typeface="Cambria Math" panose="02040503050406030204" pitchFamily="18" charset="0"/>
                            </a:rPr>
                          </m:ctrlPr>
                        </m:naryPr>
                        <m:sub>
                          <m:r>
                            <a:rPr lang="ko-KR" altLang="en-US" sz="2800" i="1" smtClean="0">
                              <a:latin typeface="Cambria Math" panose="02040503050406030204" pitchFamily="18" charset="0"/>
                            </a:rPr>
                            <m:t>𝑖</m:t>
                          </m:r>
                          <m:r>
                            <a:rPr lang="ko-KR" altLang="en-US" sz="2800" i="1" smtClean="0">
                              <a:latin typeface="Cambria Math" panose="02040503050406030204" pitchFamily="18" charset="0"/>
                            </a:rPr>
                            <m:t>=1</m:t>
                          </m:r>
                        </m:sub>
                        <m:sup>
                          <m:r>
                            <a:rPr lang="ko-KR" altLang="en-US" sz="2800" i="1" smtClean="0">
                              <a:latin typeface="Cambria Math" panose="02040503050406030204" pitchFamily="18" charset="0"/>
                            </a:rPr>
                            <m:t>𝑛</m:t>
                          </m:r>
                        </m:sup>
                        <m:e>
                          <m:f>
                            <m:fPr>
                              <m:ctrlPr>
                                <a:rPr lang="ko-KR" altLang="en-US" sz="2800" i="1" smtClean="0">
                                  <a:solidFill>
                                    <a:srgbClr val="836967"/>
                                  </a:solidFill>
                                  <a:latin typeface="Cambria Math" panose="02040503050406030204" pitchFamily="18" charset="0"/>
                                </a:rPr>
                              </m:ctrlPr>
                            </m:fPr>
                            <m:num>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𝑦</m:t>
                                  </m:r>
                                </m:e>
                                <m:sub>
                                  <m:r>
                                    <a:rPr lang="ko-KR" altLang="en-US" sz="2800" i="1" smtClean="0">
                                      <a:latin typeface="Cambria Math" panose="02040503050406030204" pitchFamily="18" charset="0"/>
                                    </a:rPr>
                                    <m:t>𝑖</m:t>
                                  </m:r>
                                </m:sub>
                              </m:sSub>
                              <m:r>
                                <a:rPr lang="ko-KR" altLang="en-US" sz="2800" i="1" smtClean="0">
                                  <a:latin typeface="Cambria Math" panose="02040503050406030204" pitchFamily="18" charset="0"/>
                                </a:rPr>
                                <m:t>−</m:t>
                              </m:r>
                              <m:sSup>
                                <m:sSupPr>
                                  <m:ctrlPr>
                                    <a:rPr lang="ko-KR" altLang="en-US" sz="2800" i="1" smtClean="0">
                                      <a:solidFill>
                                        <a:srgbClr val="836967"/>
                                      </a:solidFill>
                                      <a:latin typeface="Cambria Math" panose="02040503050406030204" pitchFamily="18" charset="0"/>
                                    </a:rPr>
                                  </m:ctrlPr>
                                </m:sSupPr>
                                <m:e>
                                  <m:d>
                                    <m:dPr>
                                      <m:ctrlPr>
                                        <a:rPr lang="ko-KR" altLang="en-US" sz="2800" i="1" smtClean="0">
                                          <a:solidFill>
                                            <a:srgbClr val="836967"/>
                                          </a:solidFill>
                                          <a:latin typeface="Cambria Math" panose="02040503050406030204" pitchFamily="18" charset="0"/>
                                        </a:rPr>
                                      </m:ctrlPr>
                                    </m:dPr>
                                    <m:e>
                                      <m:r>
                                        <a:rPr lang="ko-KR" altLang="en-US" sz="2800" i="1" smtClean="0">
                                          <a:latin typeface="Cambria Math" panose="02040503050406030204" pitchFamily="18" charset="0"/>
                                        </a:rPr>
                                        <m:t>𝑎</m:t>
                                      </m:r>
                                      <m:r>
                                        <a:rPr lang="ko-KR" altLang="en-US" sz="2800" i="1" smtClean="0">
                                          <a:latin typeface="Cambria Math" panose="02040503050406030204" pitchFamily="18" charset="0"/>
                                        </a:rPr>
                                        <m:t>+</m:t>
                                      </m:r>
                                      <m:r>
                                        <a:rPr lang="ko-KR" altLang="en-US" sz="2800" i="1" smtClean="0">
                                          <a:latin typeface="Cambria Math" panose="02040503050406030204" pitchFamily="18" charset="0"/>
                                        </a:rPr>
                                        <m:t>𝑏</m:t>
                                      </m:r>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𝑥</m:t>
                                          </m:r>
                                        </m:e>
                                        <m:sub>
                                          <m:r>
                                            <a:rPr lang="ko-KR" altLang="en-US" sz="2800" i="1" smtClean="0">
                                              <a:latin typeface="Cambria Math" panose="02040503050406030204" pitchFamily="18" charset="0"/>
                                            </a:rPr>
                                            <m:t>𝑖</m:t>
                                          </m:r>
                                        </m:sub>
                                      </m:sSub>
                                    </m:e>
                                  </m:d>
                                </m:e>
                                <m:sup>
                                  <m:r>
                                    <a:rPr lang="ko-KR" altLang="en-US" sz="2800" i="1" smtClean="0">
                                      <a:latin typeface="Cambria Math" panose="02040503050406030204" pitchFamily="18" charset="0"/>
                                    </a:rPr>
                                    <m:t>2</m:t>
                                  </m:r>
                                </m:sup>
                              </m:sSup>
                            </m:num>
                            <m:den>
                              <m:r>
                                <a:rPr lang="ko-KR" altLang="en-US" sz="2800" i="1" smtClean="0">
                                  <a:latin typeface="Cambria Math" panose="02040503050406030204" pitchFamily="18" charset="0"/>
                                </a:rPr>
                                <m:t>𝑛</m:t>
                              </m:r>
                            </m:den>
                          </m:f>
                        </m:e>
                      </m:nary>
                    </m:oMath>
                  </m:oMathPara>
                </a14:m>
                <a:endParaRPr lang="ko-KR" altLang="en-US" sz="2800" dirty="0"/>
              </a:p>
            </p:txBody>
          </p:sp>
        </mc:Choice>
        <mc:Fallback xmlns="">
          <p:sp>
            <p:nvSpPr>
              <p:cNvPr id="10" name="TextBox 9">
                <a:extLst>
                  <a:ext uri="{FF2B5EF4-FFF2-40B4-BE49-F238E27FC236}">
                    <a16:creationId xmlns:a16="http://schemas.microsoft.com/office/drawing/2014/main" id="{0F422888-7378-46BB-A5A5-5AA706D439CB}"/>
                  </a:ext>
                </a:extLst>
              </p:cNvPr>
              <p:cNvSpPr txBox="1">
                <a:spLocks noRot="1" noChangeAspect="1" noMove="1" noResize="1" noEditPoints="1" noAdjustHandles="1" noChangeArrowheads="1" noChangeShapeType="1" noTextEdit="1"/>
              </p:cNvSpPr>
              <p:nvPr/>
            </p:nvSpPr>
            <p:spPr>
              <a:xfrm>
                <a:off x="7141673" y="2665553"/>
                <a:ext cx="3242653" cy="1526893"/>
              </a:xfrm>
              <a:prstGeom prst="rect">
                <a:avLst/>
              </a:prstGeom>
              <a:blipFill>
                <a:blip r:embed="rId3"/>
                <a:stretch>
                  <a:fillRect/>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787575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A1FEB13-0EE8-437B-8F64-10A1B6566862}"/>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C55FE330-0271-49AA-B5AD-9EBCD3F5EE18}"/>
              </a:ext>
            </a:extLst>
          </p:cNvPr>
          <p:cNvSpPr>
            <a:spLocks noGrp="1"/>
          </p:cNvSpPr>
          <p:nvPr>
            <p:ph idx="1"/>
          </p:nvPr>
        </p:nvSpPr>
        <p:spPr/>
        <p:txBody>
          <a:bodyPr/>
          <a:lstStyle/>
          <a:p>
            <a:r>
              <a:rPr lang="en-US" altLang="ko-KR" b="0" i="0" dirty="0">
                <a:solidFill>
                  <a:srgbClr val="000000"/>
                </a:solidFill>
                <a:effectLst/>
                <a:latin typeface="Helvetica Neue"/>
              </a:rPr>
              <a:t>A function that defines the relationship between error and learning parameters is called a loss function.</a:t>
            </a:r>
          </a:p>
          <a:p>
            <a:r>
              <a:rPr lang="en-US" altLang="ko-KR" b="0" i="0" dirty="0">
                <a:solidFill>
                  <a:srgbClr val="000000"/>
                </a:solidFill>
                <a:effectLst/>
                <a:latin typeface="Helvetica Neue"/>
              </a:rPr>
              <a:t>Linear regression finds a parameter with a minimum loss function value among various straight lines.</a:t>
            </a:r>
          </a:p>
          <a:p>
            <a:r>
              <a:rPr lang="en-US" altLang="ko-KR" b="0" i="0" dirty="0">
                <a:solidFill>
                  <a:srgbClr val="000000"/>
                </a:solidFill>
                <a:effectLst/>
                <a:latin typeface="Helvetica Neue"/>
              </a:rPr>
              <a:t>Finding parameters that minimize loss function values is also a concept commonly used in guidance learning algorithms.</a:t>
            </a:r>
          </a:p>
        </p:txBody>
      </p:sp>
      <p:pic>
        <p:nvPicPr>
          <p:cNvPr id="4" name="그림 3">
            <a:extLst>
              <a:ext uri="{FF2B5EF4-FFF2-40B4-BE49-F238E27FC236}">
                <a16:creationId xmlns:a16="http://schemas.microsoft.com/office/drawing/2014/main" id="{8FB3CA9A-B45B-4764-9580-88EAA0CB08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802141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92500"/>
          </a:bodyPr>
          <a:lstStyle/>
          <a:p>
            <a:r>
              <a:rPr lang="en-US" altLang="ko-KR" dirty="0">
                <a:solidFill>
                  <a:srgbClr val="000000"/>
                </a:solidFill>
                <a:latin typeface="Helvetica Neue"/>
              </a:rPr>
              <a:t>From </a:t>
            </a:r>
            <a:r>
              <a:rPr lang="en-US" altLang="ko-KR" dirty="0" err="1">
                <a:solidFill>
                  <a:srgbClr val="000000"/>
                </a:solidFill>
                <a:latin typeface="Helvetica Neue"/>
              </a:rPr>
              <a:t>sklearn</a:t>
            </a:r>
            <a:r>
              <a:rPr lang="en-US" altLang="ko-KR" dirty="0">
                <a:solidFill>
                  <a:srgbClr val="000000"/>
                </a:solidFill>
                <a:latin typeface="Helvetica Neue"/>
              </a:rPr>
              <a:t>, import Linear Regression</a:t>
            </a:r>
          </a:p>
          <a:p>
            <a:r>
              <a:rPr lang="en-US" altLang="ko-KR" b="0" i="0" dirty="0">
                <a:solidFill>
                  <a:srgbClr val="000000"/>
                </a:solidFill>
                <a:effectLst/>
                <a:latin typeface="Helvetica Neue"/>
              </a:rPr>
              <a:t>Set X, y variable</a:t>
            </a:r>
          </a:p>
          <a:p>
            <a:r>
              <a:rPr lang="en-US" altLang="ko-KR" dirty="0">
                <a:solidFill>
                  <a:srgbClr val="000000"/>
                </a:solidFill>
                <a:latin typeface="Helvetica Neue"/>
              </a:rPr>
              <a:t>Make Linear Regression variable</a:t>
            </a:r>
          </a:p>
          <a:p>
            <a:r>
              <a:rPr lang="en-US" altLang="ko-KR" dirty="0">
                <a:solidFill>
                  <a:srgbClr val="000000"/>
                </a:solidFill>
                <a:latin typeface="Helvetica Neue"/>
              </a:rPr>
              <a:t>Fit X, y to Linear Regression model</a:t>
            </a:r>
          </a:p>
          <a:p>
            <a:r>
              <a:rPr lang="en-US" altLang="ko-KR" dirty="0">
                <a:solidFill>
                  <a:srgbClr val="000000"/>
                </a:solidFill>
                <a:latin typeface="Helvetica Neue"/>
              </a:rPr>
              <a:t>Print inclination and y-intercept</a:t>
            </a:r>
          </a:p>
          <a:p>
            <a:r>
              <a:rPr lang="en-US" altLang="ko-KR" b="0" i="0" dirty="0">
                <a:solidFill>
                  <a:srgbClr val="000000"/>
                </a:solidFill>
                <a:effectLst/>
                <a:latin typeface="Helvetica Neue"/>
                <a:cs typeface="Helvetica" panose="020B0604020202020204" pitchFamily="34" charset="0"/>
              </a:rPr>
              <a:t>Predict y-values when x is 0 and 1 with the predict method</a:t>
            </a:r>
            <a:endParaRPr lang="en-US" altLang="ko-KR" dirty="0">
              <a:solidFill>
                <a:srgbClr val="000000"/>
              </a:solidFill>
              <a:latin typeface="Helvetica Neue"/>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F7B5808D-E8ED-41BD-9EE1-A8C3F969946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4876015" cy="4133085"/>
          </a:xfrm>
        </p:spPr>
      </p:pic>
    </p:spTree>
    <p:extLst>
      <p:ext uri="{BB962C8B-B14F-4D97-AF65-F5344CB8AC3E}">
        <p14:creationId xmlns:p14="http://schemas.microsoft.com/office/powerpoint/2010/main" val="4008954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Output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a:bodyPr>
          <a:lstStyle/>
          <a:p>
            <a:r>
              <a:rPr lang="en-US" altLang="ko-KR" dirty="0">
                <a:solidFill>
                  <a:srgbClr val="000000"/>
                </a:solidFill>
                <a:latin typeface="Helvetica Neue"/>
                <a:cs typeface="Helvetica" panose="020B0604020202020204" pitchFamily="34" charset="0"/>
              </a:rPr>
              <a:t>We can get inclination by </a:t>
            </a:r>
            <a:r>
              <a:rPr lang="en-US" altLang="ko-KR" dirty="0" err="1">
                <a:solidFill>
                  <a:srgbClr val="000000"/>
                </a:solidFill>
                <a:latin typeface="Helvetica Neue"/>
                <a:cs typeface="Helvetica" panose="020B0604020202020204" pitchFamily="34" charset="0"/>
              </a:rPr>
              <a:t>model.coef</a:t>
            </a:r>
            <a:r>
              <a:rPr lang="en-US" altLang="ko-KR" dirty="0">
                <a:solidFill>
                  <a:srgbClr val="000000"/>
                </a:solidFill>
                <a:latin typeface="Helvetica Neue"/>
                <a:cs typeface="Helvetica" panose="020B0604020202020204" pitchFamily="34" charset="0"/>
              </a:rPr>
              <a:t>_ method</a:t>
            </a:r>
          </a:p>
          <a:p>
            <a:r>
              <a:rPr lang="en-US" altLang="ko-KR" dirty="0">
                <a:solidFill>
                  <a:srgbClr val="000000"/>
                </a:solidFill>
                <a:latin typeface="Helvetica Neue"/>
                <a:cs typeface="Helvetica" panose="020B0604020202020204" pitchFamily="34" charset="0"/>
              </a:rPr>
              <a:t>We can get y-intercept by </a:t>
            </a:r>
            <a:r>
              <a:rPr lang="en-US" altLang="ko-KR" dirty="0" err="1">
                <a:solidFill>
                  <a:srgbClr val="000000"/>
                </a:solidFill>
                <a:latin typeface="Helvetica Neue"/>
                <a:cs typeface="Helvetica" panose="020B0604020202020204" pitchFamily="34" charset="0"/>
              </a:rPr>
              <a:t>model.intercept</a:t>
            </a:r>
            <a:r>
              <a:rPr lang="en-US" altLang="ko-KR" dirty="0">
                <a:solidFill>
                  <a:srgbClr val="000000"/>
                </a:solidFill>
                <a:latin typeface="Helvetica Neue"/>
                <a:cs typeface="Helvetica" panose="020B0604020202020204" pitchFamily="34" charset="0"/>
              </a:rPr>
              <a:t>_ method</a:t>
            </a:r>
          </a:p>
          <a:p>
            <a:r>
              <a:rPr lang="en-US" altLang="ko-KR" b="0" i="0" dirty="0">
                <a:solidFill>
                  <a:srgbClr val="000000"/>
                </a:solidFill>
                <a:effectLst/>
                <a:latin typeface="Helvetica Neue"/>
                <a:cs typeface="Helvetica" panose="020B0604020202020204" pitchFamily="34" charset="0"/>
              </a:rPr>
              <a:t>We can get y-values when x is 0 and 1 by </a:t>
            </a:r>
            <a:r>
              <a:rPr lang="en-US" altLang="ko-KR" b="0" i="0" dirty="0" err="1">
                <a:solidFill>
                  <a:srgbClr val="000000"/>
                </a:solidFill>
                <a:effectLst/>
                <a:latin typeface="Helvetica Neue"/>
                <a:cs typeface="Helvetica" panose="020B0604020202020204" pitchFamily="34" charset="0"/>
              </a:rPr>
              <a:t>model.predict</a:t>
            </a:r>
            <a:r>
              <a:rPr lang="en-US" altLang="ko-KR" b="0" i="0" dirty="0">
                <a:solidFill>
                  <a:srgbClr val="000000"/>
                </a:solidFill>
                <a:effectLst/>
                <a:latin typeface="Helvetica Neue"/>
                <a:cs typeface="Helvetica" panose="020B0604020202020204" pitchFamily="34" charset="0"/>
              </a:rPr>
              <a:t> method</a:t>
            </a:r>
            <a:endParaRPr lang="en-US" altLang="ko-KR" dirty="0">
              <a:solidFill>
                <a:srgbClr val="000000"/>
              </a:solidFill>
              <a:latin typeface="Helvetica Neue"/>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1138192B-60CD-4462-A6DE-36CA24FC99D9}"/>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4"/>
            <a:ext cx="5181598" cy="1884217"/>
          </a:xfrm>
        </p:spPr>
      </p:pic>
    </p:spTree>
    <p:extLst>
      <p:ext uri="{BB962C8B-B14F-4D97-AF65-F5344CB8AC3E}">
        <p14:creationId xmlns:p14="http://schemas.microsoft.com/office/powerpoint/2010/main" val="3619606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Method of minimizing</a:t>
            </a:r>
            <a:br>
              <a:rPr lang="en-US" altLang="ko-KR" dirty="0"/>
            </a:br>
            <a:r>
              <a:rPr lang="en-US" altLang="ko-KR" dirty="0"/>
              <a:t>mean square error</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92500" lnSpcReduction="10000"/>
          </a:bodyPr>
          <a:lstStyle/>
          <a:p>
            <a:r>
              <a:rPr lang="en-US" altLang="ko-KR" dirty="0">
                <a:solidFill>
                  <a:srgbClr val="000000"/>
                </a:solidFill>
                <a:latin typeface="Helvetica Neue"/>
              </a:rPr>
              <a:t>L</a:t>
            </a:r>
            <a:r>
              <a:rPr lang="en-US" altLang="ko-KR" b="0" i="0" dirty="0">
                <a:solidFill>
                  <a:srgbClr val="000000"/>
                </a:solidFill>
                <a:effectLst/>
                <a:latin typeface="Helvetica Neue"/>
              </a:rPr>
              <a:t>et x and y as shown on the right.</a:t>
            </a:r>
          </a:p>
          <a:p>
            <a:r>
              <a:rPr lang="en-US" altLang="ko-KR" b="0" i="0" dirty="0">
                <a:solidFill>
                  <a:srgbClr val="000000"/>
                </a:solidFill>
                <a:effectLst/>
                <a:latin typeface="Helvetica Neue"/>
              </a:rPr>
              <a:t>The table below shows the average square error values according to the values a and b.</a:t>
            </a:r>
          </a:p>
          <a:p>
            <a:r>
              <a:rPr lang="en-US" altLang="ko-KR" b="0" i="0" dirty="0">
                <a:solidFill>
                  <a:srgbClr val="000000"/>
                </a:solidFill>
                <a:effectLst/>
                <a:latin typeface="Helvetica Neue"/>
              </a:rPr>
              <a:t>Substituting the x and y values into the mean square error formula, the following equation can be obtained.</a:t>
            </a:r>
          </a:p>
          <a:p>
            <a:r>
              <a:rPr lang="en-US" altLang="ko-KR" b="0" i="0" dirty="0">
                <a:solidFill>
                  <a:srgbClr val="000000"/>
                </a:solidFill>
                <a:effectLst/>
                <a:latin typeface="Helvetica Neue"/>
              </a:rPr>
              <a:t>Therefore, the minimum value of the equation according to the values a and b may be obtained.</a:t>
            </a:r>
            <a:endParaRPr lang="en-US" altLang="ko-KR" dirty="0">
              <a:solidFill>
                <a:srgbClr val="000000"/>
              </a:solidFill>
              <a:latin typeface="Helvetica Neue"/>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4B1CB88E-A31C-4A2E-9ACB-3EE7B9BECE83}"/>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5181598" cy="4074620"/>
          </a:xfrm>
        </p:spPr>
      </p:pic>
    </p:spTree>
    <p:extLst>
      <p:ext uri="{BB962C8B-B14F-4D97-AF65-F5344CB8AC3E}">
        <p14:creationId xmlns:p14="http://schemas.microsoft.com/office/powerpoint/2010/main" val="308103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36AB730-0024-42F1-BBFD-EC956EB3F04D}"/>
              </a:ext>
            </a:extLst>
          </p:cNvPr>
          <p:cNvSpPr>
            <a:spLocks noGrp="1"/>
          </p:cNvSpPr>
          <p:nvPr>
            <p:ph type="title"/>
          </p:nvPr>
        </p:nvSpPr>
        <p:spPr/>
        <p:txBody>
          <a:bodyPr/>
          <a:lstStyle/>
          <a:p>
            <a:r>
              <a:rPr lang="en-US" altLang="ko-KR" dirty="0"/>
              <a:t>Type of linear regression</a:t>
            </a:r>
            <a:endParaRPr lang="ko-KR" altLang="en-US" dirty="0"/>
          </a:p>
        </p:txBody>
      </p:sp>
      <p:sp>
        <p:nvSpPr>
          <p:cNvPr id="3" name="내용 개체 틀 2">
            <a:extLst>
              <a:ext uri="{FF2B5EF4-FFF2-40B4-BE49-F238E27FC236}">
                <a16:creationId xmlns:a16="http://schemas.microsoft.com/office/drawing/2014/main" id="{74625146-7FA6-4575-B2BA-9F17784583F1}"/>
              </a:ext>
            </a:extLst>
          </p:cNvPr>
          <p:cNvSpPr>
            <a:spLocks noGrp="1"/>
          </p:cNvSpPr>
          <p:nvPr>
            <p:ph sz="half" idx="1"/>
          </p:nvPr>
        </p:nvSpPr>
        <p:spPr/>
        <p:txBody>
          <a:bodyPr/>
          <a:lstStyle/>
          <a:p>
            <a:r>
              <a:rPr lang="en-US" altLang="ko-KR" b="0" i="0" dirty="0">
                <a:solidFill>
                  <a:srgbClr val="000000"/>
                </a:solidFill>
                <a:effectLst/>
                <a:latin typeface="Helvetica Neue"/>
              </a:rPr>
              <a:t>Since polynomial regression is not linear, it may be awkward to call it linear regression, but because it is linear regression for learning parameters rather than independent variables, polynomial regression is also included in linear regression.</a:t>
            </a:r>
          </a:p>
        </p:txBody>
      </p:sp>
      <p:graphicFrame>
        <p:nvGraphicFramePr>
          <p:cNvPr id="5" name="표 5">
            <a:extLst>
              <a:ext uri="{FF2B5EF4-FFF2-40B4-BE49-F238E27FC236}">
                <a16:creationId xmlns:a16="http://schemas.microsoft.com/office/drawing/2014/main" id="{E62A55FF-82FD-49B5-B42C-478CFFC1CDF3}"/>
              </a:ext>
            </a:extLst>
          </p:cNvPr>
          <p:cNvGraphicFramePr>
            <a:graphicFrameLocks noGrp="1"/>
          </p:cNvGraphicFramePr>
          <p:nvPr>
            <p:ph sz="half" idx="2"/>
            <p:extLst>
              <p:ext uri="{D42A27DB-BD31-4B8C-83A1-F6EECF244321}">
                <p14:modId xmlns:p14="http://schemas.microsoft.com/office/powerpoint/2010/main" val="1962130534"/>
              </p:ext>
            </p:extLst>
          </p:nvPr>
        </p:nvGraphicFramePr>
        <p:xfrm>
          <a:off x="6172200" y="1825625"/>
          <a:ext cx="5181600" cy="2291080"/>
        </p:xfrm>
        <a:graphic>
          <a:graphicData uri="http://schemas.openxmlformats.org/drawingml/2006/table">
            <a:tbl>
              <a:tblPr firstRow="1" bandRow="1">
                <a:tableStyleId>{5C22544A-7EE6-4342-B048-85BDC9FD1C3A}</a:tableStyleId>
              </a:tblPr>
              <a:tblGrid>
                <a:gridCol w="2859505">
                  <a:extLst>
                    <a:ext uri="{9D8B030D-6E8A-4147-A177-3AD203B41FA5}">
                      <a16:colId xmlns:a16="http://schemas.microsoft.com/office/drawing/2014/main" val="1563541935"/>
                    </a:ext>
                  </a:extLst>
                </a:gridCol>
                <a:gridCol w="2322095">
                  <a:extLst>
                    <a:ext uri="{9D8B030D-6E8A-4147-A177-3AD203B41FA5}">
                      <a16:colId xmlns:a16="http://schemas.microsoft.com/office/drawing/2014/main" val="2432520976"/>
                    </a:ext>
                  </a:extLst>
                </a:gridCol>
              </a:tblGrid>
              <a:tr h="370840">
                <a:tc>
                  <a:txBody>
                    <a:bodyPr/>
                    <a:lstStyle/>
                    <a:p>
                      <a:pPr algn="ctr" latinLnBrk="1"/>
                      <a:r>
                        <a:rPr lang="ko-KR" altLang="en-US" dirty="0"/>
                        <a:t>선형회귀의 종류</a:t>
                      </a:r>
                    </a:p>
                  </a:txBody>
                  <a:tcPr/>
                </a:tc>
                <a:tc>
                  <a:txBody>
                    <a:bodyPr/>
                    <a:lstStyle/>
                    <a:p>
                      <a:pPr algn="ctr" latinLnBrk="1"/>
                      <a:r>
                        <a:rPr lang="ko-KR" altLang="en-US" dirty="0"/>
                        <a:t>함수 정의 예</a:t>
                      </a:r>
                    </a:p>
                  </a:txBody>
                  <a:tcPr/>
                </a:tc>
                <a:extLst>
                  <a:ext uri="{0D108BD9-81ED-4DB2-BD59-A6C34878D82A}">
                    <a16:rowId xmlns:a16="http://schemas.microsoft.com/office/drawing/2014/main" val="476287826"/>
                  </a:ext>
                </a:extLst>
              </a:tr>
              <a:tr h="370840">
                <a:tc>
                  <a:txBody>
                    <a:bodyPr/>
                    <a:lstStyle/>
                    <a:p>
                      <a:pPr algn="ctr" latinLnBrk="1"/>
                      <a:r>
                        <a:rPr lang="ko-KR" altLang="en-US" dirty="0"/>
                        <a:t>단순선형회귀</a:t>
                      </a:r>
                      <a:endParaRPr lang="en-US" altLang="ko-KR" dirty="0"/>
                    </a:p>
                    <a:p>
                      <a:pPr algn="ctr" latinLnBrk="1"/>
                      <a:r>
                        <a:rPr lang="en-US" altLang="ko-KR" dirty="0"/>
                        <a:t>Simple linear regression</a:t>
                      </a:r>
                      <a:endParaRPr lang="ko-KR" altLang="en-US" dirty="0"/>
                    </a:p>
                  </a:txBody>
                  <a:tcPr/>
                </a:tc>
                <a:tc>
                  <a:txBody>
                    <a:bodyPr/>
                    <a:lstStyle/>
                    <a:p>
                      <a:pPr algn="ctr" latinLnBrk="1">
                        <a:lnSpc>
                          <a:spcPct val="150000"/>
                        </a:lnSpc>
                      </a:pPr>
                      <a:r>
                        <a:rPr lang="en-US" altLang="ko-KR" dirty="0"/>
                        <a:t>y = ax + b</a:t>
                      </a:r>
                      <a:endParaRPr lang="ko-KR" altLang="en-US" dirty="0"/>
                    </a:p>
                  </a:txBody>
                  <a:tcPr/>
                </a:tc>
                <a:extLst>
                  <a:ext uri="{0D108BD9-81ED-4DB2-BD59-A6C34878D82A}">
                    <a16:rowId xmlns:a16="http://schemas.microsoft.com/office/drawing/2014/main" val="3093184256"/>
                  </a:ext>
                </a:extLst>
              </a:tr>
              <a:tr h="370840">
                <a:tc>
                  <a:txBody>
                    <a:bodyPr/>
                    <a:lstStyle/>
                    <a:p>
                      <a:pPr algn="ctr" latinLnBrk="1"/>
                      <a:r>
                        <a:rPr lang="ko-KR" altLang="en-US" dirty="0"/>
                        <a:t>다중선형회귀</a:t>
                      </a:r>
                      <a:endParaRPr lang="en-US" altLang="ko-KR" dirty="0"/>
                    </a:p>
                    <a:p>
                      <a:pPr algn="ctr" latinLnBrk="1"/>
                      <a:r>
                        <a:rPr lang="en-US" altLang="ko-KR" sz="1800" b="0" i="0" kern="1200" dirty="0">
                          <a:solidFill>
                            <a:schemeClr val="dk1"/>
                          </a:solidFill>
                          <a:effectLst/>
                          <a:latin typeface="+mn-lt"/>
                          <a:ea typeface="+mn-ea"/>
                          <a:cs typeface="+mn-cs"/>
                        </a:rPr>
                        <a:t>multiple linear regression</a:t>
                      </a:r>
                      <a:endParaRPr lang="ko-KR" altLang="en-US" dirty="0"/>
                    </a:p>
                  </a:txBody>
                  <a:tcPr/>
                </a:tc>
                <a:tc>
                  <a:txBody>
                    <a:bodyPr/>
                    <a:lstStyle/>
                    <a:p>
                      <a:pPr algn="ctr" latinLnBrk="1">
                        <a:lnSpc>
                          <a:spcPct val="150000"/>
                        </a:lnSpc>
                      </a:pPr>
                      <a:r>
                        <a:rPr lang="en-US" altLang="ko-KR" dirty="0"/>
                        <a:t>z = ax + by + c</a:t>
                      </a:r>
                      <a:endParaRPr lang="ko-KR" altLang="en-US" dirty="0"/>
                    </a:p>
                  </a:txBody>
                  <a:tcPr/>
                </a:tc>
                <a:extLst>
                  <a:ext uri="{0D108BD9-81ED-4DB2-BD59-A6C34878D82A}">
                    <a16:rowId xmlns:a16="http://schemas.microsoft.com/office/drawing/2014/main" val="3446507830"/>
                  </a:ext>
                </a:extLst>
              </a:tr>
              <a:tr h="370840">
                <a:tc>
                  <a:txBody>
                    <a:bodyPr/>
                    <a:lstStyle/>
                    <a:p>
                      <a:pPr algn="ctr" latinLnBrk="1"/>
                      <a:r>
                        <a:rPr lang="ko-KR" altLang="en-US" dirty="0"/>
                        <a:t>다항회귀</a:t>
                      </a:r>
                      <a:endParaRPr lang="en-US" altLang="ko-KR" dirty="0"/>
                    </a:p>
                    <a:p>
                      <a:pPr algn="ctr" latinLnBrk="1"/>
                      <a:r>
                        <a:rPr lang="en-US" altLang="ko-KR" dirty="0"/>
                        <a:t>Polynomial regression</a:t>
                      </a:r>
                      <a:endParaRPr lang="ko-KR" altLang="en-US" dirty="0"/>
                    </a:p>
                  </a:txBody>
                  <a:tcPr/>
                </a:tc>
                <a:tc>
                  <a:txBody>
                    <a:bodyPr/>
                    <a:lstStyle/>
                    <a:p>
                      <a:pPr algn="ctr" latinLnBrk="1">
                        <a:lnSpc>
                          <a:spcPct val="150000"/>
                        </a:lnSpc>
                      </a:pPr>
                      <a:r>
                        <a:rPr lang="en-US" altLang="ko-KR" dirty="0"/>
                        <a:t>y = ax^2 + bx + c</a:t>
                      </a:r>
                      <a:endParaRPr lang="ko-KR" altLang="en-US" dirty="0"/>
                    </a:p>
                  </a:txBody>
                  <a:tcPr/>
                </a:tc>
                <a:extLst>
                  <a:ext uri="{0D108BD9-81ED-4DB2-BD59-A6C34878D82A}">
                    <a16:rowId xmlns:a16="http://schemas.microsoft.com/office/drawing/2014/main" val="3317751139"/>
                  </a:ext>
                </a:extLst>
              </a:tr>
            </a:tbl>
          </a:graphicData>
        </a:graphic>
      </p:graphicFrame>
      <p:pic>
        <p:nvPicPr>
          <p:cNvPr id="6" name="그림 5">
            <a:extLst>
              <a:ext uri="{FF2B5EF4-FFF2-40B4-BE49-F238E27FC236}">
                <a16:creationId xmlns:a16="http://schemas.microsoft.com/office/drawing/2014/main" id="{D6CDF0FD-A029-43FC-9477-209565B37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75348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10F9CED-422E-4B30-8269-F7E00440301A}"/>
              </a:ext>
            </a:extLst>
          </p:cNvPr>
          <p:cNvSpPr>
            <a:spLocks noGrp="1"/>
          </p:cNvSpPr>
          <p:nvPr>
            <p:ph type="title"/>
          </p:nvPr>
        </p:nvSpPr>
        <p:spPr/>
        <p:txBody>
          <a:bodyPr/>
          <a:lstStyle/>
          <a:p>
            <a:r>
              <a:rPr lang="en-US" altLang="ko-KR" dirty="0"/>
              <a:t>Nonlinear regression</a:t>
            </a:r>
            <a:endParaRPr lang="ko-KR" altLang="en-US" dirty="0"/>
          </a:p>
        </p:txBody>
      </p:sp>
      <p:sp>
        <p:nvSpPr>
          <p:cNvPr id="3" name="내용 개체 틀 2">
            <a:extLst>
              <a:ext uri="{FF2B5EF4-FFF2-40B4-BE49-F238E27FC236}">
                <a16:creationId xmlns:a16="http://schemas.microsoft.com/office/drawing/2014/main" id="{C331871F-36CC-4AF2-8C04-A437C006BE93}"/>
              </a:ext>
            </a:extLst>
          </p:cNvPr>
          <p:cNvSpPr>
            <a:spLocks noGrp="1"/>
          </p:cNvSpPr>
          <p:nvPr>
            <p:ph idx="1"/>
          </p:nvPr>
        </p:nvSpPr>
        <p:spPr/>
        <p:txBody>
          <a:bodyPr/>
          <a:lstStyle/>
          <a:p>
            <a:r>
              <a:rPr lang="en-US" altLang="ko-KR" b="0" i="0" dirty="0">
                <a:solidFill>
                  <a:srgbClr val="000000"/>
                </a:solidFill>
                <a:effectLst/>
                <a:latin typeface="Helvetica Neue"/>
              </a:rPr>
              <a:t>y = </a:t>
            </a:r>
            <a:r>
              <a:rPr lang="en-US" altLang="ko-KR" b="0" i="0" dirty="0" err="1">
                <a:solidFill>
                  <a:srgbClr val="000000"/>
                </a:solidFill>
                <a:effectLst/>
                <a:latin typeface="Helvetica Neue"/>
              </a:rPr>
              <a:t>e^x</a:t>
            </a:r>
            <a:endParaRPr lang="en-US" altLang="ko-KR" b="0" i="0" dirty="0">
              <a:solidFill>
                <a:srgbClr val="000000"/>
              </a:solidFill>
              <a:effectLst/>
              <a:latin typeface="Helvetica Neue"/>
            </a:endParaRPr>
          </a:p>
          <a:p>
            <a:r>
              <a:rPr lang="en-US" altLang="ko-KR" b="0" i="0" dirty="0">
                <a:solidFill>
                  <a:srgbClr val="000000"/>
                </a:solidFill>
                <a:effectLst/>
                <a:latin typeface="Helvetica Neue"/>
              </a:rPr>
              <a:t>y = 1/x</a:t>
            </a:r>
          </a:p>
        </p:txBody>
      </p:sp>
      <p:pic>
        <p:nvPicPr>
          <p:cNvPr id="5" name="그림 4">
            <a:extLst>
              <a:ext uri="{FF2B5EF4-FFF2-40B4-BE49-F238E27FC236}">
                <a16:creationId xmlns:a16="http://schemas.microsoft.com/office/drawing/2014/main" id="{DB1997A9-032C-4FF3-965A-B15C4D7DCF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5574" y="2987675"/>
            <a:ext cx="5019675" cy="3324225"/>
          </a:xfrm>
          <a:prstGeom prst="rect">
            <a:avLst/>
          </a:prstGeom>
        </p:spPr>
      </p:pic>
      <p:pic>
        <p:nvPicPr>
          <p:cNvPr id="7" name="그림 6">
            <a:extLst>
              <a:ext uri="{FF2B5EF4-FFF2-40B4-BE49-F238E27FC236}">
                <a16:creationId xmlns:a16="http://schemas.microsoft.com/office/drawing/2014/main" id="{034F0337-FB49-4F79-91A1-D822FE8D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23532" y="1829309"/>
            <a:ext cx="4271338" cy="3199381"/>
          </a:xfrm>
          <a:prstGeom prst="rect">
            <a:avLst/>
          </a:prstGeom>
        </p:spPr>
      </p:pic>
      <p:pic>
        <p:nvPicPr>
          <p:cNvPr id="6" name="그림 5">
            <a:extLst>
              <a:ext uri="{FF2B5EF4-FFF2-40B4-BE49-F238E27FC236}">
                <a16:creationId xmlns:a16="http://schemas.microsoft.com/office/drawing/2014/main" id="{0A7665E5-240D-4088-9956-D078CC57C4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219590965"/>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TotalTime>
  <Words>377</Words>
  <Application>Microsoft Office PowerPoint</Application>
  <PresentationFormat>와이드스크린</PresentationFormat>
  <Paragraphs>46</Paragraphs>
  <Slides>9</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9</vt:i4>
      </vt:variant>
    </vt:vector>
  </HeadingPairs>
  <TitlesOfParts>
    <vt:vector size="14" baseType="lpstr">
      <vt:lpstr>Helvetica Neue</vt:lpstr>
      <vt:lpstr>맑은 고딕</vt:lpstr>
      <vt:lpstr>Arial</vt:lpstr>
      <vt:lpstr>Cambria Math</vt:lpstr>
      <vt:lpstr>Office 테마</vt:lpstr>
      <vt:lpstr>Supervised Learning</vt:lpstr>
      <vt:lpstr>Fundamental concept</vt:lpstr>
      <vt:lpstr>Algorithm</vt:lpstr>
      <vt:lpstr>Algorithm</vt:lpstr>
      <vt:lpstr>Sample code</vt:lpstr>
      <vt:lpstr>Output</vt:lpstr>
      <vt:lpstr>Method of minimizing mean square error</vt:lpstr>
      <vt:lpstr>Type of linear regression</vt:lpstr>
      <vt:lpstr>Nonlinear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22</cp:revision>
  <dcterms:created xsi:type="dcterms:W3CDTF">2022-03-30T03:21:26Z</dcterms:created>
  <dcterms:modified xsi:type="dcterms:W3CDTF">2022-03-30T06:46:57Z</dcterms:modified>
</cp:coreProperties>
</file>