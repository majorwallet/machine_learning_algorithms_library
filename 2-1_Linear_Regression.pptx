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73E645E-E2A4-4C06-A95F-CE6822496B6D}"/>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A0079BBF-A226-40E2-81EA-427D89358D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4D0FA0E9-BA33-4BAD-89EC-11D9A0E5B828}"/>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522CDDC1-04D8-4DE1-B4F8-61BA02F30B4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43618C9-FD19-4A5B-BFA3-E65AA38636B5}"/>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1920730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FAE3C4C-8505-4C6E-A362-D56753125F2C}"/>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CBE43865-9094-45AB-AA41-8FA726760A37}"/>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69AC607-01E8-4774-AF93-B3DE7374F0D2}"/>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1A77C115-1834-43BE-9423-AD98CB13DC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C01FF4E-753C-48D0-821D-370D8E787806}"/>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828053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51FF101-27A1-4E8C-85C7-68899664D6D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B1234B4C-03C4-4FFD-9186-09D6C9B6C7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B10198C0-3733-499D-9CB5-5DD412D64527}"/>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AD050F9E-ED34-4A97-84CA-D5244AC56BC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057A787-EC40-46A6-AC4A-DD95E10A0EAD}"/>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2833893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17DE68-3C24-4BE5-BFE3-381D3C4CF9D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252A226-DFD3-4EA3-BC62-E859A91BA7FB}"/>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1827AF3-5E43-4A52-9F31-57B777505D37}"/>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FFF54CF4-D7DC-45C0-8004-393BA99CC241}"/>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6" name="바닥글 개체 틀 5">
            <a:extLst>
              <a:ext uri="{FF2B5EF4-FFF2-40B4-BE49-F238E27FC236}">
                <a16:creationId xmlns:a16="http://schemas.microsoft.com/office/drawing/2014/main" id="{7B81A39E-1513-4174-BC18-864B32E4897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379A0BF-5805-4CA7-8E67-B9420BC02B44}"/>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3347663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0CDEAB-689A-4ACE-B6D9-6C4DF0652D04}"/>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5044452-286C-4926-9380-5E487CA94C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1C8D03A7-EDAF-44F0-BB3F-5A1B09155329}"/>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4E9E2D91-AFE1-4F73-B58B-428B1B24E8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C4387DDF-2BBA-40AD-9007-AB985383F7D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423BBCFF-B7DA-44B4-A5B4-6959D1BBD221}"/>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8" name="바닥글 개체 틀 7">
            <a:extLst>
              <a:ext uri="{FF2B5EF4-FFF2-40B4-BE49-F238E27FC236}">
                <a16:creationId xmlns:a16="http://schemas.microsoft.com/office/drawing/2014/main" id="{F3E4E16E-7770-40A5-A580-25F6C451658A}"/>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10D19EA8-327B-41D8-98E9-9AA220747E8D}"/>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1425030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7860477-B01A-49B5-90EC-F4169A615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0ACBC916-D33C-4D23-9CA6-F68702CC917D}"/>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4" name="바닥글 개체 틀 3">
            <a:extLst>
              <a:ext uri="{FF2B5EF4-FFF2-40B4-BE49-F238E27FC236}">
                <a16:creationId xmlns:a16="http://schemas.microsoft.com/office/drawing/2014/main" id="{FBADF844-6D77-4E25-A802-89461F9D5F28}"/>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864353A-46E4-4740-9360-A25B7E3776C0}"/>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1456145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9BBEAEB9-C336-4DF5-B7D9-14AA04BB6380}"/>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3" name="바닥글 개체 틀 2">
            <a:extLst>
              <a:ext uri="{FF2B5EF4-FFF2-40B4-BE49-F238E27FC236}">
                <a16:creationId xmlns:a16="http://schemas.microsoft.com/office/drawing/2014/main" id="{B12C234D-3E17-4951-BECE-4EE0DBDAE8B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D0BA5109-ECCA-4C46-B233-5246697ADD37}"/>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973839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FDFA3AF-5D4A-4BA9-B7A7-1B8F69077B6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28FC5C61-9712-411F-992D-C7B2F12155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269CE8-DE45-43B8-BEEE-1A601D33FF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5622817-716C-4426-8A21-1E469CB036F0}"/>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6" name="바닥글 개체 틀 5">
            <a:extLst>
              <a:ext uri="{FF2B5EF4-FFF2-40B4-BE49-F238E27FC236}">
                <a16:creationId xmlns:a16="http://schemas.microsoft.com/office/drawing/2014/main" id="{15B4180C-34AF-4B70-8B97-9D057E29B78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DB4501E-F127-44AB-B726-7CF75BACBF42}"/>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2470693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8E562A-DC21-4028-84CA-FC52E6AA209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33309AA0-D846-4EFD-BD12-85A307E797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AFD3FE0F-F1D7-41F3-A0FA-197B90049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A2019DBD-BCBE-4B1F-BD8B-73E945722E1B}"/>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6" name="바닥글 개체 틀 5">
            <a:extLst>
              <a:ext uri="{FF2B5EF4-FFF2-40B4-BE49-F238E27FC236}">
                <a16:creationId xmlns:a16="http://schemas.microsoft.com/office/drawing/2014/main" id="{A7276515-BF87-48C2-97A4-9B33327DFF3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DAADEC0-8C7C-4224-B239-61B2A6DF340D}"/>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1567491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44747E-496D-4E51-9C2F-41401B7735F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D2909F39-D250-46AE-B081-54A9CA3AAB1E}"/>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AF4D27F-A7DF-497B-B76B-0B3F2CFD9891}"/>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20170295-3126-4DAC-A692-30CED232B3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F795014-DB95-48D1-A262-2BD89356364F}"/>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428476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24F7A76-5F2B-4241-A175-555D5E648234}"/>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00BC974-7677-4E8D-AFDD-E27FC9972203}"/>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6C1391F-FA79-4489-9D58-AC62C6C7C6DF}"/>
              </a:ext>
            </a:extLst>
          </p:cNvPr>
          <p:cNvSpPr>
            <a:spLocks noGrp="1"/>
          </p:cNvSpPr>
          <p:nvPr>
            <p:ph type="dt" sz="half" idx="10"/>
          </p:nvPr>
        </p:nvSpPr>
        <p:spPr/>
        <p:txBody>
          <a:bodyPr/>
          <a:lstStyle/>
          <a:p>
            <a:fld id="{E3FC4A22-71F5-486E-8512-5F9DA9676D58}"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3C29926F-69F2-47C1-B6B7-F4A6DAB1907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755537D-E309-46A2-AF64-813F2AABB393}"/>
              </a:ext>
            </a:extLst>
          </p:cNvPr>
          <p:cNvSpPr>
            <a:spLocks noGrp="1"/>
          </p:cNvSpPr>
          <p:nvPr>
            <p:ph type="sldNum" sz="quarter" idx="12"/>
          </p:nvPr>
        </p:nvSpPr>
        <p:spPr/>
        <p:txBody>
          <a:body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1866159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E3DDD17B-2078-48CA-A9EA-F6D8B19A94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470B9EC-47BC-4286-9380-E0B7BAB87E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806479D-7F85-4998-9991-651C97177D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FC4A22-71F5-486E-8512-5F9DA9676D58}" type="datetimeFigureOut">
              <a:rPr lang="ko-KR" altLang="en-US" smtClean="0"/>
              <a:t>2022-04-12</a:t>
            </a:fld>
            <a:endParaRPr lang="ko-KR" altLang="en-US"/>
          </a:p>
        </p:txBody>
      </p:sp>
      <p:sp>
        <p:nvSpPr>
          <p:cNvPr id="5" name="바닥글 개체 틀 4">
            <a:extLst>
              <a:ext uri="{FF2B5EF4-FFF2-40B4-BE49-F238E27FC236}">
                <a16:creationId xmlns:a16="http://schemas.microsoft.com/office/drawing/2014/main" id="{74A49CC9-CCDE-48DE-9F48-C3483985E6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72F9CE54-E664-427B-BA62-D6EAA49DAE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06B304-32D7-45CB-A65E-4FD67859AEBC}" type="slidenum">
              <a:rPr lang="ko-KR" altLang="en-US" smtClean="0"/>
              <a:t>‹#›</a:t>
            </a:fld>
            <a:endParaRPr lang="ko-KR" altLang="en-US"/>
          </a:p>
        </p:txBody>
      </p:sp>
    </p:spTree>
    <p:extLst>
      <p:ext uri="{BB962C8B-B14F-4D97-AF65-F5344CB8AC3E}">
        <p14:creationId xmlns:p14="http://schemas.microsoft.com/office/powerpoint/2010/main" val="3768708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CFAA1D-5FD8-438D-89D5-698B04A3F625}"/>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B1D55C0E-1524-43D0-867D-127EDEAD38B0}"/>
              </a:ext>
            </a:extLst>
          </p:cNvPr>
          <p:cNvSpPr>
            <a:spLocks noGrp="1"/>
          </p:cNvSpPr>
          <p:nvPr>
            <p:ph type="subTitle" idx="1"/>
          </p:nvPr>
        </p:nvSpPr>
        <p:spPr/>
        <p:txBody>
          <a:bodyPr/>
          <a:lstStyle/>
          <a:p>
            <a:r>
              <a:rPr lang="en-US" altLang="ko-KR" dirty="0"/>
              <a:t>Linear Regression</a:t>
            </a:r>
            <a:endParaRPr lang="ko-KR" altLang="en-US" dirty="0"/>
          </a:p>
        </p:txBody>
      </p:sp>
      <p:pic>
        <p:nvPicPr>
          <p:cNvPr id="4" name="그림 3">
            <a:extLst>
              <a:ext uri="{FF2B5EF4-FFF2-40B4-BE49-F238E27FC236}">
                <a16:creationId xmlns:a16="http://schemas.microsoft.com/office/drawing/2014/main" id="{DB150DA8-8111-4D76-BB62-D8DFB2258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9FA238A1-74E0-4866-BD84-714ED168C2BC}"/>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043497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lstStyle/>
          <a:p>
            <a:r>
              <a:rPr lang="en-US" altLang="ko-KR" b="0" i="0" dirty="0">
                <a:solidFill>
                  <a:srgbClr val="000000"/>
                </a:solidFill>
                <a:effectLst/>
              </a:rPr>
              <a:t>A technique for modeling relationships in which dependent variables change large or small as independent variables grow</a:t>
            </a:r>
          </a:p>
          <a:p>
            <a:r>
              <a:rPr lang="en-US" altLang="ko-KR" b="0" i="0" dirty="0">
                <a:solidFill>
                  <a:srgbClr val="000000"/>
                </a:solidFill>
                <a:effectLst/>
              </a:rPr>
              <a:t>y = ax + b, a is called the inclination and b is called the y-intercept</a:t>
            </a:r>
          </a:p>
        </p:txBody>
      </p:sp>
      <p:pic>
        <p:nvPicPr>
          <p:cNvPr id="6" name="내용 개체 틀 5">
            <a:extLst>
              <a:ext uri="{FF2B5EF4-FFF2-40B4-BE49-F238E27FC236}">
                <a16:creationId xmlns:a16="http://schemas.microsoft.com/office/drawing/2014/main" id="{3FE5F466-DC8D-413D-85CB-F4A6B9E3BCD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10325" y="2067719"/>
            <a:ext cx="4705350" cy="3867150"/>
          </a:xfrm>
        </p:spPr>
      </p:pic>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733182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Usually, in linear regression, the learning parameters a and b of the data points that are not on a straight line must be calculated</a:t>
            </a:r>
          </a:p>
          <a:p>
            <a:pPr algn="l">
              <a:buFont typeface="Arial" panose="020B0604020202020204" pitchFamily="34" charset="0"/>
              <a:buChar char="•"/>
            </a:pPr>
            <a:r>
              <a:rPr lang="en-US" altLang="ko-KR" b="0" i="0" dirty="0">
                <a:solidFill>
                  <a:srgbClr val="000000"/>
                </a:solidFill>
                <a:effectLst/>
              </a:rPr>
              <a:t>Create a straight line to minimize the mean square error</a:t>
            </a: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내용 개체 틀 4">
            <a:extLst>
              <a:ext uri="{FF2B5EF4-FFF2-40B4-BE49-F238E27FC236}">
                <a16:creationId xmlns:a16="http://schemas.microsoft.com/office/drawing/2014/main" id="{FA0518C4-D7D8-4EAE-8622-1D3BB074160B}"/>
              </a:ext>
            </a:extLst>
          </p:cNvPr>
          <p:cNvSpPr>
            <a:spLocks noGrp="1"/>
          </p:cNvSpPr>
          <p:nvPr>
            <p:ph sz="half" idx="2"/>
          </p:nvPr>
        </p:nvSpPr>
        <p:spPr/>
        <p:txBody>
          <a:bodyPr/>
          <a:lstStyle/>
          <a:p>
            <a:r>
              <a:rPr lang="en-US" altLang="ko-KR" dirty="0"/>
              <a:t>Mean square error formula</a:t>
            </a:r>
            <a:endParaRPr lang="ko-KR" alt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F422888-7378-46BB-A5A5-5AA706D439CB}"/>
                  </a:ext>
                </a:extLst>
              </p:cNvPr>
              <p:cNvSpPr txBox="1"/>
              <p:nvPr/>
            </p:nvSpPr>
            <p:spPr>
              <a:xfrm>
                <a:off x="7141673" y="2665553"/>
                <a:ext cx="3242653" cy="152689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limLoc m:val="undOvr"/>
                          <m:grow m:val="on"/>
                          <m:ctrlPr>
                            <a:rPr lang="ko-KR" altLang="en-US" sz="2800" i="1" smtClean="0">
                              <a:latin typeface="Cambria Math" panose="02040503050406030204" pitchFamily="18" charset="0"/>
                            </a:rPr>
                          </m:ctrlPr>
                        </m:naryPr>
                        <m:sub>
                          <m:r>
                            <a:rPr lang="ko-KR" altLang="en-US" sz="2800" i="1" smtClean="0">
                              <a:latin typeface="Cambria Math" panose="02040503050406030204" pitchFamily="18" charset="0"/>
                            </a:rPr>
                            <m:t>𝑖</m:t>
                          </m:r>
                          <m:r>
                            <a:rPr lang="ko-KR" altLang="en-US" sz="2800" i="1" smtClean="0">
                              <a:latin typeface="Cambria Math" panose="02040503050406030204" pitchFamily="18" charset="0"/>
                            </a:rPr>
                            <m:t>=1</m:t>
                          </m:r>
                        </m:sub>
                        <m:sup>
                          <m:r>
                            <a:rPr lang="ko-KR" altLang="en-US" sz="2800" i="1" smtClean="0">
                              <a:latin typeface="Cambria Math" panose="02040503050406030204" pitchFamily="18" charset="0"/>
                            </a:rPr>
                            <m:t>𝑛</m:t>
                          </m:r>
                        </m:sup>
                        <m:e>
                          <m:f>
                            <m:fPr>
                              <m:ctrlPr>
                                <a:rPr lang="ko-KR" altLang="en-US" sz="2800" i="1" smtClean="0">
                                  <a:solidFill>
                                    <a:srgbClr val="836967"/>
                                  </a:solidFill>
                                  <a:latin typeface="Cambria Math" panose="02040503050406030204" pitchFamily="18" charset="0"/>
                                </a:rPr>
                              </m:ctrlPr>
                            </m:fPr>
                            <m:num>
                              <m:sSub>
                                <m:sSubPr>
                                  <m:ctrlPr>
                                    <a:rPr lang="ko-KR" altLang="en-US" sz="2800" i="1" smtClean="0">
                                      <a:solidFill>
                                        <a:srgbClr val="836967"/>
                                      </a:solidFill>
                                      <a:latin typeface="Cambria Math" panose="02040503050406030204" pitchFamily="18" charset="0"/>
                                    </a:rPr>
                                  </m:ctrlPr>
                                </m:sSubPr>
                                <m:e>
                                  <m:r>
                                    <a:rPr lang="ko-KR" altLang="en-US" sz="2800" i="1" smtClean="0">
                                      <a:latin typeface="Cambria Math" panose="02040503050406030204" pitchFamily="18" charset="0"/>
                                    </a:rPr>
                                    <m:t>𝑦</m:t>
                                  </m:r>
                                </m:e>
                                <m:sub>
                                  <m:r>
                                    <a:rPr lang="ko-KR" altLang="en-US" sz="2800" i="1" smtClean="0">
                                      <a:latin typeface="Cambria Math" panose="02040503050406030204" pitchFamily="18" charset="0"/>
                                    </a:rPr>
                                    <m:t>𝑖</m:t>
                                  </m:r>
                                </m:sub>
                              </m:sSub>
                              <m:r>
                                <a:rPr lang="ko-KR" altLang="en-US" sz="2800" i="1" smtClean="0">
                                  <a:latin typeface="Cambria Math" panose="02040503050406030204" pitchFamily="18" charset="0"/>
                                </a:rPr>
                                <m:t>−</m:t>
                              </m:r>
                              <m:sSup>
                                <m:sSupPr>
                                  <m:ctrlPr>
                                    <a:rPr lang="ko-KR" altLang="en-US" sz="2800" i="1" smtClean="0">
                                      <a:solidFill>
                                        <a:srgbClr val="836967"/>
                                      </a:solidFill>
                                      <a:latin typeface="Cambria Math" panose="02040503050406030204" pitchFamily="18" charset="0"/>
                                    </a:rPr>
                                  </m:ctrlPr>
                                </m:sSupPr>
                                <m:e>
                                  <m:d>
                                    <m:dPr>
                                      <m:ctrlPr>
                                        <a:rPr lang="ko-KR" altLang="en-US" sz="2800" i="1" smtClean="0">
                                          <a:solidFill>
                                            <a:srgbClr val="836967"/>
                                          </a:solidFill>
                                          <a:latin typeface="Cambria Math" panose="02040503050406030204" pitchFamily="18" charset="0"/>
                                        </a:rPr>
                                      </m:ctrlPr>
                                    </m:dPr>
                                    <m:e>
                                      <m:r>
                                        <a:rPr lang="ko-KR" altLang="en-US" sz="2800" i="1" smtClean="0">
                                          <a:latin typeface="Cambria Math" panose="02040503050406030204" pitchFamily="18" charset="0"/>
                                        </a:rPr>
                                        <m:t>𝑎</m:t>
                                      </m:r>
                                      <m:r>
                                        <a:rPr lang="ko-KR" altLang="en-US" sz="2800" i="1" smtClean="0">
                                          <a:latin typeface="Cambria Math" panose="02040503050406030204" pitchFamily="18" charset="0"/>
                                        </a:rPr>
                                        <m:t>+</m:t>
                                      </m:r>
                                      <m:r>
                                        <a:rPr lang="ko-KR" altLang="en-US" sz="2800" i="1" smtClean="0">
                                          <a:latin typeface="Cambria Math" panose="02040503050406030204" pitchFamily="18" charset="0"/>
                                        </a:rPr>
                                        <m:t>𝑏</m:t>
                                      </m:r>
                                      <m:sSub>
                                        <m:sSubPr>
                                          <m:ctrlPr>
                                            <a:rPr lang="ko-KR" altLang="en-US" sz="2800" i="1" smtClean="0">
                                              <a:solidFill>
                                                <a:srgbClr val="836967"/>
                                              </a:solidFill>
                                              <a:latin typeface="Cambria Math" panose="02040503050406030204" pitchFamily="18" charset="0"/>
                                            </a:rPr>
                                          </m:ctrlPr>
                                        </m:sSubPr>
                                        <m:e>
                                          <m:r>
                                            <a:rPr lang="ko-KR" altLang="en-US" sz="2800" i="1" smtClean="0">
                                              <a:latin typeface="Cambria Math" panose="02040503050406030204" pitchFamily="18" charset="0"/>
                                            </a:rPr>
                                            <m:t>𝑥</m:t>
                                          </m:r>
                                        </m:e>
                                        <m:sub>
                                          <m:r>
                                            <a:rPr lang="ko-KR" altLang="en-US" sz="2800" i="1" smtClean="0">
                                              <a:latin typeface="Cambria Math" panose="02040503050406030204" pitchFamily="18" charset="0"/>
                                            </a:rPr>
                                            <m:t>𝑖</m:t>
                                          </m:r>
                                        </m:sub>
                                      </m:sSub>
                                    </m:e>
                                  </m:d>
                                </m:e>
                                <m:sup>
                                  <m:r>
                                    <a:rPr lang="ko-KR" altLang="en-US" sz="2800" i="1" smtClean="0">
                                      <a:latin typeface="Cambria Math" panose="02040503050406030204" pitchFamily="18" charset="0"/>
                                    </a:rPr>
                                    <m:t>2</m:t>
                                  </m:r>
                                </m:sup>
                              </m:sSup>
                            </m:num>
                            <m:den>
                              <m:r>
                                <a:rPr lang="ko-KR" altLang="en-US" sz="2800" i="1" smtClean="0">
                                  <a:latin typeface="Cambria Math" panose="02040503050406030204" pitchFamily="18" charset="0"/>
                                </a:rPr>
                                <m:t>𝑛</m:t>
                              </m:r>
                            </m:den>
                          </m:f>
                        </m:e>
                      </m:nary>
                    </m:oMath>
                  </m:oMathPara>
                </a14:m>
                <a:endParaRPr lang="ko-KR" altLang="en-US" sz="2800" dirty="0"/>
              </a:p>
            </p:txBody>
          </p:sp>
        </mc:Choice>
        <mc:Fallback xmlns="">
          <p:sp>
            <p:nvSpPr>
              <p:cNvPr id="10" name="TextBox 9">
                <a:extLst>
                  <a:ext uri="{FF2B5EF4-FFF2-40B4-BE49-F238E27FC236}">
                    <a16:creationId xmlns:a16="http://schemas.microsoft.com/office/drawing/2014/main" id="{0F422888-7378-46BB-A5A5-5AA706D439CB}"/>
                  </a:ext>
                </a:extLst>
              </p:cNvPr>
              <p:cNvSpPr txBox="1">
                <a:spLocks noRot="1" noChangeAspect="1" noMove="1" noResize="1" noEditPoints="1" noAdjustHandles="1" noChangeArrowheads="1" noChangeShapeType="1" noTextEdit="1"/>
              </p:cNvSpPr>
              <p:nvPr/>
            </p:nvSpPr>
            <p:spPr>
              <a:xfrm>
                <a:off x="7141673" y="2665553"/>
                <a:ext cx="3242653" cy="1526893"/>
              </a:xfrm>
              <a:prstGeom prst="rect">
                <a:avLst/>
              </a:prstGeom>
              <a:blipFill>
                <a:blip r:embed="rId3"/>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787575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1FEB13-0EE8-437B-8F64-10A1B6566862}"/>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C55FE330-0271-49AA-B5AD-9EBCD3F5EE18}"/>
              </a:ext>
            </a:extLst>
          </p:cNvPr>
          <p:cNvSpPr>
            <a:spLocks noGrp="1"/>
          </p:cNvSpPr>
          <p:nvPr>
            <p:ph idx="1"/>
          </p:nvPr>
        </p:nvSpPr>
        <p:spPr/>
        <p:txBody>
          <a:bodyPr/>
          <a:lstStyle/>
          <a:p>
            <a:r>
              <a:rPr lang="en-US" altLang="ko-KR" b="0" i="0" dirty="0">
                <a:solidFill>
                  <a:srgbClr val="000000"/>
                </a:solidFill>
                <a:effectLst/>
              </a:rPr>
              <a:t>A function that defines the relationship between error and learning parameters is called a loss function.</a:t>
            </a:r>
          </a:p>
          <a:p>
            <a:r>
              <a:rPr lang="en-US" altLang="ko-KR" b="0" i="0" dirty="0">
                <a:solidFill>
                  <a:srgbClr val="000000"/>
                </a:solidFill>
                <a:effectLst/>
              </a:rPr>
              <a:t>Linear regression finds a parameter with a minimum loss function value among various straight lines.</a:t>
            </a:r>
          </a:p>
          <a:p>
            <a:r>
              <a:rPr lang="en-US" altLang="ko-KR" b="0" i="0" dirty="0">
                <a:solidFill>
                  <a:srgbClr val="000000"/>
                </a:solidFill>
                <a:effectLst/>
              </a:rPr>
              <a:t>Finding parameters that minimize loss function values is also a concept commonly used in guidance learning algorithms.</a:t>
            </a:r>
          </a:p>
        </p:txBody>
      </p:sp>
      <p:pic>
        <p:nvPicPr>
          <p:cNvPr id="4" name="그림 3">
            <a:extLst>
              <a:ext uri="{FF2B5EF4-FFF2-40B4-BE49-F238E27FC236}">
                <a16:creationId xmlns:a16="http://schemas.microsoft.com/office/drawing/2014/main" id="{8FB3CA9A-B45B-4764-9580-88EAA0CB0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80214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normAutofit fontScale="92500"/>
          </a:bodyPr>
          <a:lstStyle/>
          <a:p>
            <a:r>
              <a:rPr lang="en-US" altLang="ko-KR" dirty="0">
                <a:solidFill>
                  <a:srgbClr val="000000"/>
                </a:solidFill>
              </a:rPr>
              <a:t>From </a:t>
            </a:r>
            <a:r>
              <a:rPr lang="en-US" altLang="ko-KR" dirty="0" err="1">
                <a:solidFill>
                  <a:srgbClr val="000000"/>
                </a:solidFill>
              </a:rPr>
              <a:t>sklearn</a:t>
            </a:r>
            <a:r>
              <a:rPr lang="en-US" altLang="ko-KR" dirty="0">
                <a:solidFill>
                  <a:srgbClr val="000000"/>
                </a:solidFill>
              </a:rPr>
              <a:t>, import Linear Regression</a:t>
            </a:r>
          </a:p>
          <a:p>
            <a:r>
              <a:rPr lang="en-US" altLang="ko-KR" b="0" i="0" dirty="0">
                <a:solidFill>
                  <a:srgbClr val="000000"/>
                </a:solidFill>
                <a:effectLst/>
              </a:rPr>
              <a:t>Set X, y variable</a:t>
            </a:r>
          </a:p>
          <a:p>
            <a:r>
              <a:rPr lang="en-US" altLang="ko-KR" dirty="0">
                <a:solidFill>
                  <a:srgbClr val="000000"/>
                </a:solidFill>
              </a:rPr>
              <a:t>Make Linear Regression variable</a:t>
            </a:r>
          </a:p>
          <a:p>
            <a:r>
              <a:rPr lang="en-US" altLang="ko-KR" dirty="0">
                <a:solidFill>
                  <a:srgbClr val="000000"/>
                </a:solidFill>
              </a:rPr>
              <a:t>Fit X, y to Linear Regression model</a:t>
            </a:r>
          </a:p>
          <a:p>
            <a:r>
              <a:rPr lang="en-US" altLang="ko-KR" dirty="0">
                <a:solidFill>
                  <a:srgbClr val="000000"/>
                </a:solidFill>
              </a:rPr>
              <a:t>Print inclination and y-intercept</a:t>
            </a:r>
          </a:p>
          <a:p>
            <a:r>
              <a:rPr lang="en-US" altLang="ko-KR" b="0" i="0" dirty="0">
                <a:solidFill>
                  <a:srgbClr val="000000"/>
                </a:solidFill>
                <a:effectLst/>
                <a:cs typeface="Helvetica" panose="020B0604020202020204" pitchFamily="34" charset="0"/>
              </a:rPr>
              <a:t>Predict y-values when x is 0 and 1 with the predict method</a:t>
            </a:r>
            <a:endParaRPr lang="en-US" altLang="ko-KR" dirty="0">
              <a:solidFill>
                <a:srgbClr val="000000"/>
              </a:solidFill>
              <a:cs typeface="Helvetica" panose="020B0604020202020204" pitchFamily="34" charset="0"/>
            </a:endParaRP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3" name="내용 개체 틀 12">
            <a:extLst>
              <a:ext uri="{FF2B5EF4-FFF2-40B4-BE49-F238E27FC236}">
                <a16:creationId xmlns:a16="http://schemas.microsoft.com/office/drawing/2014/main" id="{F7B5808D-E8ED-41BD-9EE1-A8C3F969946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4876015" cy="4133085"/>
          </a:xfrm>
        </p:spPr>
      </p:pic>
    </p:spTree>
    <p:extLst>
      <p:ext uri="{BB962C8B-B14F-4D97-AF65-F5344CB8AC3E}">
        <p14:creationId xmlns:p14="http://schemas.microsoft.com/office/powerpoint/2010/main" val="4008954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Output</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normAutofit/>
          </a:bodyPr>
          <a:lstStyle/>
          <a:p>
            <a:r>
              <a:rPr lang="en-US" altLang="ko-KR" dirty="0">
                <a:solidFill>
                  <a:srgbClr val="000000"/>
                </a:solidFill>
                <a:cs typeface="Helvetica" panose="020B0604020202020204" pitchFamily="34" charset="0"/>
              </a:rPr>
              <a:t>We can get inclination by </a:t>
            </a:r>
            <a:r>
              <a:rPr lang="en-US" altLang="ko-KR" dirty="0" err="1">
                <a:solidFill>
                  <a:srgbClr val="000000"/>
                </a:solidFill>
                <a:cs typeface="Helvetica" panose="020B0604020202020204" pitchFamily="34" charset="0"/>
              </a:rPr>
              <a:t>model.coef</a:t>
            </a:r>
            <a:r>
              <a:rPr lang="en-US" altLang="ko-KR" dirty="0">
                <a:solidFill>
                  <a:srgbClr val="000000"/>
                </a:solidFill>
                <a:cs typeface="Helvetica" panose="020B0604020202020204" pitchFamily="34" charset="0"/>
              </a:rPr>
              <a:t>_ method</a:t>
            </a:r>
          </a:p>
          <a:p>
            <a:r>
              <a:rPr lang="en-US" altLang="ko-KR" dirty="0">
                <a:solidFill>
                  <a:srgbClr val="000000"/>
                </a:solidFill>
                <a:cs typeface="Helvetica" panose="020B0604020202020204" pitchFamily="34" charset="0"/>
              </a:rPr>
              <a:t>We can get y-intercept by </a:t>
            </a:r>
            <a:r>
              <a:rPr lang="en-US" altLang="ko-KR" dirty="0" err="1">
                <a:solidFill>
                  <a:srgbClr val="000000"/>
                </a:solidFill>
                <a:cs typeface="Helvetica" panose="020B0604020202020204" pitchFamily="34" charset="0"/>
              </a:rPr>
              <a:t>model.intercept</a:t>
            </a:r>
            <a:r>
              <a:rPr lang="en-US" altLang="ko-KR" dirty="0">
                <a:solidFill>
                  <a:srgbClr val="000000"/>
                </a:solidFill>
                <a:cs typeface="Helvetica" panose="020B0604020202020204" pitchFamily="34" charset="0"/>
              </a:rPr>
              <a:t>_ method</a:t>
            </a:r>
          </a:p>
          <a:p>
            <a:r>
              <a:rPr lang="en-US" altLang="ko-KR" b="0" i="0" dirty="0">
                <a:solidFill>
                  <a:srgbClr val="000000"/>
                </a:solidFill>
                <a:effectLst/>
                <a:cs typeface="Helvetica" panose="020B0604020202020204" pitchFamily="34" charset="0"/>
              </a:rPr>
              <a:t>We can get y-values when x is 0 and 1 by </a:t>
            </a:r>
            <a:r>
              <a:rPr lang="en-US" altLang="ko-KR" b="0" i="0" dirty="0" err="1">
                <a:solidFill>
                  <a:srgbClr val="000000"/>
                </a:solidFill>
                <a:effectLst/>
                <a:cs typeface="Helvetica" panose="020B0604020202020204" pitchFamily="34" charset="0"/>
              </a:rPr>
              <a:t>model.predict</a:t>
            </a:r>
            <a:r>
              <a:rPr lang="en-US" altLang="ko-KR" b="0" i="0" dirty="0">
                <a:solidFill>
                  <a:srgbClr val="000000"/>
                </a:solidFill>
                <a:effectLst/>
                <a:cs typeface="Helvetica" panose="020B0604020202020204" pitchFamily="34" charset="0"/>
              </a:rPr>
              <a:t> method</a:t>
            </a:r>
            <a:endParaRPr lang="en-US" altLang="ko-KR" dirty="0">
              <a:solidFill>
                <a:srgbClr val="000000"/>
              </a:solidFill>
              <a:cs typeface="Helvetica" panose="020B0604020202020204" pitchFamily="34" charset="0"/>
            </a:endParaRP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1138192B-60CD-4462-A6DE-36CA24FC99D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4"/>
            <a:ext cx="5181598" cy="1884217"/>
          </a:xfrm>
        </p:spPr>
      </p:pic>
    </p:spTree>
    <p:extLst>
      <p:ext uri="{BB962C8B-B14F-4D97-AF65-F5344CB8AC3E}">
        <p14:creationId xmlns:p14="http://schemas.microsoft.com/office/powerpoint/2010/main" val="3619606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Method of minimizing</a:t>
            </a:r>
            <a:br>
              <a:rPr lang="en-US" altLang="ko-KR" dirty="0"/>
            </a:br>
            <a:r>
              <a:rPr lang="en-US" altLang="ko-KR" dirty="0"/>
              <a:t>mean square error</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normAutofit fontScale="85000" lnSpcReduction="10000"/>
          </a:bodyPr>
          <a:lstStyle/>
          <a:p>
            <a:r>
              <a:rPr lang="en-US" altLang="ko-KR" dirty="0">
                <a:solidFill>
                  <a:srgbClr val="000000"/>
                </a:solidFill>
              </a:rPr>
              <a:t>L</a:t>
            </a:r>
            <a:r>
              <a:rPr lang="en-US" altLang="ko-KR" b="0" i="0" dirty="0">
                <a:solidFill>
                  <a:srgbClr val="000000"/>
                </a:solidFill>
                <a:effectLst/>
              </a:rPr>
              <a:t>et x and y as shown on the right.</a:t>
            </a:r>
          </a:p>
          <a:p>
            <a:r>
              <a:rPr lang="en-US" altLang="ko-KR" b="0" i="0" dirty="0">
                <a:solidFill>
                  <a:srgbClr val="000000"/>
                </a:solidFill>
                <a:effectLst/>
              </a:rPr>
              <a:t>The table below shows the average square error values according to the values a and b.</a:t>
            </a:r>
          </a:p>
          <a:p>
            <a:r>
              <a:rPr lang="en-US" altLang="ko-KR" b="0" i="0" dirty="0">
                <a:solidFill>
                  <a:srgbClr val="000000"/>
                </a:solidFill>
                <a:effectLst/>
              </a:rPr>
              <a:t>Substituting the x and y values into the mean square error formula, the following equation can be obtained.</a:t>
            </a:r>
          </a:p>
          <a:p>
            <a:r>
              <a:rPr lang="en-US" altLang="ko-KR" b="0" i="0" dirty="0">
                <a:solidFill>
                  <a:srgbClr val="000000"/>
                </a:solidFill>
                <a:effectLst/>
              </a:rPr>
              <a:t>Therefore, the minimum value of the equation according to the values a and b may be obtained.</a:t>
            </a:r>
            <a:endParaRPr lang="en-US" altLang="ko-KR" dirty="0">
              <a:solidFill>
                <a:srgbClr val="000000"/>
              </a:solidFill>
              <a:cs typeface="Helvetica" panose="020B0604020202020204" pitchFamily="34" charset="0"/>
            </a:endParaRP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4B1CB88E-A31C-4A2E-9ACB-3EE7B9BECE8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5181598" cy="4074620"/>
          </a:xfrm>
        </p:spPr>
      </p:pic>
    </p:spTree>
    <p:extLst>
      <p:ext uri="{BB962C8B-B14F-4D97-AF65-F5344CB8AC3E}">
        <p14:creationId xmlns:p14="http://schemas.microsoft.com/office/powerpoint/2010/main" val="3081032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36AB730-0024-42F1-BBFD-EC956EB3F04D}"/>
              </a:ext>
            </a:extLst>
          </p:cNvPr>
          <p:cNvSpPr>
            <a:spLocks noGrp="1"/>
          </p:cNvSpPr>
          <p:nvPr>
            <p:ph type="title"/>
          </p:nvPr>
        </p:nvSpPr>
        <p:spPr/>
        <p:txBody>
          <a:bodyPr/>
          <a:lstStyle/>
          <a:p>
            <a:r>
              <a:rPr lang="en-US" altLang="ko-KR" dirty="0"/>
              <a:t>Type of linear regression</a:t>
            </a:r>
            <a:endParaRPr lang="ko-KR" altLang="en-US" dirty="0"/>
          </a:p>
        </p:txBody>
      </p:sp>
      <p:sp>
        <p:nvSpPr>
          <p:cNvPr id="3" name="내용 개체 틀 2">
            <a:extLst>
              <a:ext uri="{FF2B5EF4-FFF2-40B4-BE49-F238E27FC236}">
                <a16:creationId xmlns:a16="http://schemas.microsoft.com/office/drawing/2014/main" id="{74625146-7FA6-4575-B2BA-9F17784583F1}"/>
              </a:ext>
            </a:extLst>
          </p:cNvPr>
          <p:cNvSpPr>
            <a:spLocks noGrp="1"/>
          </p:cNvSpPr>
          <p:nvPr>
            <p:ph sz="half" idx="1"/>
          </p:nvPr>
        </p:nvSpPr>
        <p:spPr/>
        <p:txBody>
          <a:bodyPr/>
          <a:lstStyle/>
          <a:p>
            <a:r>
              <a:rPr lang="en-US" altLang="ko-KR" b="0" i="0" dirty="0">
                <a:solidFill>
                  <a:srgbClr val="000000"/>
                </a:solidFill>
                <a:effectLst/>
              </a:rPr>
              <a:t>Since polynomial regression is not linear, it may be awkward to call it linear regression, but because it is linear regression for learning parameters rather than independent variables, polynomial regression is also included in linear regression.</a:t>
            </a:r>
          </a:p>
        </p:txBody>
      </p:sp>
      <p:graphicFrame>
        <p:nvGraphicFramePr>
          <p:cNvPr id="5" name="표 5">
            <a:extLst>
              <a:ext uri="{FF2B5EF4-FFF2-40B4-BE49-F238E27FC236}">
                <a16:creationId xmlns:a16="http://schemas.microsoft.com/office/drawing/2014/main" id="{E62A55FF-82FD-49B5-B42C-478CFFC1CDF3}"/>
              </a:ext>
            </a:extLst>
          </p:cNvPr>
          <p:cNvGraphicFramePr>
            <a:graphicFrameLocks noGrp="1"/>
          </p:cNvGraphicFramePr>
          <p:nvPr>
            <p:ph sz="half" idx="2"/>
            <p:extLst>
              <p:ext uri="{D42A27DB-BD31-4B8C-83A1-F6EECF244321}">
                <p14:modId xmlns:p14="http://schemas.microsoft.com/office/powerpoint/2010/main" val="1962130534"/>
              </p:ext>
            </p:extLst>
          </p:nvPr>
        </p:nvGraphicFramePr>
        <p:xfrm>
          <a:off x="6172200" y="1825625"/>
          <a:ext cx="5181600" cy="2291080"/>
        </p:xfrm>
        <a:graphic>
          <a:graphicData uri="http://schemas.openxmlformats.org/drawingml/2006/table">
            <a:tbl>
              <a:tblPr firstRow="1" bandRow="1">
                <a:tableStyleId>{5C22544A-7EE6-4342-B048-85BDC9FD1C3A}</a:tableStyleId>
              </a:tblPr>
              <a:tblGrid>
                <a:gridCol w="2859505">
                  <a:extLst>
                    <a:ext uri="{9D8B030D-6E8A-4147-A177-3AD203B41FA5}">
                      <a16:colId xmlns:a16="http://schemas.microsoft.com/office/drawing/2014/main" val="1563541935"/>
                    </a:ext>
                  </a:extLst>
                </a:gridCol>
                <a:gridCol w="2322095">
                  <a:extLst>
                    <a:ext uri="{9D8B030D-6E8A-4147-A177-3AD203B41FA5}">
                      <a16:colId xmlns:a16="http://schemas.microsoft.com/office/drawing/2014/main" val="2432520976"/>
                    </a:ext>
                  </a:extLst>
                </a:gridCol>
              </a:tblGrid>
              <a:tr h="370840">
                <a:tc>
                  <a:txBody>
                    <a:bodyPr/>
                    <a:lstStyle/>
                    <a:p>
                      <a:pPr algn="ctr" latinLnBrk="1"/>
                      <a:r>
                        <a:rPr lang="ko-KR" altLang="en-US" dirty="0"/>
                        <a:t>선형회귀의 종류</a:t>
                      </a:r>
                    </a:p>
                  </a:txBody>
                  <a:tcPr/>
                </a:tc>
                <a:tc>
                  <a:txBody>
                    <a:bodyPr/>
                    <a:lstStyle/>
                    <a:p>
                      <a:pPr algn="ctr" latinLnBrk="1"/>
                      <a:r>
                        <a:rPr lang="ko-KR" altLang="en-US" dirty="0"/>
                        <a:t>함수 정의 예</a:t>
                      </a:r>
                    </a:p>
                  </a:txBody>
                  <a:tcPr/>
                </a:tc>
                <a:extLst>
                  <a:ext uri="{0D108BD9-81ED-4DB2-BD59-A6C34878D82A}">
                    <a16:rowId xmlns:a16="http://schemas.microsoft.com/office/drawing/2014/main" val="476287826"/>
                  </a:ext>
                </a:extLst>
              </a:tr>
              <a:tr h="370840">
                <a:tc>
                  <a:txBody>
                    <a:bodyPr/>
                    <a:lstStyle/>
                    <a:p>
                      <a:pPr algn="ctr" latinLnBrk="1"/>
                      <a:r>
                        <a:rPr lang="ko-KR" altLang="en-US" dirty="0"/>
                        <a:t>단순선형회귀</a:t>
                      </a:r>
                      <a:endParaRPr lang="en-US" altLang="ko-KR" dirty="0"/>
                    </a:p>
                    <a:p>
                      <a:pPr algn="ctr" latinLnBrk="1"/>
                      <a:r>
                        <a:rPr lang="en-US" altLang="ko-KR" dirty="0"/>
                        <a:t>Simple linear regression</a:t>
                      </a:r>
                      <a:endParaRPr lang="ko-KR" altLang="en-US" dirty="0"/>
                    </a:p>
                  </a:txBody>
                  <a:tcPr/>
                </a:tc>
                <a:tc>
                  <a:txBody>
                    <a:bodyPr/>
                    <a:lstStyle/>
                    <a:p>
                      <a:pPr algn="ctr" latinLnBrk="1">
                        <a:lnSpc>
                          <a:spcPct val="150000"/>
                        </a:lnSpc>
                      </a:pPr>
                      <a:r>
                        <a:rPr lang="en-US" altLang="ko-KR" dirty="0"/>
                        <a:t>y = ax + b</a:t>
                      </a:r>
                      <a:endParaRPr lang="ko-KR" altLang="en-US" dirty="0"/>
                    </a:p>
                  </a:txBody>
                  <a:tcPr/>
                </a:tc>
                <a:extLst>
                  <a:ext uri="{0D108BD9-81ED-4DB2-BD59-A6C34878D82A}">
                    <a16:rowId xmlns:a16="http://schemas.microsoft.com/office/drawing/2014/main" val="3093184256"/>
                  </a:ext>
                </a:extLst>
              </a:tr>
              <a:tr h="370840">
                <a:tc>
                  <a:txBody>
                    <a:bodyPr/>
                    <a:lstStyle/>
                    <a:p>
                      <a:pPr algn="ctr" latinLnBrk="1"/>
                      <a:r>
                        <a:rPr lang="ko-KR" altLang="en-US" dirty="0"/>
                        <a:t>다중선형회귀</a:t>
                      </a:r>
                      <a:endParaRPr lang="en-US" altLang="ko-KR" dirty="0"/>
                    </a:p>
                    <a:p>
                      <a:pPr algn="ctr" latinLnBrk="1"/>
                      <a:r>
                        <a:rPr lang="en-US" altLang="ko-KR" sz="1800" b="0" i="0" kern="1200" dirty="0">
                          <a:solidFill>
                            <a:schemeClr val="dk1"/>
                          </a:solidFill>
                          <a:effectLst/>
                          <a:latin typeface="+mn-lt"/>
                          <a:ea typeface="+mn-ea"/>
                          <a:cs typeface="+mn-cs"/>
                        </a:rPr>
                        <a:t>multiple linear regression</a:t>
                      </a:r>
                      <a:endParaRPr lang="ko-KR" altLang="en-US" dirty="0"/>
                    </a:p>
                  </a:txBody>
                  <a:tcPr/>
                </a:tc>
                <a:tc>
                  <a:txBody>
                    <a:bodyPr/>
                    <a:lstStyle/>
                    <a:p>
                      <a:pPr algn="ctr" latinLnBrk="1">
                        <a:lnSpc>
                          <a:spcPct val="150000"/>
                        </a:lnSpc>
                      </a:pPr>
                      <a:r>
                        <a:rPr lang="en-US" altLang="ko-KR" dirty="0"/>
                        <a:t>z = ax + by + c</a:t>
                      </a:r>
                      <a:endParaRPr lang="ko-KR" altLang="en-US" dirty="0"/>
                    </a:p>
                  </a:txBody>
                  <a:tcPr/>
                </a:tc>
                <a:extLst>
                  <a:ext uri="{0D108BD9-81ED-4DB2-BD59-A6C34878D82A}">
                    <a16:rowId xmlns:a16="http://schemas.microsoft.com/office/drawing/2014/main" val="3446507830"/>
                  </a:ext>
                </a:extLst>
              </a:tr>
              <a:tr h="370840">
                <a:tc>
                  <a:txBody>
                    <a:bodyPr/>
                    <a:lstStyle/>
                    <a:p>
                      <a:pPr algn="ctr" latinLnBrk="1"/>
                      <a:r>
                        <a:rPr lang="ko-KR" altLang="en-US" dirty="0"/>
                        <a:t>다항회귀</a:t>
                      </a:r>
                      <a:endParaRPr lang="en-US" altLang="ko-KR" dirty="0"/>
                    </a:p>
                    <a:p>
                      <a:pPr algn="ctr" latinLnBrk="1"/>
                      <a:r>
                        <a:rPr lang="en-US" altLang="ko-KR" dirty="0"/>
                        <a:t>Polynomial regression</a:t>
                      </a:r>
                      <a:endParaRPr lang="ko-KR" altLang="en-US" dirty="0"/>
                    </a:p>
                  </a:txBody>
                  <a:tcPr/>
                </a:tc>
                <a:tc>
                  <a:txBody>
                    <a:bodyPr/>
                    <a:lstStyle/>
                    <a:p>
                      <a:pPr algn="ctr" latinLnBrk="1">
                        <a:lnSpc>
                          <a:spcPct val="150000"/>
                        </a:lnSpc>
                      </a:pPr>
                      <a:r>
                        <a:rPr lang="en-US" altLang="ko-KR" dirty="0"/>
                        <a:t>y = ax^2 + bx + c</a:t>
                      </a:r>
                      <a:endParaRPr lang="ko-KR" altLang="en-US" dirty="0"/>
                    </a:p>
                  </a:txBody>
                  <a:tcPr/>
                </a:tc>
                <a:extLst>
                  <a:ext uri="{0D108BD9-81ED-4DB2-BD59-A6C34878D82A}">
                    <a16:rowId xmlns:a16="http://schemas.microsoft.com/office/drawing/2014/main" val="3317751139"/>
                  </a:ext>
                </a:extLst>
              </a:tr>
            </a:tbl>
          </a:graphicData>
        </a:graphic>
      </p:graphicFrame>
      <p:pic>
        <p:nvPicPr>
          <p:cNvPr id="6" name="그림 5">
            <a:extLst>
              <a:ext uri="{FF2B5EF4-FFF2-40B4-BE49-F238E27FC236}">
                <a16:creationId xmlns:a16="http://schemas.microsoft.com/office/drawing/2014/main" id="{D6CDF0FD-A029-43FC-9477-209565B37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75348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10F9CED-422E-4B30-8269-F7E00440301A}"/>
              </a:ext>
            </a:extLst>
          </p:cNvPr>
          <p:cNvSpPr>
            <a:spLocks noGrp="1"/>
          </p:cNvSpPr>
          <p:nvPr>
            <p:ph type="title"/>
          </p:nvPr>
        </p:nvSpPr>
        <p:spPr/>
        <p:txBody>
          <a:bodyPr/>
          <a:lstStyle/>
          <a:p>
            <a:r>
              <a:rPr lang="en-US" altLang="ko-KR" dirty="0"/>
              <a:t>Nonlinear regression</a:t>
            </a:r>
            <a:endParaRPr lang="ko-KR" altLang="en-US" dirty="0"/>
          </a:p>
        </p:txBody>
      </p:sp>
      <p:sp>
        <p:nvSpPr>
          <p:cNvPr id="3" name="내용 개체 틀 2">
            <a:extLst>
              <a:ext uri="{FF2B5EF4-FFF2-40B4-BE49-F238E27FC236}">
                <a16:creationId xmlns:a16="http://schemas.microsoft.com/office/drawing/2014/main" id="{C331871F-36CC-4AF2-8C04-A437C006BE93}"/>
              </a:ext>
            </a:extLst>
          </p:cNvPr>
          <p:cNvSpPr>
            <a:spLocks noGrp="1"/>
          </p:cNvSpPr>
          <p:nvPr>
            <p:ph idx="1"/>
          </p:nvPr>
        </p:nvSpPr>
        <p:spPr/>
        <p:txBody>
          <a:bodyPr/>
          <a:lstStyle/>
          <a:p>
            <a:r>
              <a:rPr lang="en-US" altLang="ko-KR" b="0" i="0" dirty="0">
                <a:solidFill>
                  <a:srgbClr val="000000"/>
                </a:solidFill>
                <a:effectLst/>
                <a:latin typeface="Helvetica Neue"/>
              </a:rPr>
              <a:t>y = </a:t>
            </a:r>
            <a:r>
              <a:rPr lang="en-US" altLang="ko-KR" b="0" i="0" dirty="0" err="1">
                <a:solidFill>
                  <a:srgbClr val="000000"/>
                </a:solidFill>
                <a:effectLst/>
                <a:latin typeface="Helvetica Neue"/>
              </a:rPr>
              <a:t>e^x</a:t>
            </a:r>
            <a:endParaRPr lang="en-US" altLang="ko-KR" b="0" i="0" dirty="0">
              <a:solidFill>
                <a:srgbClr val="000000"/>
              </a:solidFill>
              <a:effectLst/>
              <a:latin typeface="Helvetica Neue"/>
            </a:endParaRPr>
          </a:p>
          <a:p>
            <a:r>
              <a:rPr lang="en-US" altLang="ko-KR" b="0" i="0" dirty="0">
                <a:solidFill>
                  <a:srgbClr val="000000"/>
                </a:solidFill>
                <a:effectLst/>
                <a:latin typeface="Helvetica Neue"/>
              </a:rPr>
              <a:t>y = 1/x</a:t>
            </a:r>
          </a:p>
        </p:txBody>
      </p:sp>
      <p:pic>
        <p:nvPicPr>
          <p:cNvPr id="5" name="그림 4">
            <a:extLst>
              <a:ext uri="{FF2B5EF4-FFF2-40B4-BE49-F238E27FC236}">
                <a16:creationId xmlns:a16="http://schemas.microsoft.com/office/drawing/2014/main" id="{DB1997A9-032C-4FF3-965A-B15C4D7DC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574" y="2987675"/>
            <a:ext cx="5019675" cy="3324225"/>
          </a:xfrm>
          <a:prstGeom prst="rect">
            <a:avLst/>
          </a:prstGeom>
        </p:spPr>
      </p:pic>
      <p:pic>
        <p:nvPicPr>
          <p:cNvPr id="7" name="그림 6">
            <a:extLst>
              <a:ext uri="{FF2B5EF4-FFF2-40B4-BE49-F238E27FC236}">
                <a16:creationId xmlns:a16="http://schemas.microsoft.com/office/drawing/2014/main" id="{034F0337-FB49-4F79-91A1-D822FE8DD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3532" y="1829309"/>
            <a:ext cx="4271338" cy="3199381"/>
          </a:xfrm>
          <a:prstGeom prst="rect">
            <a:avLst/>
          </a:prstGeom>
        </p:spPr>
      </p:pic>
      <p:pic>
        <p:nvPicPr>
          <p:cNvPr id="6" name="그림 5">
            <a:extLst>
              <a:ext uri="{FF2B5EF4-FFF2-40B4-BE49-F238E27FC236}">
                <a16:creationId xmlns:a16="http://schemas.microsoft.com/office/drawing/2014/main" id="{0A7665E5-240D-4088-9956-D078CC57C4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219590965"/>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381</Words>
  <Application>Microsoft Office PowerPoint</Application>
  <PresentationFormat>와이드스크린</PresentationFormat>
  <Paragraphs>48</Paragraphs>
  <Slides>9</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Helvetica Neue</vt:lpstr>
      <vt:lpstr>맑은 고딕</vt:lpstr>
      <vt:lpstr>Arial</vt:lpstr>
      <vt:lpstr>Cambria Math</vt:lpstr>
      <vt:lpstr>Office 테마</vt:lpstr>
      <vt:lpstr>Supervised Learning</vt:lpstr>
      <vt:lpstr>Fundamental concept</vt:lpstr>
      <vt:lpstr>Algorithm</vt:lpstr>
      <vt:lpstr>Algorithm</vt:lpstr>
      <vt:lpstr>Sample code</vt:lpstr>
      <vt:lpstr>Output</vt:lpstr>
      <vt:lpstr>Method of minimizing mean square error</vt:lpstr>
      <vt:lpstr>Type of linear regression</vt:lpstr>
      <vt:lpstr>Nonlinear regression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신 주영</dc:creator>
  <cp:lastModifiedBy>신 주영</cp:lastModifiedBy>
  <cp:revision>24</cp:revision>
  <dcterms:created xsi:type="dcterms:W3CDTF">2022-03-30T03:21:26Z</dcterms:created>
  <dcterms:modified xsi:type="dcterms:W3CDTF">2022-04-12T13:09:49Z</dcterms:modified>
</cp:coreProperties>
</file>