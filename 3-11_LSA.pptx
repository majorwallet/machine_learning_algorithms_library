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8E6CD3-006F-4187-9658-7C019CCBE3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54192DB-5A7B-4712-BA16-0BCDA4E7E5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0B4F134-E33B-49CA-ACCB-B9F655E91F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68B607-F01E-4B92-B1F2-258370D27B36}" type="datetimeFigureOut">
              <a:rPr lang="ko-KR" altLang="en-US" smtClean="0"/>
              <a:t>2022-04-11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DD4947C-32E4-414D-BDE3-7F16801B0B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C81D362-3669-4577-A8F8-080BB41420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A65BF8-AED6-49AF-BEB3-CA5975537E6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71132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05D51D-D5D0-4853-8144-861022444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132E439-3633-4FDC-8F55-8FEF9F1328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1E9E388-F620-4ECF-A082-EA973641F1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68B607-F01E-4B92-B1F2-258370D27B36}" type="datetimeFigureOut">
              <a:rPr lang="ko-KR" altLang="en-US" smtClean="0"/>
              <a:t>2022-04-11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8FBA0A2-1767-423F-AE54-8A6B9678C0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C643E6C-744D-4B3A-9EA0-F62EF3C17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A65BF8-AED6-49AF-BEB3-CA5975537E6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47607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E8F697-E1F4-4646-ADD8-140863EE92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6195389-ADB3-41CE-A74A-CCF6392EFA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0C4CAD8-CBAB-497C-BECE-65C3564F3F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68B607-F01E-4B92-B1F2-258370D27B36}" type="datetimeFigureOut">
              <a:rPr lang="ko-KR" altLang="en-US" smtClean="0"/>
              <a:t>2022-04-11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68FE457-235F-4472-B2BA-4E625A3193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46B4155-275D-4F53-9FE1-D21527C6FD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A65BF8-AED6-49AF-BEB3-CA5975537E6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3895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759A90-E31C-40E0-AE04-D819DB37DE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DABCF52-E416-4843-92DC-F8B13802D65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58D1FD8-AE74-426B-986A-FDFB990019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5069175-F17A-4DB7-951A-3BBBB3332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68B607-F01E-4B92-B1F2-258370D27B36}" type="datetimeFigureOut">
              <a:rPr lang="ko-KR" altLang="en-US" smtClean="0"/>
              <a:t>2022-04-11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BB14ADA-8D92-4538-8857-2507D203E8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846584E-2190-4509-940C-EB9BAC345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A65BF8-AED6-49AF-BEB3-CA5975537E6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2177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A65176-75F9-46D4-B672-3698DA802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97BB5E5-A087-4E87-B984-717911BE27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E4A4219-FE9A-4689-8CDD-DA730CBFF2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C086795-B137-448F-A8DB-43B7E73125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0ABD3AB9-48DA-455E-8BA0-9ADB1BC52CF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0037EA5-B7DF-4AC5-A44A-F50D4237C4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68B607-F01E-4B92-B1F2-258370D27B36}" type="datetimeFigureOut">
              <a:rPr lang="ko-KR" altLang="en-US" smtClean="0"/>
              <a:t>2022-04-11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128F666-3AAE-44ED-BBC5-3E533BF74A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882733B-0A36-4D15-AB5E-7A907000C2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A65BF8-AED6-49AF-BEB3-CA5975537E6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70732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06B07C-67B6-4029-A13B-6787B8BEBF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FF0B9EE-4F85-43E4-A74E-78AED2E08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68B607-F01E-4B92-B1F2-258370D27B36}" type="datetimeFigureOut">
              <a:rPr lang="ko-KR" altLang="en-US" smtClean="0"/>
              <a:t>2022-04-11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EF2D6D3-20FD-4015-A1B1-7523725BA6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C25E45C-CCDF-4DED-A4DA-98D2332F68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A65BF8-AED6-49AF-BEB3-CA5975537E6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17579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E767D98-D902-42A9-9984-79CC0F8694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68B607-F01E-4B92-B1F2-258370D27B36}" type="datetimeFigureOut">
              <a:rPr lang="ko-KR" altLang="en-US" smtClean="0"/>
              <a:t>2022-04-11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26115068-51CA-4B7F-A8A4-99FCA93290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A684ADF-1666-4B07-80FB-AC09EB98E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A65BF8-AED6-49AF-BEB3-CA5975537E6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34278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B40652-3A9F-4289-B0DF-57A4216925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F9AE2A0-E8B3-41D9-A996-84DC42DCF1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86B485A-1CE9-40FE-8BA3-52EE33ED24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4905D2B-E423-4FD9-BAEB-EF55BE7C3B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68B607-F01E-4B92-B1F2-258370D27B36}" type="datetimeFigureOut">
              <a:rPr lang="ko-KR" altLang="en-US" smtClean="0"/>
              <a:t>2022-04-11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C85E1A1-01F9-4A49-9803-9626553BD3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EF086AB-04A3-41D3-A5AC-BD2C70151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A65BF8-AED6-49AF-BEB3-CA5975537E6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13464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BD0A0B-3661-4DD7-B0CB-243CA91C5A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1030509B-570C-412F-894B-7D1EC478369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C2BEFCC-3B92-477E-9CA1-029ED2E69A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9E98404-65DE-4594-851C-59F74438C2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68B607-F01E-4B92-B1F2-258370D27B36}" type="datetimeFigureOut">
              <a:rPr lang="ko-KR" altLang="en-US" smtClean="0"/>
              <a:t>2022-04-11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90176B6-75E2-4F67-8FAD-542B5799C5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BEF6A9A-D1C8-41FE-8E33-06D3845488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A65BF8-AED6-49AF-BEB3-CA5975537E6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402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221BB6-F4AF-4FD7-A598-4C56F3F2B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4AA82BD-0277-49F0-9CDA-9CB16CF0B0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2A570EF-79BA-46F6-A1E7-1E59328009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68B607-F01E-4B92-B1F2-258370D27B36}" type="datetimeFigureOut">
              <a:rPr lang="ko-KR" altLang="en-US" smtClean="0"/>
              <a:t>2022-04-11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E3A8245-99D6-4518-9959-E4B26A47CB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ADB3849-8D66-45A2-96AE-D955379E5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A65BF8-AED6-49AF-BEB3-CA5975537E6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53251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7CFE0E0D-5213-49DC-85C3-DFCD4ACE33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8E0DB2E-AA9B-4E34-871E-EEC680AC06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B205E03-9EA6-4BAD-8517-7371F85E0D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68B607-F01E-4B92-B1F2-258370D27B36}" type="datetimeFigureOut">
              <a:rPr lang="ko-KR" altLang="en-US" smtClean="0"/>
              <a:t>2022-04-11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FC2C956-0640-4BBB-9A9B-A99E7F7AC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444859-4ACA-4216-8964-3828F4B1B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A65BF8-AED6-49AF-BEB3-CA5975537E6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68134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AE97309-8B52-4964-9139-80C913FBB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16A12F8-A97F-42FB-84DE-8F86C24589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85C22C6-13AF-41A3-B36B-2DBE56E459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68B607-F01E-4B92-B1F2-258370D27B36}" type="datetimeFigureOut">
              <a:rPr lang="ko-KR" altLang="en-US" smtClean="0"/>
              <a:t>2022-04-11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6216560-2346-4209-BD45-DAA3B6D67C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21EE692-C6A0-475D-B236-2F148CDD70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A65BF8-AED6-49AF-BEB3-CA5975537E6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61568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37993E-4B47-420F-8C02-45912244A25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Unsupervised Learning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5F2B656-D547-44ED-85A3-2BF46AE2696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Latent Semantic Analysis, LSA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74D955A-B598-4DD3-B041-C5EDC95F16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32389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CFED25-DB1E-4284-B816-C997CBCB6B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A0E3849-519D-4C45-B977-CB0E7B75C6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It is used in the field of data information </a:t>
            </a:r>
            <a:r>
              <a:rPr lang="en-US" altLang="ko-KR" b="0" i="0" dirty="0" err="1">
                <a:solidFill>
                  <a:srgbClr val="000000"/>
                </a:solidFill>
                <a:effectLst/>
              </a:rPr>
              <a:t>retreival</a:t>
            </a:r>
            <a:endParaRPr lang="en-US" altLang="ko-KR" b="0" i="0" dirty="0">
              <a:solidFill>
                <a:srgbClr val="000000"/>
              </a:solidFill>
              <a:effectLst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By using LSA, we can see the latent relevance of words from a large amount of document data.</a:t>
            </a:r>
          </a:p>
          <a:p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5EAF53B-299C-42F2-A991-D7AFB1D670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32403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819FA6-8141-4B9F-B7DF-25E7FE219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C6F155D-3273-49FE-923E-2B00E058B5D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altLang="ko-KR" dirty="0"/>
              <a:t>Convert the sentence below to matrix X</a:t>
            </a:r>
          </a:p>
          <a:p>
            <a:pPr lvl="1"/>
            <a:r>
              <a:rPr lang="ko-KR" altLang="en-US" dirty="0"/>
              <a:t>자동차로 회사에 출근했다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차로 출근했다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레스토랑에서 햄버거를 먹는다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레스토랑에서 파스타를 먹는다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B9A14D29-E231-4D7F-B4B1-05CC3755C3FB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813738537"/>
              </p:ext>
            </p:extLst>
          </p:nvPr>
        </p:nvGraphicFramePr>
        <p:xfrm>
          <a:off x="6172200" y="1825625"/>
          <a:ext cx="5181595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0916">
                  <a:extLst>
                    <a:ext uri="{9D8B030D-6E8A-4147-A177-3AD203B41FA5}">
                      <a16:colId xmlns:a16="http://schemas.microsoft.com/office/drawing/2014/main" val="3755711724"/>
                    </a:ext>
                  </a:extLst>
                </a:gridCol>
                <a:gridCol w="961722">
                  <a:extLst>
                    <a:ext uri="{9D8B030D-6E8A-4147-A177-3AD203B41FA5}">
                      <a16:colId xmlns:a16="http://schemas.microsoft.com/office/drawing/2014/main" val="3432100404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453006408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56720851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8110128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문장</a:t>
                      </a:r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문장</a:t>
                      </a:r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문장</a:t>
                      </a:r>
                      <a:r>
                        <a:rPr lang="en-US" altLang="ko-KR" dirty="0"/>
                        <a:t>3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문장</a:t>
                      </a:r>
                      <a:r>
                        <a:rPr lang="en-US" altLang="ko-KR" dirty="0"/>
                        <a:t>4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71391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자동차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4238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회사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31716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출근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7625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24355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레스토랑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3891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햄버거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78358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먹다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1018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파스타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2349639"/>
                  </a:ext>
                </a:extLst>
              </a:tr>
            </a:tbl>
          </a:graphicData>
        </a:graphic>
      </p:graphicFrame>
      <p:pic>
        <p:nvPicPr>
          <p:cNvPr id="6" name="그림 5">
            <a:extLst>
              <a:ext uri="{FF2B5EF4-FFF2-40B4-BE49-F238E27FC236}">
                <a16:creationId xmlns:a16="http://schemas.microsoft.com/office/drawing/2014/main" id="{BFBE2CB1-26DB-462E-A83F-6F5D697492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45662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CA402D-7991-44EE-A934-531841E6AA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812503F-28A9-49CC-8B99-034FD46349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+mj-lt"/>
              <a:buAutoNum type="arabicPeriod" startAt="2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Decompose the matrix X.</a:t>
            </a:r>
          </a:p>
          <a:p>
            <a:pPr marL="742950" lvl="1" indent="-285750" algn="l">
              <a:buFont typeface="+mj-lt"/>
              <a:buAutoNum type="arabicPeriod" startAt="2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matrix X, which is an 8X4 matrix, is represented by the product of the 8X4 matrix U, the 4X4 matrix D, and the 4X4 matrix V^T.</a:t>
            </a:r>
          </a:p>
          <a:p>
            <a:pPr marL="1143000" lvl="2" indent="-228600" algn="l">
              <a:buFont typeface="+mj-lt"/>
              <a:buAutoNum type="arabicPeriod" startAt="2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Matrix U: Matrix with transformation information of characteristics made of words</a:t>
            </a:r>
          </a:p>
          <a:p>
            <a:pPr marL="1143000" lvl="2" indent="-228600" algn="l">
              <a:buFont typeface="+mj-lt"/>
              <a:buAutoNum type="arabicPeriod" startAt="2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Matrix D: Matrix with information importance</a:t>
            </a:r>
          </a:p>
          <a:p>
            <a:pPr marL="1143000" lvl="2" indent="-228600" algn="l">
              <a:buFont typeface="+mj-lt"/>
              <a:buAutoNum type="arabicPeriod" startAt="2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Matrix V: Matrix with word features and document conversion information</a:t>
            </a:r>
          </a:p>
          <a:p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808DF89-5ADF-49BE-B35A-6CADCDAD39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B1AE939-79E4-4F33-8863-3DD234675950}"/>
                  </a:ext>
                </a:extLst>
              </p:cNvPr>
              <p:cNvSpPr txBox="1"/>
              <p:nvPr/>
            </p:nvSpPr>
            <p:spPr>
              <a:xfrm>
                <a:off x="838200" y="4543432"/>
                <a:ext cx="10613868" cy="10088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𝑈𝐷</m:t>
                    </m:r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m>
                      <m:mPr>
                        <m:mcs>
                          <m:mc>
                            <m:mcPr>
                              <m:count m:val="4"/>
                              <m:mcJc m:val="center"/>
                            </m:mcPr>
                          </m:mc>
                        </m:mcs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>
                          <m:r>
                            <m:rPr>
                              <m:brk m:alnAt="7"/>
                            </m:r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.00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−0.45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−0.45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0.00</m:t>
                          </m:r>
                        </m:e>
                      </m:mr>
                      <m:m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0.00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−0.45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−0.45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0.00</m:t>
                          </m:r>
                        </m:e>
                      </m:mr>
                      <m:m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⋮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⋮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⋮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⋮</m:t>
                          </m:r>
                        </m:e>
                      </m:mr>
                      <m:m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−0.32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0.00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0.00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−0.71</m:t>
                          </m:r>
                        </m:e>
                      </m:mr>
                    </m:m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m>
                      <m:mPr>
                        <m:mcs>
                          <m:mc>
                            <m:mcPr>
                              <m:count m:val="4"/>
                              <m:mcJc m:val="center"/>
                            </m:mcPr>
                          </m:mc>
                        </m:mcs>
                        <m:ctrl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mPr>
                      <m:mr>
                        <m:e>
                          <m:r>
                            <m:rPr>
                              <m:brk m:alnAt="7"/>
                            </m:r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.24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</m:mr>
                      <m:m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1.90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</m:mr>
                      <m:m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1.18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</m:mr>
                      <m:m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1.00</m:t>
                          </m:r>
                        </m:e>
                      </m:mr>
                    </m:m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m>
                      <m:mPr>
                        <m:mcs>
                          <m:mc>
                            <m:mcPr>
                              <m:count m:val="4"/>
                              <m:mcJc m:val="center"/>
                            </m:mcPr>
                          </m:mc>
                        </m:mcs>
                        <m:ctrl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mPr>
                      <m:mr>
                        <m:e>
                          <m:r>
                            <m:rPr>
                              <m:brk m:alnAt="7"/>
                            </m:r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.00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0.00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−0.71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−0.71</m:t>
                          </m:r>
                        </m:e>
                      </m:mr>
                      <m:m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−0.85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−0.53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0.00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0.00</m:t>
                          </m:r>
                        </m:e>
                      </m:mr>
                      <m:m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−0.53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0.85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0.00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0.00</m:t>
                          </m:r>
                        </m:e>
                      </m:mr>
                      <m:m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0.00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0.00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0.71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−0.71</m:t>
                          </m:r>
                        </m:e>
                      </m:mr>
                    </m:m>
                  </m:oMath>
                </a14:m>
                <a:r>
                  <a:rPr lang="en-US" altLang="ko-KR" dirty="0"/>
                  <a:t> 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B1AE939-79E4-4F33-8863-3DD2346759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543432"/>
                <a:ext cx="10613868" cy="1008802"/>
              </a:xfrm>
              <a:prstGeom prst="rect">
                <a:avLst/>
              </a:prstGeom>
              <a:blipFill>
                <a:blip r:embed="rId3"/>
                <a:stretch>
                  <a:fillRect l="-5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390590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CA402D-7991-44EE-A934-531841E6AA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812503F-28A9-49CC-8B99-034FD46349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matrix </a:t>
            </a:r>
            <a:r>
              <a:rPr lang="en-US" altLang="ko-KR" b="1" i="0" dirty="0">
                <a:solidFill>
                  <a:srgbClr val="000000"/>
                </a:solidFill>
                <a:effectLst/>
              </a:rPr>
              <a:t>D</a:t>
            </a:r>
            <a:r>
              <a:rPr lang="en-US" altLang="ko-KR" b="0" i="0" dirty="0">
                <a:solidFill>
                  <a:srgbClr val="000000"/>
                </a:solidFill>
                <a:effectLst/>
              </a:rPr>
              <a:t> is a diagonal matrix. </a:t>
            </a:r>
            <a:r>
              <a:rPr lang="en-US" altLang="ko-KR" b="1" i="0" dirty="0">
                <a:solidFill>
                  <a:srgbClr val="000000"/>
                </a:solidFill>
                <a:effectLst/>
              </a:rPr>
              <a:t>Diagonal elements list values in order of greater importance of information.</a:t>
            </a:r>
            <a:endParaRPr lang="en-US" altLang="ko-KR" b="0" i="0" dirty="0">
              <a:solidFill>
                <a:srgbClr val="000000"/>
              </a:solidFill>
              <a:effectLst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Therefore, if we reduce the dimension to three matrices, we should look at </a:t>
            </a:r>
            <a:r>
              <a:rPr lang="en-US" altLang="ko-KR" b="1" i="0" dirty="0">
                <a:solidFill>
                  <a:srgbClr val="000000"/>
                </a:solidFill>
                <a:effectLst/>
              </a:rPr>
              <a:t>D</a:t>
            </a:r>
            <a:r>
              <a:rPr lang="en-US" altLang="ko-KR" b="0" i="0" dirty="0">
                <a:solidFill>
                  <a:srgbClr val="000000"/>
                </a:solidFill>
                <a:effectLst/>
              </a:rPr>
              <a:t> carefully.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Since the original data has four features, let's say that the dimension is reduced to two features.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808DF89-5ADF-49BE-B35A-6CADCDAD39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06644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CA402D-7991-44EE-A934-531841E6AA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812503F-28A9-49CC-8B99-034FD46349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+mj-lt"/>
              <a:buAutoNum type="arabicPeriod"/>
            </a:pPr>
            <a:r>
              <a:rPr lang="en-US" altLang="ko-KR" sz="2400" b="0" i="0" dirty="0">
                <a:solidFill>
                  <a:srgbClr val="000000"/>
                </a:solidFill>
                <a:effectLst/>
              </a:rPr>
              <a:t>From the diagonal element values of a matrix D with four features, choose two elements of greater importance to form a 2X2 diagonal matrix.</a:t>
            </a:r>
          </a:p>
          <a:p>
            <a:pPr algn="l">
              <a:buFont typeface="+mj-lt"/>
              <a:buAutoNum type="arabicPeriod"/>
            </a:pPr>
            <a:r>
              <a:rPr lang="en-US" altLang="ko-KR" sz="2400" b="0" i="0" dirty="0">
                <a:solidFill>
                  <a:srgbClr val="000000"/>
                </a:solidFill>
                <a:effectLst/>
              </a:rPr>
              <a:t>The other two matrices are also changed to correspond to the elements selected in D.</a:t>
            </a:r>
          </a:p>
          <a:p>
            <a:pPr algn="l">
              <a:buFont typeface="+mj-lt"/>
              <a:buAutoNum type="arabicPeriod"/>
            </a:pPr>
            <a:r>
              <a:rPr lang="en-US" altLang="ko-KR" sz="2400" b="0" i="0" dirty="0">
                <a:solidFill>
                  <a:srgbClr val="000000"/>
                </a:solidFill>
                <a:effectLst/>
              </a:rPr>
              <a:t>The matrix U deletes the entire elements of the third and fourth columns and replaces them with an 8X2 matrix.</a:t>
            </a:r>
          </a:p>
          <a:p>
            <a:pPr algn="l">
              <a:buFont typeface="+mj-lt"/>
              <a:buAutoNum type="arabicPeriod"/>
            </a:pPr>
            <a:r>
              <a:rPr lang="en-US" altLang="ko-KR" sz="2400" b="0" i="0" dirty="0">
                <a:solidFill>
                  <a:srgbClr val="000000"/>
                </a:solidFill>
                <a:effectLst/>
              </a:rPr>
              <a:t>The matrix V^T deletes all elements of the third and fourth rows to form a 2X4 matrix.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altLang="ko-KR" b="0" i="0" dirty="0">
              <a:solidFill>
                <a:srgbClr val="000000"/>
              </a:solidFill>
              <a:effectLst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808DF89-5ADF-49BE-B35A-6CADCDAD39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740AC65-FADE-4B1D-85CC-CA8D013D1FC0}"/>
                  </a:ext>
                </a:extLst>
              </p:cNvPr>
              <p:cNvSpPr txBox="1"/>
              <p:nvPr/>
            </p:nvSpPr>
            <p:spPr>
              <a:xfrm>
                <a:off x="1083621" y="5303098"/>
                <a:ext cx="7688387" cy="10088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̂"/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acc>
                    <m:acc>
                      <m:accPr>
                        <m:chr m:val="̂"/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acc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acc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m>
                      <m:mPr>
                        <m:mcs>
                          <m:mc>
                            <m:mcPr>
                              <m:count m:val="2"/>
                              <m:mcJc m:val="center"/>
                            </m:mcPr>
                          </m:mc>
                        </m:mcs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>
                          <m:r>
                            <m:rPr>
                              <m:brk m:alnAt="7"/>
                            </m:r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.00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−0.45</m:t>
                          </m:r>
                        </m:e>
                      </m:mr>
                      <m:m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0.00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−0.45</m:t>
                          </m:r>
                        </m:e>
                      </m:mr>
                      <m:m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⋮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⋮</m:t>
                          </m:r>
                        </m:e>
                      </m:mr>
                      <m:m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−0.32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0.00</m:t>
                          </m:r>
                        </m:e>
                      </m:mr>
                    </m:m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m>
                      <m:mPr>
                        <m:mcs>
                          <m:mc>
                            <m:mcPr>
                              <m:count m:val="2"/>
                              <m:mcJc m:val="center"/>
                            </m:mcPr>
                          </m:mc>
                        </m:mcs>
                        <m:ctrl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mPr>
                      <m:mr>
                        <m:e>
                          <m:r>
                            <m:rPr>
                              <m:brk m:alnAt="7"/>
                            </m:r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.24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</m:mr>
                      <m:m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1.90</m:t>
                          </m:r>
                        </m:e>
                      </m:mr>
                    </m:m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m>
                      <m:mPr>
                        <m:mcs>
                          <m:mc>
                            <m:mcPr>
                              <m:count m:val="4"/>
                              <m:mcJc m:val="center"/>
                            </m:mcPr>
                          </m:mc>
                        </m:mcs>
                        <m:ctrl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mPr>
                      <m:mr>
                        <m:e>
                          <m:r>
                            <m:rPr>
                              <m:brk m:alnAt="7"/>
                            </m:r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.00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0.00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−0.71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−0.71</m:t>
                          </m:r>
                        </m:e>
                      </m:mr>
                      <m:m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−0.85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−0.53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0.00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0.00</m:t>
                          </m:r>
                        </m:e>
                      </m:mr>
                    </m:m>
                  </m:oMath>
                </a14:m>
                <a:r>
                  <a:rPr lang="en-US" altLang="ko-KR" dirty="0"/>
                  <a:t> 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740AC65-FADE-4B1D-85CC-CA8D013D1F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3621" y="5303098"/>
                <a:ext cx="7688387" cy="1008802"/>
              </a:xfrm>
              <a:prstGeom prst="rect">
                <a:avLst/>
              </a:prstGeom>
              <a:blipFill>
                <a:blip r:embed="rId3"/>
                <a:stretch>
                  <a:fillRect l="-7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311794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9AA183-4139-4FCF-B75D-0120E1AA4F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A173320-4440-47FF-9441-A2253E896EA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/>
              <a:t>Table of 2 features divided by latent variables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D760F876-BB9C-41F1-94BF-FFAE4A2BFAB0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113712071"/>
              </p:ext>
            </p:extLst>
          </p:nvPr>
        </p:nvGraphicFramePr>
        <p:xfrm>
          <a:off x="6172200" y="1825625"/>
          <a:ext cx="5181600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7200">
                  <a:extLst>
                    <a:ext uri="{9D8B030D-6E8A-4147-A177-3AD203B41FA5}">
                      <a16:colId xmlns:a16="http://schemas.microsoft.com/office/drawing/2014/main" val="3352408427"/>
                    </a:ext>
                  </a:extLst>
                </a:gridCol>
                <a:gridCol w="1727200">
                  <a:extLst>
                    <a:ext uri="{9D8B030D-6E8A-4147-A177-3AD203B41FA5}">
                      <a16:colId xmlns:a16="http://schemas.microsoft.com/office/drawing/2014/main" val="1646673333"/>
                    </a:ext>
                  </a:extLst>
                </a:gridCol>
                <a:gridCol w="1727200">
                  <a:extLst>
                    <a:ext uri="{9D8B030D-6E8A-4147-A177-3AD203B41FA5}">
                      <a16:colId xmlns:a16="http://schemas.microsoft.com/office/drawing/2014/main" val="41418326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A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B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95817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자동차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0.00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0.85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85640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회사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0.00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0.85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00044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출근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0.00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1.38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67971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0.00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0.53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581892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레스토랑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1.41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0.00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824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햄버거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0.71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0.00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01498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먹다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1.41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0.00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17944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파스타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0.71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0.00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2966443"/>
                  </a:ext>
                </a:extLst>
              </a:tr>
            </a:tbl>
          </a:graphicData>
        </a:graphic>
      </p:graphicFrame>
      <p:pic>
        <p:nvPicPr>
          <p:cNvPr id="6" name="그림 5">
            <a:extLst>
              <a:ext uri="{FF2B5EF4-FFF2-40B4-BE49-F238E27FC236}">
                <a16:creationId xmlns:a16="http://schemas.microsoft.com/office/drawing/2014/main" id="{484F9E7A-99ED-4DB0-A396-428F455A81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8449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9AA183-4139-4FCF-B75D-0120E1AA4F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Sample Code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A173320-4440-47FF-9441-A2253E896EA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/>
              <a:t>Import library</a:t>
            </a:r>
          </a:p>
          <a:p>
            <a:r>
              <a:rPr lang="en-US" altLang="ko-KR" dirty="0"/>
              <a:t>Set data</a:t>
            </a:r>
          </a:p>
          <a:p>
            <a:r>
              <a:rPr lang="en-US" altLang="ko-KR" b="0" i="0" dirty="0">
                <a:solidFill>
                  <a:srgbClr val="000000"/>
                </a:solidFill>
                <a:effectLst/>
              </a:rPr>
              <a:t>Set dimension to reduce</a:t>
            </a:r>
          </a:p>
          <a:p>
            <a:r>
              <a:rPr lang="en-US" altLang="ko-KR" dirty="0">
                <a:solidFill>
                  <a:srgbClr val="000000"/>
                </a:solidFill>
              </a:rPr>
              <a:t>Print transformed data</a:t>
            </a:r>
          </a:p>
          <a:p>
            <a:r>
              <a:rPr lang="en-US" altLang="ko-KR" b="0" i="0" dirty="0">
                <a:solidFill>
                  <a:srgbClr val="000000"/>
                </a:solidFill>
                <a:effectLst/>
              </a:rPr>
              <a:t>Print Contribution Rate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84F9E7A-99ED-4DB0-A396-428F455A81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7BEC9262-1246-4543-B150-7A7C951612B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4120" y="1825625"/>
            <a:ext cx="4257760" cy="4351338"/>
          </a:xfrm>
        </p:spPr>
      </p:pic>
    </p:spTree>
    <p:extLst>
      <p:ext uri="{BB962C8B-B14F-4D97-AF65-F5344CB8AC3E}">
        <p14:creationId xmlns:p14="http://schemas.microsoft.com/office/powerpoint/2010/main" val="31969423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CA402D-7991-44EE-A934-531841E6AA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Points to note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812503F-28A9-49CC-8B99-034FD46349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It is difficult to properly explain the relevance of words with the converted matrix. If each dimension is ortho</a:t>
            </a:r>
            <a:r>
              <a:rPr lang="en-US" altLang="ko-KR" dirty="0">
                <a:solidFill>
                  <a:srgbClr val="000000"/>
                </a:solidFill>
              </a:rPr>
              <a:t>gonal or the matrix element is negative, it is difficult to properly explain the relevance.</a:t>
            </a:r>
          </a:p>
          <a:p>
            <a:pPr marL="514350" indent="-514350"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calculation can take a very </a:t>
            </a:r>
            <a:r>
              <a:rPr lang="en-US" altLang="ko-KR" b="0" i="0">
                <a:solidFill>
                  <a:srgbClr val="000000"/>
                </a:solidFill>
                <a:effectLst/>
              </a:rPr>
              <a:t>lo</a:t>
            </a:r>
            <a:r>
              <a:rPr lang="en-US" altLang="ko-KR">
                <a:solidFill>
                  <a:srgbClr val="000000"/>
                </a:solidFill>
              </a:rPr>
              <a:t>ng time.</a:t>
            </a:r>
            <a:endParaRPr lang="en-US" altLang="ko-KR" b="0" i="0" dirty="0">
              <a:solidFill>
                <a:srgbClr val="000000"/>
              </a:solidFill>
              <a:effectLst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808DF89-5ADF-49BE-B35A-6CADCDAD39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90778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217</TotalTime>
  <Words>442</Words>
  <Application>Microsoft Office PowerPoint</Application>
  <PresentationFormat>와이드스크린</PresentationFormat>
  <Paragraphs>109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3" baseType="lpstr">
      <vt:lpstr>맑은 고딕</vt:lpstr>
      <vt:lpstr>Arial</vt:lpstr>
      <vt:lpstr>Cambria Math</vt:lpstr>
      <vt:lpstr>Office 테마</vt:lpstr>
      <vt:lpstr>Unsupervised Learning</vt:lpstr>
      <vt:lpstr>Fundamental Concept</vt:lpstr>
      <vt:lpstr>Algorithm</vt:lpstr>
      <vt:lpstr>Algorithm</vt:lpstr>
      <vt:lpstr>Algorithm</vt:lpstr>
      <vt:lpstr>Algorithm</vt:lpstr>
      <vt:lpstr>Algorithm</vt:lpstr>
      <vt:lpstr>Sample Code</vt:lpstr>
      <vt:lpstr>Points to note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Unsupervised Learning</dc:title>
  <dc:creator>신 주영</dc:creator>
  <cp:lastModifiedBy>신 주영</cp:lastModifiedBy>
  <cp:revision>8</cp:revision>
  <dcterms:created xsi:type="dcterms:W3CDTF">2022-04-06T04:05:49Z</dcterms:created>
  <dcterms:modified xsi:type="dcterms:W3CDTF">2022-04-11T03:06:33Z</dcterms:modified>
</cp:coreProperties>
</file>