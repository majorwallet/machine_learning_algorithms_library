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8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7" r:id="rId11"/>
    <p:sldId id="268" r:id="rId12"/>
    <p:sldId id="269" r:id="rId13"/>
    <p:sldId id="262" r:id="rId14"/>
    <p:sldId id="263" r:id="rId15"/>
    <p:sldId id="264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1AB65-6792-41E1-9789-643B2E513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49BF3E-2366-472D-92AD-F5AA4752E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B21D59-5CBF-4488-B3D4-60973D0B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6E000-80E2-4133-805B-930BF48A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1125EE-8D81-4126-ACEF-675F5565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27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CE308-693B-405A-95CB-73C6E466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4B6D83-9837-4DD8-AFED-621E378D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6837C7-8D44-4D01-95D2-ED06B72E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5CA4DA-EF59-48E2-9786-0DB75F76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D3DA7-3463-4D5F-8140-809B77B2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08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2BE78-6123-4A2B-A8A9-31AE176F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8CA48E-283D-47AE-8437-6CAE8FD4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503B8-26FF-4043-95DD-A47B6F72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7A3569-CEEC-4EA6-A9BC-A9EFCD6F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75E763-17A6-4E0A-8410-743B450E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10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742C0-9A2C-4650-B9EE-C02E613C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BE246-DB04-4EE7-AC18-82E2FB0D2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F0D74D-544E-4D71-A7A4-52755A65B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5A9B01-5C6E-467A-9959-F0B053D0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1ABF99-C2E5-4F1D-BC50-75A5F59D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E90D9F-EB39-4FCD-AE81-68922593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73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B78E6-95FB-47D9-81F3-4A5AA022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416E97-C506-451F-8EC0-BE97759F5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438371-7007-476A-80C0-9A23D5142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11EAC3-D7D4-41AE-9FCE-DDE2EC607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80AE25-C69E-4A99-9F2C-CB5A39C25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4B8C8C-96A9-49DD-814B-82B635E9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719274-7373-436C-8757-30FEBF2E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159A43-6EB7-4023-B3D3-BE6034E0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13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56B7C-87A1-4170-86A4-A5238D1A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E976F6-92E1-45EC-B997-41D0ED6B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40E0AB-3834-49F7-9818-4943624B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19F765-D59A-4A0C-9DB1-0A427DDB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27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82E648-C8F0-45B2-B885-81B55E97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1EB1E1-8467-4EDE-8422-9E966C13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647EB-2FC7-4C4E-A057-9CF7F59C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71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172B3-7FAA-4C21-B4EC-9406BABB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A326F2-F2E9-46B4-802E-E640720CF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E72BB0-F50D-47CE-828B-9926DB9A1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F7E82-C9BC-405A-9CAE-8B107280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D7A6EE-1B63-4F9F-8CD2-8D8A835A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FE6F88-8963-4828-AC5F-FB889F4E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74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76F7C-5D66-4DC8-BF23-EAAE7B3A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2447C0-1D27-4C65-97EA-0859EF24A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54B8E1-0DB5-4AA4-A152-19A99398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3AD42D-1091-4552-A666-53B36B1C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64F835-8661-4A83-B994-EC1FEE40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DDA630-21BA-4C85-A4FC-0F84EAF2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56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B851D-C9EB-4C9C-B74D-EDF1F13C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BC24B7-041F-4C62-8B82-7679C90C1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0B6CB-D5CE-46E8-9641-89ED160A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E725EE-64B3-4198-A0D2-21E4038F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FC8B68-3A39-4327-8456-406988CB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27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799731-8557-4520-AB22-B606F8FC3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50ABD1-D06E-445D-A44A-BFB41EDC1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554CA-7AFC-49D5-A727-8FBF691E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522B6-E5A3-4D93-82DD-79470C46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17D114-37E6-4BC9-A382-9F47B1A0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23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410BC7-9452-4E1A-9212-69461001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E80163-39E6-45AE-A5CE-348DA346F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869646-3F63-44D1-9ABA-D0E7E0F85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EE5A6-929A-46EC-9C82-4B532476069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E3859-0EC7-4440-88DF-016159A4D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348339-853E-4DF5-AE1D-09263CE59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03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96097-D496-4454-ACF3-7154A69B99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125AB1-60A5-4784-8CAC-308006673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PCA (Principal Component Analysis)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AEF362-CC94-48B5-A75E-6703C6C92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744416-595F-42E7-A23E-10A7042C4044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39003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02320-DB7C-4D5C-BC1D-3E0AC742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367B9-A881-4791-B645-93836176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PCA (Principal Component Analysis)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LSA (Latent Semantic Analysis)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NMF (Non-negative Matrix Factorization)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LDA (Latent </a:t>
            </a:r>
            <a:r>
              <a:rPr lang="en-US" altLang="ko-KR" dirty="0" err="1"/>
              <a:t>Direchle</a:t>
            </a:r>
            <a:r>
              <a:rPr lang="en-US" altLang="ko-KR" dirty="0"/>
              <a:t> Allocation)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K-Means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Gaussian Mixture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LLE (Local Linear Embedding)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t-SNE (t-distributed stochastic neighbor embedding)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006DA0-0116-438F-96C4-238A876BD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6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7DF99F-BAA2-4E8C-B089-F97B1F0BD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92" y="1772765"/>
            <a:ext cx="5432216" cy="4351338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3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Using PCA, correlated multivariate data can be concisely represented as the main component.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PCA is a method used to reduce variables in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representative dimension reduction method that can be applied to data that is correlated between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Dimension reduction means 'It is expressed as several variables while maintaining the characteristics of data with many variables.'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helps reduce complexity when analyzing multivariate data.</a:t>
            </a:r>
          </a:p>
        </p:txBody>
      </p:sp>
    </p:spTree>
    <p:extLst>
      <p:ext uri="{BB962C8B-B14F-4D97-AF65-F5344CB8AC3E}">
        <p14:creationId xmlns:p14="http://schemas.microsoft.com/office/powerpoint/2010/main" val="30188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Two ways to reduce variables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Choose only important variables and do not use the remaining variables.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constructing a new variable from the original data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PCA reduces variables by constructing a new variable from the original data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represented in a high-dimensional space is represented by a lower-dimensional variable.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We call lower-dimensional axis as a principal component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4600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Find the direction and importance necessary for data principal component analysis.</a:t>
            </a:r>
          </a:p>
          <a:p>
            <a:pPr lvl="1"/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line is the direction of the data.</a:t>
            </a:r>
          </a:p>
          <a:p>
            <a:pPr lvl="1"/>
            <a:r>
              <a:rPr lang="en-US" altLang="ko-KR" b="0" i="0" dirty="0">
                <a:solidFill>
                  <a:srgbClr val="000000"/>
                </a:solidFill>
                <a:effectLst/>
              </a:rPr>
              <a:t>Length represents importance.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data is determined by how much weight is assigned to the data variable when configuring a new variable.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importance of data is related to changes in variables.</a:t>
            </a: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orthogonal line is used as a new axis and converted into original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changed data at this time is called the principal component score.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called the first principal component and the second principal component from the value of the axis with the greatest importance among the principal components.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84379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principal component analysis calculates the principal component in the following order.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variance covariance matrix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Solve eigenvalue problems and calculate eigenvalue of eigenvectors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Construct data in each principal component direction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076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is a value representing the relationship between data points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mean was calculated after multiplying the difference between the mean and the data point of each of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  <a:endParaRPr lang="en-US" altLang="ko-KR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</a:endParaRP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In this case,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 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represents the average of each of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increases, so does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increases,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 decreases.</a:t>
                </a:r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 has no correlation.</a:t>
                </a:r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9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09461FF-D4DA-4EC1-9775-795C71BD5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581" y="2114025"/>
            <a:ext cx="8332838" cy="3271707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43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Correlation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A145EEF-778A-4D7E-8BC0-10B9D82A9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An index that does not depend on the size of the variance represents a correlation coefficient.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of the two data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divided by the 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/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correlation coefficient represents the relationship between data like covariance, but since it is divided by each standard deviation, a value between -1 and 1 is obtained.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A145EEF-778A-4D7E-8BC0-10B9D82A9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908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 Matrix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matrix is made into a matrix by calculating the covariance of each of the two or more data.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dirty="0"/>
                  <a:t>represents the covariance of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Correlation Matrix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correlation matrix is made into a matrix by calculating the correlation of each of the two or more data.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represents the correlation of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49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F8CCD-B0A2-494C-BF20-BAAE2C5E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CCD220B-CFF2-4C47-82E4-1DD24400E5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680" y="1466695"/>
            <a:ext cx="7230979" cy="4067424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2044BE-0660-47AD-85CE-F20D93751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6C5E38E-C2C2-4B93-9A96-077C543139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41" y="2200019"/>
            <a:ext cx="5181600" cy="2914649"/>
          </a:xfr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3D9575A8-7D68-4EEC-BE04-FEF146CA187C}"/>
              </a:ext>
            </a:extLst>
          </p:cNvPr>
          <p:cNvSpPr/>
          <p:nvPr/>
        </p:nvSpPr>
        <p:spPr>
          <a:xfrm>
            <a:off x="6019800" y="3934437"/>
            <a:ext cx="968229" cy="45300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853261-FA43-484B-96D9-AA96D7A7B6E3}"/>
              </a:ext>
            </a:extLst>
          </p:cNvPr>
          <p:cNvSpPr/>
          <p:nvPr/>
        </p:nvSpPr>
        <p:spPr>
          <a:xfrm>
            <a:off x="5486400" y="4748169"/>
            <a:ext cx="609600" cy="553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5B517A-5AE5-47C2-B23C-C08AF44A6953}"/>
              </a:ext>
            </a:extLst>
          </p:cNvPr>
          <p:cNvSpPr/>
          <p:nvPr/>
        </p:nvSpPr>
        <p:spPr>
          <a:xfrm>
            <a:off x="11070672" y="5114468"/>
            <a:ext cx="609600" cy="553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01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data is related to the eigenvector.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importance of data is related to eigenvalues.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 eigenvalue calculated for each principal component is divided by the total sum of several eigenvalues, the importance of the principal component can be expressed as a ratio, which is called the contribution rate.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value obtained by adding the contribution rate sequentially from the first main component is called the cumulative contribution rate.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945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08592-EF30-4991-864F-5C322588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6DB3EE-75F3-4123-B1C8-20E2F1B4A6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Get iris dataset</a:t>
            </a:r>
          </a:p>
          <a:p>
            <a:r>
              <a:rPr lang="en-US" altLang="ko-KR" dirty="0"/>
              <a:t>Make PCA model</a:t>
            </a:r>
          </a:p>
          <a:p>
            <a:r>
              <a:rPr lang="en-US" altLang="ko-KR" dirty="0"/>
              <a:t>Train data into model</a:t>
            </a:r>
          </a:p>
          <a:p>
            <a:r>
              <a:rPr lang="en-US" altLang="ko-KR" dirty="0"/>
              <a:t>Print transformed data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C4B9EAC-38C8-45D7-AF4F-8441F24762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0545"/>
            <a:ext cx="5181600" cy="430149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959D615-DBE2-47BB-9FDC-C0C2A539D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7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7993E-4B47-420F-8C02-45912244A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F2B656-D547-44ED-85A3-2BF46AE26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Latent Semantic Analysis, LSA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4D955A-B598-4DD3-B041-C5EDC95F1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F4130A-F42A-42AF-94F5-3DE30D25DA99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213238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FED25-DB1E-4284-B816-C997CBCB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0E3849-519D-4C45-B977-CB0E7B75C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the field of data information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retreival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By using LSA, we can see the latent relevance of words from a large amount of document data.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EAF53B-299C-42F2-A991-D7AFB1D67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40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19FA6-8141-4B9F-B7DF-25E7FE21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F155D-3273-49FE-923E-2B00E058B5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Convert the sentence below to matrix X</a:t>
            </a:r>
          </a:p>
          <a:p>
            <a:pPr lvl="1"/>
            <a:r>
              <a:rPr lang="ko-KR" altLang="en-US" dirty="0"/>
              <a:t>자동차로 회사에 출근했다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차로 출근했다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레스토랑에서 햄버거를 먹는다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레스토랑에서 파스타를 먹는다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A14D29-E231-4D7F-B4B1-05CC3755C3F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59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16">
                  <a:extLst>
                    <a:ext uri="{9D8B030D-6E8A-4147-A177-3AD203B41FA5}">
                      <a16:colId xmlns:a16="http://schemas.microsoft.com/office/drawing/2014/main" val="3755711724"/>
                    </a:ext>
                  </a:extLst>
                </a:gridCol>
                <a:gridCol w="961722">
                  <a:extLst>
                    <a:ext uri="{9D8B030D-6E8A-4147-A177-3AD203B41FA5}">
                      <a16:colId xmlns:a16="http://schemas.microsoft.com/office/drawing/2014/main" val="3432100404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453006408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56720851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811012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39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23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17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625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레스토랑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891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햄버거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83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먹다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01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파스타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34963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BFBE2CB1-26DB-462E-A83F-6F5D69749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66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Decompose the matrix X.</a:t>
            </a:r>
          </a:p>
          <a:p>
            <a:pPr marL="742950" lvl="1" indent="-28575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matrix X, which is an 8X4 matrix, is represented by the product of the 8X4 matrix U, the 4X4 matrix D, and the 4X4 matrix V^T.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U: Matrix with transformation information of characteristics made of words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D: Matrix with information importance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V: Matrix with word features and document conversion information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1AE939-79E4-4F33-8863-3DD234675950}"/>
                  </a:ext>
                </a:extLst>
              </p:cNvPr>
              <p:cNvSpPr txBox="1"/>
              <p:nvPr/>
            </p:nvSpPr>
            <p:spPr>
              <a:xfrm>
                <a:off x="838200" y="4543432"/>
                <a:ext cx="10613868" cy="1008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𝑈𝐷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−0.32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1.18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1AE939-79E4-4F33-8863-3DD234675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3432"/>
                <a:ext cx="10613868" cy="1008802"/>
              </a:xfrm>
              <a:prstGeom prst="rect">
                <a:avLst/>
              </a:prstGeom>
              <a:blipFill>
                <a:blip r:embed="rId3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059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matrix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is a diagonal matrix.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Diagonal elements list values in order of greater importance of information.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Therefore, if we reduce the dimension to three matrices, we should look at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carefully.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Since the original data has four features, let's say that the dimension is reduced to two features.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64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From the diagonal element values of a matrix D with four features, choose two elements of greater importance to form a 2X2 diagonal matrix.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other two matrices are also changed to correspond to the elements selected in D.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matrix U deletes the entire elements of the third and fourth columns and replaces them with an 8X2 matrix.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matrix V^T deletes all elements of the third and fourth rows to form a 2X4 matrix.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40AC65-FADE-4B1D-85CC-CA8D013D1FC0}"/>
                  </a:ext>
                </a:extLst>
              </p:cNvPr>
              <p:cNvSpPr txBox="1"/>
              <p:nvPr/>
            </p:nvSpPr>
            <p:spPr>
              <a:xfrm>
                <a:off x="1083621" y="5303098"/>
                <a:ext cx="7688387" cy="1008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−0.32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40AC65-FADE-4B1D-85CC-CA8D013D1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21" y="5303098"/>
                <a:ext cx="7688387" cy="1008802"/>
              </a:xfrm>
              <a:prstGeom prst="rect">
                <a:avLst/>
              </a:prstGeom>
              <a:blipFill>
                <a:blip r:embed="rId3"/>
                <a:stretch>
                  <a:fillRect l="-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179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A183-4139-4FCF-B75D-0120E1AA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73320-4440-47FF-9441-A2253E896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Table of 2 features divided by latent variables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D760F876-BB9C-41F1-94BF-FFAE4A2BFAB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35240842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4667333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141832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56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04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9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18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레스토랑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82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햄버거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4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먹다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794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파스타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96644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484F9E7A-99ED-4DB0-A396-428F455A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44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A183-4139-4FCF-B75D-0120E1AA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73320-4440-47FF-9441-A2253E896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library</a:t>
            </a:r>
          </a:p>
          <a:p>
            <a:r>
              <a:rPr lang="en-US" altLang="ko-KR" dirty="0"/>
              <a:t>Set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Set dimension to reduce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Print transformed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Print Contribution Rate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4F9E7A-99ED-4DB0-A396-428F455A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BEC9262-1246-4543-B150-7A7C951612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120" y="1825625"/>
            <a:ext cx="4257760" cy="4351338"/>
          </a:xfrm>
        </p:spPr>
      </p:pic>
    </p:spTree>
    <p:extLst>
      <p:ext uri="{BB962C8B-B14F-4D97-AF65-F5344CB8AC3E}">
        <p14:creationId xmlns:p14="http://schemas.microsoft.com/office/powerpoint/2010/main" val="3196942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Points to note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difficult to properly explain the relevance of words with the converted matrix. If each dimension is ortho</a:t>
            </a:r>
            <a:r>
              <a:rPr lang="en-US" altLang="ko-KR" dirty="0">
                <a:solidFill>
                  <a:srgbClr val="000000"/>
                </a:solidFill>
              </a:rPr>
              <a:t>gonal or the matrix element is negative, it is difficult to properly explain the relevance.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calculation can take a very </a:t>
            </a:r>
            <a:r>
              <a:rPr lang="en-US" altLang="ko-KR" b="0" i="0">
                <a:solidFill>
                  <a:srgbClr val="000000"/>
                </a:solidFill>
                <a:effectLst/>
              </a:rPr>
              <a:t>lo</a:t>
            </a:r>
            <a:r>
              <a:rPr lang="en-US" altLang="ko-KR">
                <a:solidFill>
                  <a:srgbClr val="000000"/>
                </a:solidFill>
              </a:rPr>
              <a:t>ng time.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77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54EE8-CC75-42D2-8667-D0A54ED64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E6F261-3FA9-4310-A3C5-5807A8763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Non-negative Matrix Factorization, NMF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3AD093-8766-42CD-B0BD-35340562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BE409C-D979-425F-A8DA-B2923C2C8FBF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451055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NMF is a dimensionality reduction method in which features and labels are both positive.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Easy to model when dealing with image data,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etc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an algorithm that is applied only when all the components of the original matrix are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original matrix element must be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After matrix decomposition, the matrix element is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 NMF, there is no restriction that each dimension is orthogonal.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76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PCA always uses orthogonal eigenvectors, making it difficult to find associations between data, but NMF can grasp the nature of the data.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164B93-C791-4068-9DCF-68F34C1B9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47" y="3189849"/>
            <a:ext cx="10022305" cy="27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NMF do dimensionality reduction by decompose original data to 2 matrix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ECC6A3-6E59-44AC-A490-2004E311F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166" y="3153545"/>
            <a:ext cx="9004763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58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Calculation Process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Initialize W, H as a positive value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Treat H as a constant and renew W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Treat W as a constant and renew 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End calculation when W, H converges to the original matrix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63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E6744-FE38-402B-88E6-67DB91E6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C9F0E8-7A14-420B-A61E-1ECD06CC24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Imort</a:t>
            </a:r>
            <a:r>
              <a:rPr lang="en-US" altLang="ko-KR" dirty="0"/>
              <a:t> libraries</a:t>
            </a:r>
          </a:p>
          <a:p>
            <a:r>
              <a:rPr lang="en-US" altLang="ko-KR" dirty="0"/>
              <a:t>Set data</a:t>
            </a:r>
          </a:p>
          <a:p>
            <a:r>
              <a:rPr lang="en-US" altLang="ko-KR" dirty="0"/>
              <a:t>Set dimension to reduce</a:t>
            </a:r>
          </a:p>
          <a:p>
            <a:r>
              <a:rPr lang="en-US" altLang="ko-KR" dirty="0"/>
              <a:t>Make model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W matrix and H matrix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D2FAC8-DBC4-41B8-8055-66F1A9FBDA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307" y="1825625"/>
            <a:ext cx="4663386" cy="435133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C0AFF4-D668-4F9E-965E-DC79BA51A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89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58025-647C-47D7-A8CA-865111C37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81C490-1BC5-4C61-B3A0-843845EAD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Latent Dirichlet Allocation, LDA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9B4AA6-7872-4FDA-9FFD-A0AAF4654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0078B6-E254-4230-98A5-BD94E49B4787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852525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F79E4-85D0-4CC3-B80C-F1336499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E9F59-1E95-44A1-805E-84C0D16A5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One of the dimensional reduction methods suitable for modeling documents.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Various topics can be covered by using words in the document as input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NLP,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etc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Create latent topics with the words in the document to indicate what each document is composed of.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You can explain that there are multiple topics in a document.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21922E-B3CC-4BFF-8FFB-688BE5E1B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2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B58DD-9F24-4076-A4F2-12280CC4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AC127-8501-45D0-861A-EA8D8220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Assign a topic randomly to each word in a document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Calculate the probability of each topic in a document from the topic you assign to the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Calculate the probability of words by topic from the topic you assign to the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Reassign the topic to each word in the document with the probability of multiplying by 2 and 3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Repeat courses 2 through 4 until converging conditions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8FF5CB-D1E9-4532-8D78-90A492F7E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78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0D15F-AE16-4388-8E34-5A3885E9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32DB0-D62F-4CA3-906A-1E21669238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dataset</a:t>
            </a:r>
          </a:p>
          <a:p>
            <a:r>
              <a:rPr lang="en-US" altLang="ko-KR" dirty="0"/>
              <a:t>Set max feature</a:t>
            </a:r>
          </a:p>
          <a:p>
            <a:r>
              <a:rPr lang="en-US" altLang="ko-KR" dirty="0"/>
              <a:t>Set stop words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results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833D591-C906-4440-865D-2E50F80BE2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16368"/>
            <a:ext cx="5181600" cy="336985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CD326E-F2B0-4319-A131-1B4D6D77C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20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95DA5-A644-45D4-ADA6-E65EB2CC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Disposal of stop word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8046F-55FA-40CD-AE27-344932E94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Topic 4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</a:rPr>
              <a:t>:00 10 25 15 12 11 16 20 14 13 18 30 50 17 55 40 21 ...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Topic 6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</a:rPr>
              <a:t>:people said know did don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didn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just time went like say think told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000000"/>
                </a:solidFill>
                <a:effectLst/>
              </a:rPr>
              <a:t>As described above, the distribution of topics that are difficult to intuitively explain the topic can be improved by learning to exclude stop word.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1AA622-A187-465F-8F10-D64AF6C83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5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D614-9794-4866-8A3E-B32B27A9E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6A905D-3B79-44D1-BC18-D190AA2A2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K-Means Algorithm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5B35E9-49A0-43D0-AEDC-024F33813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4843A-16D8-4B0D-93B4-9018EC50D72F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20401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 method of dividing data of similar characteristics into groups is called clustering.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group to which the data points belong is determined as the group whose distance between the data points and the center of each group is closest.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Determining the center of this group is an important operation of the K-means algorithm.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36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1069-0AC9-4A0E-8B7B-DA42548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4BD4B49-D049-4E8A-8A2B-AF775A876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4" y="1825625"/>
            <a:ext cx="10443211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D5A4F0-0CDF-45B8-9B03-31A8392E9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30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K-means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algorithmd's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learning process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Choose and center the appropriate number of data pointers by the number of groups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Calculates the distance between a data point and each center to determine the nearest center as the group to which that data point belongs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Average data points for each group and set them as new centers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Repeat steps 2-3 until convergence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9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1069-0AC9-4A0E-8B7B-DA42548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D5A4F0-0CDF-45B8-9B03-31A8392E9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57A3363-7634-4D68-A814-3A41CA6BD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35" y="1690688"/>
            <a:ext cx="8832329" cy="4433415"/>
          </a:xfrm>
        </p:spPr>
      </p:pic>
    </p:spTree>
    <p:extLst>
      <p:ext uri="{BB962C8B-B14F-4D97-AF65-F5344CB8AC3E}">
        <p14:creationId xmlns:p14="http://schemas.microsoft.com/office/powerpoint/2010/main" val="32620027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354A9-E25D-4171-A135-36DC7306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BA53F-C12B-475D-AD6E-983850A690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iris dataset</a:t>
            </a:r>
          </a:p>
          <a:p>
            <a:r>
              <a:rPr lang="en-US" altLang="ko-KR" dirty="0"/>
              <a:t>Make K-Means model</a:t>
            </a:r>
          </a:p>
          <a:p>
            <a:r>
              <a:rPr lang="en-US" altLang="ko-KR" dirty="0"/>
              <a:t>Set </a:t>
            </a:r>
            <a:r>
              <a:rPr lang="en-US" altLang="ko-KR" dirty="0" err="1"/>
              <a:t>n_cluster</a:t>
            </a:r>
            <a:endParaRPr lang="en-US" altLang="ko-KR" dirty="0"/>
          </a:p>
          <a:p>
            <a:r>
              <a:rPr lang="en-US" altLang="ko-KR" dirty="0"/>
              <a:t>Fit data</a:t>
            </a:r>
          </a:p>
          <a:p>
            <a:r>
              <a:rPr lang="en-US" altLang="ko-KR" dirty="0"/>
              <a:t>Print labels</a:t>
            </a:r>
          </a:p>
          <a:p>
            <a:r>
              <a:rPr lang="en-US" altLang="ko-KR" dirty="0"/>
              <a:t>Print cluster’s center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D0F5793-8987-43C0-B010-2C669D3DC4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55057"/>
            <a:ext cx="5181600" cy="409247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001D21-B820-4D44-8F25-9B96EA1C5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05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Within-cluster sum of squares, WCSS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good or bad of clustering is evaluated quantitatively by calculating the WCSS.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smaller the distance between the center of the group and the data point belonging to the group, the smaller the WCSS value.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7CB3D4-74BC-4463-9E46-4860B837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598" y="4001294"/>
            <a:ext cx="3978803" cy="13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633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WCSS elbow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number of clusters can be determined using the WCSS elbow-method.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Determine the number based on the point on the graph that looks like an elbow.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9A9959-70BC-4DF5-A5B2-4D3A0B235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662" y="3628553"/>
            <a:ext cx="38766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999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3E830-5C97-4A75-9BC1-361A4198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Over-fitting in unsupervised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77D35-8D6A-4A99-BAF4-3952F2BA0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If there are too many clusters for a particular dataset, a generalized model is not created.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For example, there are three actual types of iris varieties, but setting the cluster to five creates an unsuitable model.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9FAC72-A3C3-492E-B174-FF1E2EF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15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768E2-A535-4DE5-B299-72A89AC43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A474EA-640F-4507-AFC8-0846D3134F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Gaussian mixture model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0E97B4-24DA-421D-9217-6F2C21207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410218-3C20-4D7B-9453-5A50086A4A07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4027118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A2A2E-B282-4CC9-9004-93BAE3C7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clustering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distribution is represented using the mean and variance of the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Gaussian distribution is mixed to represent complex data consisting of several groups.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529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34F5DA8-A4A9-4ECE-AEEB-A5A5B51A4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837" y="2062956"/>
            <a:ext cx="7172325" cy="3876675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301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A2A2E-B282-4CC9-9004-93BAE3C7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Gaussian mixture model calculates the mean and variance for each Gaussian distribution at the data point.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Initialize the mean and variance of each Gaussian distribution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weight of each data point from group to group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Recompute parameters with weights obtained in course 2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Repeat Steps 2 and 3 until each change in the average updated in Course 3 is sufficiently small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099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D4E02-8B50-4FCF-95C4-843AC2F9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DEBA6-2AB8-4E4C-9FF7-F5422FB015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Gaussian mixture model instance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predicted data</a:t>
            </a:r>
          </a:p>
          <a:p>
            <a:r>
              <a:rPr lang="en-US" altLang="ko-KR" dirty="0"/>
              <a:t>Print means</a:t>
            </a:r>
          </a:p>
          <a:p>
            <a:r>
              <a:rPr lang="en-US" altLang="ko-KR"/>
              <a:t>Print covariances</a:t>
            </a:r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AC66AFE-FCB0-4DEF-9D8F-F309F8F0BB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630"/>
            <a:ext cx="5181600" cy="394932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21480A-F299-4B1D-8693-B07962BE9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425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BA749-92AB-45F5-A5B9-1FB19BC17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DBC248-5B4C-4735-AD63-7BF2D6109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Local Linear Embedding, LLE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1395D0-51A0-4404-B999-D86CBCA95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B0D1EA-62EC-478B-B1D8-D9F9C9AD2BF6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7140135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40961-8433-45B4-9971-EEEE06E5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Dictionary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2C357-8B58-4C80-9C0F-277140D430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manifold: The low-dimensional manifold is a low-dimensional shape bent or twisted in a high-dimensional space.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75C7467-E6E4-477F-AA33-21F15135D6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938" y="1825625"/>
            <a:ext cx="3978442" cy="392563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8F8509-B123-4F59-84A3-4ED97E298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343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1CA9C-D61D-4F44-8906-9353A30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38A385-E52F-4B4B-AF20-3E3AB7063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is an algorithm that represents a curved or twisted structure in a high-dimensional space as a simple structure in a low-dimensional 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is one of the manifold learnings that dimensionally reduce data of nonlinear structures.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takes out the 2D structure hidden in the 3D space and represents it as 2D data.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3B52E7-2F47-4BB9-86CB-2CF5A96AB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731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1CA9C-D61D-4F44-8906-9353A30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437E611-D0FA-4F71-9C3B-4BD8A0B64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243" y="2247037"/>
            <a:ext cx="8673513" cy="3320716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03B52E7-2F47-4BB9-86CB-2CF5A96AB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106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Three steps in LLE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Construct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kNN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graph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reconstruction of weights for reconstructing every point by its neighbors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Use the obtained weights to embed the points in the low dimensional subspace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192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90F7BD-D3DE-4461-B2F6-64926AC958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Training data: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j–</a:t>
                </a:r>
                <a:r>
                  <a:rPr lang="en-US" altLang="ko-KR" dirty="0" err="1">
                    <a:solidFill>
                      <a:srgbClr val="000000"/>
                    </a:solidFill>
                  </a:rPr>
                  <a:t>th</a:t>
                </a:r>
                <a:r>
                  <a:rPr lang="en-US" altLang="ko-KR" dirty="0">
                    <a:solidFill>
                      <a:srgbClr val="000000"/>
                    </a:solidFill>
                  </a:rPr>
                  <a:t> neighbor of</a:t>
                </a:r>
                <a:r>
                  <a:rPr lang="en-US" altLang="ko-KR" dirty="0">
                    <a:solidFill>
                      <a:srgbClr val="000000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Test dataset: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Training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0000"/>
                    </a:solidFill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 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altLang="ko-KR" b="0" i="0" dirty="0">
                  <a:solidFill>
                    <a:srgbClr val="000000"/>
                  </a:solidFill>
                  <a:effectLst/>
                  <a:latin typeface="Helvetica Neue"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90F7BD-D3DE-4461-B2F6-64926AC958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763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LLE step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Linear regional relationship modeling.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Fix the sample and find the optimal weight.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DF403-81C0-4F3B-88FE-2CF53783C8F8}"/>
                  </a:ext>
                </a:extLst>
              </p:cNvPr>
              <p:cNvSpPr txBox="1"/>
              <p:nvPr/>
            </p:nvSpPr>
            <p:spPr>
              <a:xfrm>
                <a:off x="838200" y="2822942"/>
                <a:ext cx="3818931" cy="866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DF403-81C0-4F3B-88FE-2CF53783C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22942"/>
                <a:ext cx="3818931" cy="866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A7D3B-63FA-46C1-B04D-F3EB18AA0590}"/>
                  </a:ext>
                </a:extLst>
              </p:cNvPr>
              <p:cNvSpPr txBox="1"/>
              <p:nvPr/>
            </p:nvSpPr>
            <p:spPr>
              <a:xfrm>
                <a:off x="838200" y="3730368"/>
                <a:ext cx="6379247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조</m:t>
                    </m:r>
                  </m:oMath>
                </a14:m>
                <a:r>
                  <a:rPr lang="ko-KR" altLang="en-US" dirty="0"/>
                  <a:t>건</a:t>
                </a:r>
                <a:r>
                  <a:rPr lang="en-US" altLang="ko-KR" dirty="0"/>
                  <a:t>]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Pre>
                          <m:sPre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nary>
                              <m:naryPr>
                                <m:chr m:val="∑"/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nary>
                          </m:sub>
                          <m:sup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</m:sSub>
                          </m:sup>
                          <m:e>
                            <m:sPre>
                              <m:sPre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=1, 2, 3, …,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일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때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               </m:t>
                                </m:r>
                              </m:sub>
                              <m:sup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가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의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최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근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이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웃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개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하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나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가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아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닐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때</m:t>
                                </m:r>
                              </m:sup>
                              <m:e/>
                            </m:sPre>
                          </m:e>
                        </m:sPre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A7D3B-63FA-46C1-B04D-F3EB18AA0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30368"/>
                <a:ext cx="6379247" cy="884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4535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LLE step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Reduce the dimension of preserving relationships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Fix the weights and find the optimal location of the sample image in the low-dimensional space.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AE7616-9556-4218-839F-EA00F07296B1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3670044" cy="842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AE7616-9556-4218-839F-EA00F0729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3670044" cy="842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0082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B0237-A0B5-4EBA-8931-21916DDC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D941E-9E90-4A7C-BD60-35356E97F4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dataset</a:t>
            </a:r>
          </a:p>
          <a:p>
            <a:r>
              <a:rPr lang="en-US" altLang="ko-KR" dirty="0"/>
              <a:t>Set </a:t>
            </a:r>
            <a:r>
              <a:rPr lang="en-US" altLang="ko-KR" dirty="0" err="1"/>
              <a:t>n_neighbors</a:t>
            </a:r>
            <a:r>
              <a:rPr lang="en-US" altLang="ko-KR" dirty="0"/>
              <a:t> and dimension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result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14757D0-53FD-4766-BB86-0176250F0D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39608"/>
            <a:ext cx="5181600" cy="332337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B9212F-5231-43BB-830E-5F40A4732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20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1E3C5-BDF0-4947-A8D6-D690CED2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BB64F4-5683-4E4D-8FB5-54E770083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t-distributed stochastic neighbor embedding, t-SNE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680046-0F2D-406B-934D-2497A3FEB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6D0783-ED8B-4C45-BA27-DFB463CC3C44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6468339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039-6517-4E3D-A561-CD5AC24A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C73AD-6A1F-4336-8A97-45B39F081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method of dimensionally reducing complex data in high dimensions to two dimensions.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t-SNE is one of manifold learning and aims to visualize complex data.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CA0AF8-7840-4632-BAEC-9BC74151C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526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62962-8B85-4367-9716-B39DE4FB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774E18B-8BBE-4D9E-8686-21B0FCD37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337" y="1825625"/>
            <a:ext cx="4503325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DD3078-659B-4BBE-8C8B-01B85D160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929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23A33-2FA2-450A-BF6F-56353143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C9DA01-AEB3-4EB8-B67D-91FADFB7EC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t-SNE steps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similarity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pairs is expressed as similarity using Gaussian distribution.</a:t>
                </a:r>
              </a:p>
              <a:p>
                <a:pPr marL="742950" lvl="1" indent="-285750"/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We randomly place the same number of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in a low-dimensional space, and show the similarities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pairs using the t distribution.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If possible, the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updated so that the similarity distribution defined in 1 and 2 is the same.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Repeat step 3 until the convergence condition.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C9DA01-AEB3-4EB8-B67D-91FADFB7E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6CEB165-8135-4852-93D4-3F13D2301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775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868EB-18C1-4CAF-AE29-DFD7B61B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FCC25D-9F86-4336-9E47-283FD2CE2B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data</a:t>
            </a:r>
          </a:p>
          <a:p>
            <a:r>
              <a:rPr lang="en-US" altLang="ko-KR" dirty="0"/>
              <a:t>Make t-SNE model</a:t>
            </a:r>
          </a:p>
          <a:p>
            <a:r>
              <a:rPr lang="en-US" altLang="ko-KR" dirty="0"/>
              <a:t>Print result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FC717C-2C7E-4F0E-A8D5-5B5DFA5F00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958"/>
            <a:ext cx="5181600" cy="317067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22C671-EE5B-46A3-9C47-0A2327859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2374</Words>
  <Application>Microsoft Office PowerPoint</Application>
  <PresentationFormat>와이드스크린</PresentationFormat>
  <Paragraphs>351</Paragraphs>
  <Slides>63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9" baseType="lpstr">
      <vt:lpstr>Helvetica Neue</vt:lpstr>
      <vt:lpstr>noto</vt:lpstr>
      <vt:lpstr>맑은 고딕</vt:lpstr>
      <vt:lpstr>Arial</vt:lpstr>
      <vt:lpstr>Cambria Math</vt:lpstr>
      <vt:lpstr>Office 테마</vt:lpstr>
      <vt:lpstr>Unsupervised Learning</vt:lpstr>
      <vt:lpstr>Table of Contents</vt:lpstr>
      <vt:lpstr>Fundamental Concept</vt:lpstr>
      <vt:lpstr>Fundamental Concept</vt:lpstr>
      <vt:lpstr>Fundamental Concept</vt:lpstr>
      <vt:lpstr>Fundamental Concept</vt:lpstr>
      <vt:lpstr>Algorithm</vt:lpstr>
      <vt:lpstr>Algorithm Covariance</vt:lpstr>
      <vt:lpstr>Algorithm Covariance</vt:lpstr>
      <vt:lpstr>Algorithm Correlation</vt:lpstr>
      <vt:lpstr>Algorithm Covariance Matrix</vt:lpstr>
      <vt:lpstr>Algorithm Correlation Matrix</vt:lpstr>
      <vt:lpstr>Algorithm</vt:lpstr>
      <vt:lpstr>Algorithm</vt:lpstr>
      <vt:lpstr>Sample Code</vt:lpstr>
      <vt:lpstr>Unsupervised Learning</vt:lpstr>
      <vt:lpstr>Fundamental Concept</vt:lpstr>
      <vt:lpstr>Algorithm</vt:lpstr>
      <vt:lpstr>Algorithm</vt:lpstr>
      <vt:lpstr>Algorithm</vt:lpstr>
      <vt:lpstr>Algorithm</vt:lpstr>
      <vt:lpstr>Algorithm</vt:lpstr>
      <vt:lpstr>Sample Code</vt:lpstr>
      <vt:lpstr>Points to note</vt:lpstr>
      <vt:lpstr>Unsupervised Learning</vt:lpstr>
      <vt:lpstr>Fundamental Concept</vt:lpstr>
      <vt:lpstr>Fundamental Concept</vt:lpstr>
      <vt:lpstr>Fundamental Concept</vt:lpstr>
      <vt:lpstr>Fundamental Concept</vt:lpstr>
      <vt:lpstr>Sample Code</vt:lpstr>
      <vt:lpstr>Unsupervised Learning</vt:lpstr>
      <vt:lpstr>Fundamental Concept</vt:lpstr>
      <vt:lpstr>Algorithm</vt:lpstr>
      <vt:lpstr>Sample Code</vt:lpstr>
      <vt:lpstr>Disposal of stop word</vt:lpstr>
      <vt:lpstr>Unsupervised Learning</vt:lpstr>
      <vt:lpstr>Fundamental Concept</vt:lpstr>
      <vt:lpstr>Fundamental Concept</vt:lpstr>
      <vt:lpstr>Algorithm</vt:lpstr>
      <vt:lpstr>Algorithm</vt:lpstr>
      <vt:lpstr>Sample Code</vt:lpstr>
      <vt:lpstr>Within-cluster sum of squares, WCSS</vt:lpstr>
      <vt:lpstr>WCSS elbow method</vt:lpstr>
      <vt:lpstr>Over-fitting in unsupervised learning</vt:lpstr>
      <vt:lpstr>Unsupervised Learning</vt:lpstr>
      <vt:lpstr>Fundamental Concept</vt:lpstr>
      <vt:lpstr>Fundamental Concept</vt:lpstr>
      <vt:lpstr>Algorithm</vt:lpstr>
      <vt:lpstr>Sample Code</vt:lpstr>
      <vt:lpstr>Unsupervised Learning</vt:lpstr>
      <vt:lpstr>A Dictionary Concept</vt:lpstr>
      <vt:lpstr>Fundamental Concept</vt:lpstr>
      <vt:lpstr>Fundamental Concept</vt:lpstr>
      <vt:lpstr>Fundamental Concept</vt:lpstr>
      <vt:lpstr>Algorithm</vt:lpstr>
      <vt:lpstr>Algorithm LLE step 1</vt:lpstr>
      <vt:lpstr>Algorithm LLE step 2</vt:lpstr>
      <vt:lpstr>Sample Code</vt:lpstr>
      <vt:lpstr>Unsupervised Learning</vt:lpstr>
      <vt:lpstr>Fundamental Concept</vt:lpstr>
      <vt:lpstr>Fundamental Concept</vt:lpstr>
      <vt:lpstr>Algorithm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신 주영</dc:creator>
  <cp:lastModifiedBy>신 주영</cp:lastModifiedBy>
  <cp:revision>10</cp:revision>
  <dcterms:created xsi:type="dcterms:W3CDTF">2022-04-10T06:58:19Z</dcterms:created>
  <dcterms:modified xsi:type="dcterms:W3CDTF">2022-04-13T05:19:29Z</dcterms:modified>
</cp:coreProperties>
</file>