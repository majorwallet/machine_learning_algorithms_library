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4" r:id="rId2"/>
    <p:sldId id="335"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78647A-3AAC-42D3-A1A1-43212907A89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8BD548F-1C8F-4763-A495-0A353B27C0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BEB47B2-4101-4300-A1BE-33994E33E011}"/>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C018FCE6-45D8-4861-883F-AEE913940CC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ADAD1F7-F91E-49AE-8127-8093E322C61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300046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A95411-1864-4116-96AE-CD8A8A8A6D7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9D41318-C062-4022-88BF-F5EB4C2B4B6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A28646F-0762-49AF-8D3E-BDA506C719FC}"/>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8F57BDED-FBDA-4F9F-A19A-783A0693DF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A5E71B0-8818-4493-8442-CFCAF0E8E797}"/>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07070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DDD505-5FE9-4D09-8373-D1FD3B2BE745}"/>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E47A855B-EFD8-42D5-AFC6-C62DB023AF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082DA2-C296-4E08-A736-3EB595F9CE8C}"/>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DC484C8F-4E7C-4465-8DEA-1068BF9E812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596BF4E-C080-45A5-BE8C-52B7E48202D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402570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8F9524-61D8-4A7B-AA14-E11EF6CFCBB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7B56A8D-F5C2-4AA8-908B-CCE42E5E7829}"/>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3DB4DB3-7E98-458E-89D5-C8D14FBF6D7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BF58177-CAD8-4B91-AEF6-FE4C08E6B3DE}"/>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FB02F3E3-C391-4D5D-BE23-CC62BA327BC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F4B0E27-011E-4CFB-99B5-57DDEB6CB87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728305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F940AE-898A-486F-9730-FF251EA52F1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EA7834F-21E1-4F19-84A8-600450EF8E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F43C4C8-8304-4942-BA70-FF6C68D10C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F2E009E-0617-4F01-A251-E15AE57679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753C409-1C6A-4198-AEA9-7AF675D3F44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C1B7E61-B825-40A8-876B-CC4A04EA6C4D}"/>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8" name="바닥글 개체 틀 7">
            <a:extLst>
              <a:ext uri="{FF2B5EF4-FFF2-40B4-BE49-F238E27FC236}">
                <a16:creationId xmlns:a16="http://schemas.microsoft.com/office/drawing/2014/main" id="{02723DB2-5BB3-495C-A498-8460BEA3689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1316046-AC2D-4C6F-88F2-C3B7A7E41B3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366075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75D1E6-5976-4595-9B6B-5655703FF35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CF75426-FB2A-4F5E-BADA-C906D9B74980}"/>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4" name="바닥글 개체 틀 3">
            <a:extLst>
              <a:ext uri="{FF2B5EF4-FFF2-40B4-BE49-F238E27FC236}">
                <a16:creationId xmlns:a16="http://schemas.microsoft.com/office/drawing/2014/main" id="{7EB8B261-F413-4972-8C3F-FF6AC50DC1D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74085BC-6E20-4FA4-8777-495F646C8E4C}"/>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516912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8AFAAFC-2410-40AF-920A-E7CBD79FDE69}"/>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3" name="바닥글 개체 틀 2">
            <a:extLst>
              <a:ext uri="{FF2B5EF4-FFF2-40B4-BE49-F238E27FC236}">
                <a16:creationId xmlns:a16="http://schemas.microsoft.com/office/drawing/2014/main" id="{834A6233-7352-4B81-9C91-4EF3C93AA41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7178DC9-C629-492B-B095-01D24048F044}"/>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02330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CD84AA-F895-4751-AC06-B0698B9D148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ED6682B-88D5-4408-8AAE-440A66ADA7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761BE11-DE90-4F33-995F-11B44D25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A73F2A3-F909-4974-B7CA-206A830BF68B}"/>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82CE3EA5-9FBC-4F4A-9566-8CCF0DC8DE6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55B8D69-1ECE-48FC-97F3-AC95716B266A}"/>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61661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D8DA4FC-D107-47E3-BEB5-913F860CB26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4A5E0FB-088E-492E-B38F-F209880020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92E331B-72E3-40FC-A972-29475E2B8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F829FF4-D60D-4A50-A64D-FD3D18226970}"/>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3EF45A80-E336-4908-A9C0-9235EF6C3E3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A0D4C39-159D-48D4-8978-5B77BBD91375}"/>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393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4BF99E-0EFC-4BF2-9DC8-B301E149768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CCE5791-F8AB-47A0-B3DC-57C73D70CCF7}"/>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5C365C4-958F-4AAA-97BC-546D2D28C662}"/>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33551DB2-F8EE-4530-8E6F-BE785FCA228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34AFA6-6D72-492C-A848-D27979F7E8C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03187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234E60D-5748-4DB7-B222-9B097E03BC6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A22E1F7-B8C9-4B52-92E4-AF2AC3618B9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F0D36D-BCA0-472B-8FDB-2F7813FE47E1}"/>
              </a:ext>
            </a:extLst>
          </p:cNvPr>
          <p:cNvSpPr>
            <a:spLocks noGrp="1"/>
          </p:cNvSpPr>
          <p:nvPr>
            <p:ph type="dt" sz="half" idx="10"/>
          </p:nvPr>
        </p:nvSpPr>
        <p:spPr/>
        <p:txBody>
          <a:body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21D0AF24-1616-45F7-BCF1-B2B040D990E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AA96F2E-C08F-495F-9685-080DA94A16B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16021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1EDD55D-DFA3-49A3-A85A-388A61A76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1455E41-529B-48F3-81D1-5E3AEA352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3B3B918-0EF7-435D-BEA3-C2761C1BCF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990B5-254E-40FE-9F68-930B6ABEB22F}"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59F82D11-9545-42B4-9494-C9F99A21E5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DC1DA2C-7F70-43A8-A53B-C80425FD43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039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6.png"/><Relationship Id="rId1" Type="http://schemas.openxmlformats.org/officeDocument/2006/relationships/slideLayout" Target="../slideLayouts/slideLayout9.xml"/><Relationship Id="rId4" Type="http://schemas.openxmlformats.org/officeDocument/2006/relationships/image" Target="../media/image1.jpg"/></Relationships>
</file>

<file path=ppt/slides/_rels/slide7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7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F7B2F3B-0066-4302-8F37-50B5F4AE3878}"/>
              </a:ext>
            </a:extLst>
          </p:cNvPr>
          <p:cNvSpPr>
            <a:spLocks noGrp="1"/>
          </p:cNvSpPr>
          <p:nvPr>
            <p:ph type="ctrTitle"/>
          </p:nvPr>
        </p:nvSpPr>
        <p:spPr/>
        <p:txBody>
          <a:bodyPr/>
          <a:lstStyle/>
          <a:p>
            <a:r>
              <a:rPr lang="en-US" altLang="ko-KR" dirty="0"/>
              <a:t>Supervised Learning</a:t>
            </a:r>
            <a:endParaRPr lang="ko-KR" altLang="en-US" dirty="0"/>
          </a:p>
        </p:txBody>
      </p:sp>
      <p:pic>
        <p:nvPicPr>
          <p:cNvPr id="4" name="그림 3">
            <a:extLst>
              <a:ext uri="{FF2B5EF4-FFF2-40B4-BE49-F238E27FC236}">
                <a16:creationId xmlns:a16="http://schemas.microsoft.com/office/drawing/2014/main" id="{E61F2080-FADA-4D39-A661-FFF58410C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1D8339BD-E38E-4D94-AA50-D3B4F3F348BE}"/>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87506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D1E6EE-316A-46AA-A033-17B8D557CF79}"/>
              </a:ext>
            </a:extLst>
          </p:cNvPr>
          <p:cNvSpPr>
            <a:spLocks noGrp="1"/>
          </p:cNvSpPr>
          <p:nvPr>
            <p:ph type="title"/>
          </p:nvPr>
        </p:nvSpPr>
        <p:spPr/>
        <p:txBody>
          <a:bodyPr/>
          <a:lstStyle/>
          <a:p>
            <a:r>
              <a:rPr lang="en-US" altLang="ko-KR" dirty="0"/>
              <a:t>Table of contents</a:t>
            </a:r>
            <a:endParaRPr lang="ko-KR" altLang="en-US" dirty="0"/>
          </a:p>
        </p:txBody>
      </p:sp>
      <p:sp>
        <p:nvSpPr>
          <p:cNvPr id="3" name="내용 개체 틀 2">
            <a:extLst>
              <a:ext uri="{FF2B5EF4-FFF2-40B4-BE49-F238E27FC236}">
                <a16:creationId xmlns:a16="http://schemas.microsoft.com/office/drawing/2014/main" id="{280680CC-D8E4-4D7C-91BE-1AA69F25500E}"/>
              </a:ext>
            </a:extLst>
          </p:cNvPr>
          <p:cNvSpPr>
            <a:spLocks noGrp="1"/>
          </p:cNvSpPr>
          <p:nvPr>
            <p:ph idx="1"/>
          </p:nvPr>
        </p:nvSpPr>
        <p:spPr/>
        <p:txBody>
          <a:bodyPr numCol="1"/>
          <a:lstStyle/>
          <a:p>
            <a:pPr marL="514350" indent="-514350">
              <a:buFont typeface="+mj-lt"/>
              <a:buAutoNum type="arabicPeriod"/>
            </a:pPr>
            <a:r>
              <a:rPr lang="en-US" altLang="ko-KR" dirty="0"/>
              <a:t>Linear Regression</a:t>
            </a:r>
          </a:p>
          <a:p>
            <a:pPr marL="514350" indent="-514350">
              <a:buFont typeface="+mj-lt"/>
              <a:buAutoNum type="arabicPeriod"/>
            </a:pPr>
            <a:r>
              <a:rPr lang="en-US" altLang="ko-KR" dirty="0"/>
              <a:t>Regularization</a:t>
            </a:r>
          </a:p>
          <a:p>
            <a:pPr marL="514350" indent="-514350">
              <a:buFont typeface="+mj-lt"/>
              <a:buAutoNum type="arabicPeriod"/>
            </a:pPr>
            <a:r>
              <a:rPr lang="en-US" altLang="ko-KR" dirty="0"/>
              <a:t>Logistic Regression</a:t>
            </a:r>
          </a:p>
          <a:p>
            <a:pPr marL="514350" indent="-514350">
              <a:buFont typeface="+mj-lt"/>
              <a:buAutoNum type="arabicPeriod"/>
            </a:pPr>
            <a:r>
              <a:rPr lang="en-US" altLang="ko-KR" dirty="0"/>
              <a:t>SVM (Support Vector Machine)</a:t>
            </a:r>
          </a:p>
          <a:p>
            <a:pPr marL="514350" indent="-514350">
              <a:buFont typeface="+mj-lt"/>
              <a:buAutoNum type="arabicPeriod"/>
            </a:pPr>
            <a:r>
              <a:rPr lang="en-US" altLang="ko-KR" dirty="0"/>
              <a:t>SVM using kernel</a:t>
            </a:r>
          </a:p>
          <a:p>
            <a:pPr marL="514350" indent="-514350">
              <a:buFont typeface="+mj-lt"/>
              <a:buAutoNum type="arabicPeriod"/>
            </a:pPr>
            <a:r>
              <a:rPr lang="en-US" altLang="ko-KR" dirty="0"/>
              <a:t>Naïve Bayes Classification</a:t>
            </a:r>
          </a:p>
          <a:p>
            <a:pPr marL="514350" indent="-514350">
              <a:buFont typeface="+mj-lt"/>
              <a:buAutoNum type="arabicPeriod"/>
            </a:pPr>
            <a:r>
              <a:rPr lang="en-US" altLang="ko-KR" dirty="0"/>
              <a:t>Random Forest</a:t>
            </a:r>
          </a:p>
          <a:p>
            <a:pPr marL="514350" indent="-514350">
              <a:buFont typeface="+mj-lt"/>
              <a:buAutoNum type="arabicPeriod"/>
            </a:pPr>
            <a:r>
              <a:rPr lang="en-US" altLang="ko-KR" dirty="0"/>
              <a:t>Neural Network</a:t>
            </a:r>
            <a:endParaRPr lang="ko-KR" altLang="en-US" dirty="0"/>
          </a:p>
        </p:txBody>
      </p:sp>
      <p:pic>
        <p:nvPicPr>
          <p:cNvPr id="4" name="그림 3">
            <a:extLst>
              <a:ext uri="{FF2B5EF4-FFF2-40B4-BE49-F238E27FC236}">
                <a16:creationId xmlns:a16="http://schemas.microsoft.com/office/drawing/2014/main" id="{25E79D2B-75FC-4E5E-B151-F83AEAC65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06253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Linear Regression</a:t>
            </a:r>
            <a:endParaRPr lang="ko-KR" altLang="en-US" dirty="0"/>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3CC26009-3209-4D79-90A7-24BB2A346EB2}"/>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349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r>
              <a:rPr lang="en-US" altLang="ko-KR" b="0" i="0" dirty="0">
                <a:solidFill>
                  <a:srgbClr val="000000"/>
                </a:solidFill>
                <a:effectLst/>
              </a:rPr>
              <a:t>A technique for modeling relationships in which dependent variables change large or small as independent variables grow</a:t>
            </a:r>
          </a:p>
          <a:p>
            <a:r>
              <a:rPr lang="en-US" altLang="ko-KR" b="0" i="0" dirty="0">
                <a:solidFill>
                  <a:srgbClr val="000000"/>
                </a:solidFill>
                <a:effectLst/>
              </a:rPr>
              <a:t>y = ax + b, a is called the inclination and b is called the y-intercept</a:t>
            </a:r>
          </a:p>
        </p:txBody>
      </p:sp>
      <p:pic>
        <p:nvPicPr>
          <p:cNvPr id="6" name="내용 개체 틀 5">
            <a:extLst>
              <a:ext uri="{FF2B5EF4-FFF2-40B4-BE49-F238E27FC236}">
                <a16:creationId xmlns:a16="http://schemas.microsoft.com/office/drawing/2014/main" id="{3FE5F466-DC8D-413D-85CB-F4A6B9E3BC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0325" y="2067719"/>
            <a:ext cx="4705350" cy="3867150"/>
          </a:xfrm>
        </p:spPr>
      </p:pic>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733182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Usually, in linear regression, the learning parameters a and b of the data points that are not on a straight line must be calculated</a:t>
            </a:r>
          </a:p>
          <a:p>
            <a:pPr algn="l">
              <a:buFont typeface="Arial" panose="020B0604020202020204" pitchFamily="34" charset="0"/>
              <a:buChar char="•"/>
            </a:pPr>
            <a:r>
              <a:rPr lang="en-US" altLang="ko-KR" b="0" i="0" dirty="0">
                <a:solidFill>
                  <a:srgbClr val="000000"/>
                </a:solidFill>
                <a:effectLst/>
              </a:rPr>
              <a:t>Create a straight line to minimize the mean square error</a:t>
            </a: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내용 개체 틀 4">
            <a:extLst>
              <a:ext uri="{FF2B5EF4-FFF2-40B4-BE49-F238E27FC236}">
                <a16:creationId xmlns:a16="http://schemas.microsoft.com/office/drawing/2014/main" id="{FA0518C4-D7D8-4EAE-8622-1D3BB074160B}"/>
              </a:ext>
            </a:extLst>
          </p:cNvPr>
          <p:cNvSpPr>
            <a:spLocks noGrp="1"/>
          </p:cNvSpPr>
          <p:nvPr>
            <p:ph sz="half" idx="2"/>
          </p:nvPr>
        </p:nvSpPr>
        <p:spPr/>
        <p:txBody>
          <a:bodyPr/>
          <a:lstStyle/>
          <a:p>
            <a:r>
              <a:rPr lang="en-US" altLang="ko-KR" dirty="0"/>
              <a:t>Mean square error formula</a:t>
            </a:r>
            <a:endParaRPr lang="ko-KR"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422888-7378-46BB-A5A5-5AA706D439CB}"/>
                  </a:ext>
                </a:extLst>
              </p:cNvPr>
              <p:cNvSpPr txBox="1"/>
              <p:nvPr/>
            </p:nvSpPr>
            <p:spPr>
              <a:xfrm>
                <a:off x="7141673" y="2665553"/>
                <a:ext cx="3242653" cy="15268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ko-KR" altLang="en-US" sz="2800" i="1" smtClean="0">
                              <a:latin typeface="Cambria Math" panose="02040503050406030204" pitchFamily="18" charset="0"/>
                            </a:rPr>
                          </m:ctrlPr>
                        </m:naryPr>
                        <m:sub>
                          <m:r>
                            <a:rPr lang="ko-KR" altLang="en-US" sz="2800" i="1" smtClean="0">
                              <a:latin typeface="Cambria Math" panose="02040503050406030204" pitchFamily="18" charset="0"/>
                            </a:rPr>
                            <m:t>𝑖</m:t>
                          </m:r>
                          <m:r>
                            <a:rPr lang="ko-KR" altLang="en-US" sz="2800" i="1" smtClean="0">
                              <a:latin typeface="Cambria Math" panose="02040503050406030204" pitchFamily="18" charset="0"/>
                            </a:rPr>
                            <m:t>=1</m:t>
                          </m:r>
                        </m:sub>
                        <m:sup>
                          <m:r>
                            <a:rPr lang="ko-KR" altLang="en-US" sz="2800" i="1" smtClean="0">
                              <a:latin typeface="Cambria Math" panose="02040503050406030204" pitchFamily="18" charset="0"/>
                            </a:rPr>
                            <m:t>𝑛</m:t>
                          </m:r>
                        </m:sup>
                        <m:e>
                          <m:f>
                            <m:fPr>
                              <m:ctrlPr>
                                <a:rPr lang="ko-KR" altLang="en-US" sz="2800" i="1" smtClean="0">
                                  <a:solidFill>
                                    <a:srgbClr val="836967"/>
                                  </a:solidFill>
                                  <a:latin typeface="Cambria Math" panose="02040503050406030204" pitchFamily="18" charset="0"/>
                                </a:rPr>
                              </m:ctrlPr>
                            </m:fPr>
                            <m:num>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𝑦</m:t>
                                  </m:r>
                                </m:e>
                                <m:sub>
                                  <m:r>
                                    <a:rPr lang="ko-KR" altLang="en-US" sz="2800" i="1" smtClean="0">
                                      <a:latin typeface="Cambria Math" panose="02040503050406030204" pitchFamily="18" charset="0"/>
                                    </a:rPr>
                                    <m:t>𝑖</m:t>
                                  </m:r>
                                </m:sub>
                              </m:sSub>
                              <m:r>
                                <a:rPr lang="ko-KR" altLang="en-US" sz="2800" i="1" smtClean="0">
                                  <a:latin typeface="Cambria Math" panose="02040503050406030204" pitchFamily="18" charset="0"/>
                                </a:rPr>
                                <m:t>−</m:t>
                              </m:r>
                              <m:sSup>
                                <m:sSupPr>
                                  <m:ctrlPr>
                                    <a:rPr lang="ko-KR" altLang="en-US" sz="2800" i="1" smtClean="0">
                                      <a:solidFill>
                                        <a:srgbClr val="836967"/>
                                      </a:solidFill>
                                      <a:latin typeface="Cambria Math" panose="02040503050406030204" pitchFamily="18" charset="0"/>
                                    </a:rPr>
                                  </m:ctrlPr>
                                </m:sSupPr>
                                <m:e>
                                  <m:d>
                                    <m:dPr>
                                      <m:ctrlPr>
                                        <a:rPr lang="ko-KR" altLang="en-US" sz="2800" i="1" smtClean="0">
                                          <a:solidFill>
                                            <a:srgbClr val="836967"/>
                                          </a:solidFill>
                                          <a:latin typeface="Cambria Math" panose="02040503050406030204" pitchFamily="18" charset="0"/>
                                        </a:rPr>
                                      </m:ctrlPr>
                                    </m:dPr>
                                    <m:e>
                                      <m:r>
                                        <a:rPr lang="ko-KR" altLang="en-US" sz="2800" i="1" smtClean="0">
                                          <a:latin typeface="Cambria Math" panose="02040503050406030204" pitchFamily="18" charset="0"/>
                                        </a:rPr>
                                        <m:t>𝑎</m:t>
                                      </m:r>
                                      <m:r>
                                        <a:rPr lang="ko-KR" altLang="en-US" sz="2800" i="1" smtClean="0">
                                          <a:latin typeface="Cambria Math" panose="02040503050406030204" pitchFamily="18" charset="0"/>
                                        </a:rPr>
                                        <m:t>+</m:t>
                                      </m:r>
                                      <m:r>
                                        <a:rPr lang="ko-KR" altLang="en-US" sz="2800" i="1" smtClean="0">
                                          <a:latin typeface="Cambria Math" panose="02040503050406030204" pitchFamily="18" charset="0"/>
                                        </a:rPr>
                                        <m:t>𝑏</m:t>
                                      </m:r>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𝑥</m:t>
                                          </m:r>
                                        </m:e>
                                        <m:sub>
                                          <m:r>
                                            <a:rPr lang="ko-KR" altLang="en-US" sz="2800" i="1" smtClean="0">
                                              <a:latin typeface="Cambria Math" panose="02040503050406030204" pitchFamily="18" charset="0"/>
                                            </a:rPr>
                                            <m:t>𝑖</m:t>
                                          </m:r>
                                        </m:sub>
                                      </m:sSub>
                                    </m:e>
                                  </m:d>
                                </m:e>
                                <m:sup>
                                  <m:r>
                                    <a:rPr lang="ko-KR" altLang="en-US" sz="2800" i="1" smtClean="0">
                                      <a:latin typeface="Cambria Math" panose="02040503050406030204" pitchFamily="18" charset="0"/>
                                    </a:rPr>
                                    <m:t>2</m:t>
                                  </m:r>
                                </m:sup>
                              </m:sSup>
                            </m:num>
                            <m:den>
                              <m:r>
                                <a:rPr lang="ko-KR" altLang="en-US" sz="2800" i="1" smtClean="0">
                                  <a:latin typeface="Cambria Math" panose="02040503050406030204" pitchFamily="18" charset="0"/>
                                </a:rPr>
                                <m:t>𝑛</m:t>
                              </m:r>
                            </m:den>
                          </m:f>
                        </m:e>
                      </m:nary>
                    </m:oMath>
                  </m:oMathPara>
                </a14:m>
                <a:endParaRPr lang="ko-KR" altLang="en-US" sz="2800" dirty="0"/>
              </a:p>
            </p:txBody>
          </p:sp>
        </mc:Choice>
        <mc:Fallback xmlns="">
          <p:sp>
            <p:nvSpPr>
              <p:cNvPr id="10" name="TextBox 9">
                <a:extLst>
                  <a:ext uri="{FF2B5EF4-FFF2-40B4-BE49-F238E27FC236}">
                    <a16:creationId xmlns:a16="http://schemas.microsoft.com/office/drawing/2014/main" id="{0F422888-7378-46BB-A5A5-5AA706D439CB}"/>
                  </a:ext>
                </a:extLst>
              </p:cNvPr>
              <p:cNvSpPr txBox="1">
                <a:spLocks noRot="1" noChangeAspect="1" noMove="1" noResize="1" noEditPoints="1" noAdjustHandles="1" noChangeArrowheads="1" noChangeShapeType="1" noTextEdit="1"/>
              </p:cNvSpPr>
              <p:nvPr/>
            </p:nvSpPr>
            <p:spPr>
              <a:xfrm>
                <a:off x="7141673" y="2665553"/>
                <a:ext cx="3242653" cy="1526893"/>
              </a:xfrm>
              <a:prstGeom prst="rect">
                <a:avLst/>
              </a:prstGeom>
              <a:blipFill>
                <a:blip r:embed="rId3"/>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8757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FEB13-0EE8-437B-8F64-10A1B656686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C55FE330-0271-49AA-B5AD-9EBCD3F5EE18}"/>
              </a:ext>
            </a:extLst>
          </p:cNvPr>
          <p:cNvSpPr>
            <a:spLocks noGrp="1"/>
          </p:cNvSpPr>
          <p:nvPr>
            <p:ph idx="1"/>
          </p:nvPr>
        </p:nvSpPr>
        <p:spPr/>
        <p:txBody>
          <a:bodyPr/>
          <a:lstStyle/>
          <a:p>
            <a:r>
              <a:rPr lang="en-US" altLang="ko-KR" b="0" i="0" dirty="0">
                <a:solidFill>
                  <a:srgbClr val="000000"/>
                </a:solidFill>
                <a:effectLst/>
              </a:rPr>
              <a:t>A function that defines the relationship between error and learning parameters is called a loss function.</a:t>
            </a:r>
          </a:p>
          <a:p>
            <a:r>
              <a:rPr lang="en-US" altLang="ko-KR" b="0" i="0" dirty="0">
                <a:solidFill>
                  <a:srgbClr val="000000"/>
                </a:solidFill>
                <a:effectLst/>
              </a:rPr>
              <a:t>Linear regression finds a parameter with a minimum loss function value among various straight lines.</a:t>
            </a:r>
          </a:p>
          <a:p>
            <a:r>
              <a:rPr lang="en-US" altLang="ko-KR" b="0" i="0" dirty="0">
                <a:solidFill>
                  <a:srgbClr val="000000"/>
                </a:solidFill>
                <a:effectLst/>
              </a:rPr>
              <a:t>Finding parameters that minimize loss function values is also a concept commonly used in guidance learning algorithms.</a:t>
            </a:r>
          </a:p>
        </p:txBody>
      </p:sp>
      <p:pic>
        <p:nvPicPr>
          <p:cNvPr id="4" name="그림 3">
            <a:extLst>
              <a:ext uri="{FF2B5EF4-FFF2-40B4-BE49-F238E27FC236}">
                <a16:creationId xmlns:a16="http://schemas.microsoft.com/office/drawing/2014/main" id="{8FB3CA9A-B45B-4764-9580-88EAA0CB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8021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92500"/>
          </a:bodyPr>
          <a:lstStyle/>
          <a:p>
            <a:r>
              <a:rPr lang="en-US" altLang="ko-KR" dirty="0">
                <a:solidFill>
                  <a:srgbClr val="000000"/>
                </a:solidFill>
              </a:rPr>
              <a:t>From </a:t>
            </a:r>
            <a:r>
              <a:rPr lang="en-US" altLang="ko-KR" dirty="0" err="1">
                <a:solidFill>
                  <a:srgbClr val="000000"/>
                </a:solidFill>
              </a:rPr>
              <a:t>sklearn</a:t>
            </a:r>
            <a:r>
              <a:rPr lang="en-US" altLang="ko-KR" dirty="0">
                <a:solidFill>
                  <a:srgbClr val="000000"/>
                </a:solidFill>
              </a:rPr>
              <a:t>, import Linear Regression</a:t>
            </a:r>
          </a:p>
          <a:p>
            <a:r>
              <a:rPr lang="en-US" altLang="ko-KR" b="0" i="0" dirty="0">
                <a:solidFill>
                  <a:srgbClr val="000000"/>
                </a:solidFill>
                <a:effectLst/>
              </a:rPr>
              <a:t>Set X, y variable</a:t>
            </a:r>
          </a:p>
          <a:p>
            <a:r>
              <a:rPr lang="en-US" altLang="ko-KR" dirty="0">
                <a:solidFill>
                  <a:srgbClr val="000000"/>
                </a:solidFill>
              </a:rPr>
              <a:t>Make Linear Regression variable</a:t>
            </a:r>
          </a:p>
          <a:p>
            <a:r>
              <a:rPr lang="en-US" altLang="ko-KR" dirty="0">
                <a:solidFill>
                  <a:srgbClr val="000000"/>
                </a:solidFill>
              </a:rPr>
              <a:t>Fit X, y to Linear Regression model</a:t>
            </a:r>
          </a:p>
          <a:p>
            <a:r>
              <a:rPr lang="en-US" altLang="ko-KR" dirty="0">
                <a:solidFill>
                  <a:srgbClr val="000000"/>
                </a:solidFill>
              </a:rPr>
              <a:t>Print inclination and y-intercept</a:t>
            </a:r>
          </a:p>
          <a:p>
            <a:r>
              <a:rPr lang="en-US" altLang="ko-KR" b="0" i="0" dirty="0">
                <a:solidFill>
                  <a:srgbClr val="000000"/>
                </a:solidFill>
                <a:effectLst/>
                <a:cs typeface="Helvetica" panose="020B0604020202020204" pitchFamily="34" charset="0"/>
              </a:rPr>
              <a:t>Predict y-values when x is 0 and 1 with the predict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F7B5808D-E8ED-41BD-9EE1-A8C3F96994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4876015" cy="4133085"/>
          </a:xfrm>
        </p:spPr>
      </p:pic>
    </p:spTree>
    <p:extLst>
      <p:ext uri="{BB962C8B-B14F-4D97-AF65-F5344CB8AC3E}">
        <p14:creationId xmlns:p14="http://schemas.microsoft.com/office/powerpoint/2010/main" val="400895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Output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a:bodyPr>
          <a:lstStyle/>
          <a:p>
            <a:r>
              <a:rPr lang="en-US" altLang="ko-KR" dirty="0">
                <a:solidFill>
                  <a:srgbClr val="000000"/>
                </a:solidFill>
                <a:cs typeface="Helvetica" panose="020B0604020202020204" pitchFamily="34" charset="0"/>
              </a:rPr>
              <a:t>We can get inclination by </a:t>
            </a:r>
            <a:r>
              <a:rPr lang="en-US" altLang="ko-KR" dirty="0" err="1">
                <a:solidFill>
                  <a:srgbClr val="000000"/>
                </a:solidFill>
                <a:cs typeface="Helvetica" panose="020B0604020202020204" pitchFamily="34" charset="0"/>
              </a:rPr>
              <a:t>model.coef</a:t>
            </a:r>
            <a:r>
              <a:rPr lang="en-US" altLang="ko-KR" dirty="0">
                <a:solidFill>
                  <a:srgbClr val="000000"/>
                </a:solidFill>
                <a:cs typeface="Helvetica" panose="020B0604020202020204" pitchFamily="34" charset="0"/>
              </a:rPr>
              <a:t>_ method</a:t>
            </a:r>
          </a:p>
          <a:p>
            <a:r>
              <a:rPr lang="en-US" altLang="ko-KR" dirty="0">
                <a:solidFill>
                  <a:srgbClr val="000000"/>
                </a:solidFill>
                <a:cs typeface="Helvetica" panose="020B0604020202020204" pitchFamily="34" charset="0"/>
              </a:rPr>
              <a:t>We can get y-intercept by </a:t>
            </a:r>
            <a:r>
              <a:rPr lang="en-US" altLang="ko-KR" dirty="0" err="1">
                <a:solidFill>
                  <a:srgbClr val="000000"/>
                </a:solidFill>
                <a:cs typeface="Helvetica" panose="020B0604020202020204" pitchFamily="34" charset="0"/>
              </a:rPr>
              <a:t>model.intercept</a:t>
            </a:r>
            <a:r>
              <a:rPr lang="en-US" altLang="ko-KR" dirty="0">
                <a:solidFill>
                  <a:srgbClr val="000000"/>
                </a:solidFill>
                <a:cs typeface="Helvetica" panose="020B0604020202020204" pitchFamily="34" charset="0"/>
              </a:rPr>
              <a:t>_ method</a:t>
            </a:r>
          </a:p>
          <a:p>
            <a:r>
              <a:rPr lang="en-US" altLang="ko-KR" b="0" i="0" dirty="0">
                <a:solidFill>
                  <a:srgbClr val="000000"/>
                </a:solidFill>
                <a:effectLst/>
                <a:cs typeface="Helvetica" panose="020B0604020202020204" pitchFamily="34" charset="0"/>
              </a:rPr>
              <a:t>We can get y-values when x is 0 and 1 by </a:t>
            </a:r>
            <a:r>
              <a:rPr lang="en-US" altLang="ko-KR" b="0" i="0" dirty="0" err="1">
                <a:solidFill>
                  <a:srgbClr val="000000"/>
                </a:solidFill>
                <a:effectLst/>
                <a:cs typeface="Helvetica" panose="020B0604020202020204" pitchFamily="34" charset="0"/>
              </a:rPr>
              <a:t>model.predict</a:t>
            </a:r>
            <a:r>
              <a:rPr lang="en-US" altLang="ko-KR" b="0" i="0" dirty="0">
                <a:solidFill>
                  <a:srgbClr val="000000"/>
                </a:solidFill>
                <a:effectLst/>
                <a:cs typeface="Helvetica" panose="020B0604020202020204" pitchFamily="34" charset="0"/>
              </a:rPr>
              <a: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1138192B-60CD-4462-A6DE-36CA24FC99D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4"/>
            <a:ext cx="5181598" cy="1884217"/>
          </a:xfrm>
        </p:spPr>
      </p:pic>
    </p:spTree>
    <p:extLst>
      <p:ext uri="{BB962C8B-B14F-4D97-AF65-F5344CB8AC3E}">
        <p14:creationId xmlns:p14="http://schemas.microsoft.com/office/powerpoint/2010/main" val="3619606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Method of minimizing</a:t>
            </a:r>
            <a:br>
              <a:rPr lang="en-US" altLang="ko-KR" dirty="0"/>
            </a:br>
            <a:r>
              <a:rPr lang="en-US" altLang="ko-KR" dirty="0"/>
              <a:t>mean square error</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85000" lnSpcReduction="10000"/>
          </a:bodyPr>
          <a:lstStyle/>
          <a:p>
            <a:r>
              <a:rPr lang="en-US" altLang="ko-KR" dirty="0">
                <a:solidFill>
                  <a:srgbClr val="000000"/>
                </a:solidFill>
              </a:rPr>
              <a:t>L</a:t>
            </a:r>
            <a:r>
              <a:rPr lang="en-US" altLang="ko-KR" b="0" i="0" dirty="0">
                <a:solidFill>
                  <a:srgbClr val="000000"/>
                </a:solidFill>
                <a:effectLst/>
              </a:rPr>
              <a:t>et x and y as shown on the right.</a:t>
            </a:r>
          </a:p>
          <a:p>
            <a:r>
              <a:rPr lang="en-US" altLang="ko-KR" b="0" i="0" dirty="0">
                <a:solidFill>
                  <a:srgbClr val="000000"/>
                </a:solidFill>
                <a:effectLst/>
              </a:rPr>
              <a:t>The table below shows the average square error values according to the values a and b.</a:t>
            </a:r>
          </a:p>
          <a:p>
            <a:r>
              <a:rPr lang="en-US" altLang="ko-KR" b="0" i="0" dirty="0">
                <a:solidFill>
                  <a:srgbClr val="000000"/>
                </a:solidFill>
                <a:effectLst/>
              </a:rPr>
              <a:t>Substituting the x and y values into the mean square error formula, the following equation can be obtained.</a:t>
            </a:r>
          </a:p>
          <a:p>
            <a:r>
              <a:rPr lang="en-US" altLang="ko-KR" b="0" i="0" dirty="0">
                <a:solidFill>
                  <a:srgbClr val="000000"/>
                </a:solidFill>
                <a:effectLst/>
              </a:rPr>
              <a:t>Therefore, the minimum value of the equation according to the values a and b may be obtained.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4B1CB88E-A31C-4A2E-9ACB-3EE7B9BECE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598" cy="4074620"/>
          </a:xfrm>
        </p:spPr>
      </p:pic>
    </p:spTree>
    <p:extLst>
      <p:ext uri="{BB962C8B-B14F-4D97-AF65-F5344CB8AC3E}">
        <p14:creationId xmlns:p14="http://schemas.microsoft.com/office/powerpoint/2010/main" val="3081032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6AB730-0024-42F1-BBFD-EC956EB3F04D}"/>
              </a:ext>
            </a:extLst>
          </p:cNvPr>
          <p:cNvSpPr>
            <a:spLocks noGrp="1"/>
          </p:cNvSpPr>
          <p:nvPr>
            <p:ph type="title"/>
          </p:nvPr>
        </p:nvSpPr>
        <p:spPr/>
        <p:txBody>
          <a:bodyPr/>
          <a:lstStyle/>
          <a:p>
            <a:r>
              <a:rPr lang="en-US" altLang="ko-KR" dirty="0"/>
              <a:t>Type of linear regression</a:t>
            </a:r>
            <a:endParaRPr lang="ko-KR" altLang="en-US" dirty="0"/>
          </a:p>
        </p:txBody>
      </p:sp>
      <p:sp>
        <p:nvSpPr>
          <p:cNvPr id="3" name="내용 개체 틀 2">
            <a:extLst>
              <a:ext uri="{FF2B5EF4-FFF2-40B4-BE49-F238E27FC236}">
                <a16:creationId xmlns:a16="http://schemas.microsoft.com/office/drawing/2014/main" id="{74625146-7FA6-4575-B2BA-9F17784583F1}"/>
              </a:ext>
            </a:extLst>
          </p:cNvPr>
          <p:cNvSpPr>
            <a:spLocks noGrp="1"/>
          </p:cNvSpPr>
          <p:nvPr>
            <p:ph sz="half" idx="1"/>
          </p:nvPr>
        </p:nvSpPr>
        <p:spPr/>
        <p:txBody>
          <a:bodyPr/>
          <a:lstStyle/>
          <a:p>
            <a:r>
              <a:rPr lang="en-US" altLang="ko-KR" b="0" i="0" dirty="0">
                <a:solidFill>
                  <a:srgbClr val="000000"/>
                </a:solidFill>
                <a:effectLst/>
              </a:rPr>
              <a:t>Since polynomial regression is not linear, it may be awkward to call it linear regression, but because it is linear regression for learning parameters rather than independent variables, polynomial regression is also included in linear regression.</a:t>
            </a:r>
          </a:p>
        </p:txBody>
      </p:sp>
      <p:graphicFrame>
        <p:nvGraphicFramePr>
          <p:cNvPr id="5" name="표 5">
            <a:extLst>
              <a:ext uri="{FF2B5EF4-FFF2-40B4-BE49-F238E27FC236}">
                <a16:creationId xmlns:a16="http://schemas.microsoft.com/office/drawing/2014/main" id="{E62A55FF-82FD-49B5-B42C-478CFFC1CDF3}"/>
              </a:ext>
            </a:extLst>
          </p:cNvPr>
          <p:cNvGraphicFramePr>
            <a:graphicFrameLocks noGrp="1"/>
          </p:cNvGraphicFramePr>
          <p:nvPr>
            <p:ph sz="half" idx="2"/>
          </p:nvPr>
        </p:nvGraphicFramePr>
        <p:xfrm>
          <a:off x="6172200" y="1825625"/>
          <a:ext cx="5181600" cy="2291080"/>
        </p:xfrm>
        <a:graphic>
          <a:graphicData uri="http://schemas.openxmlformats.org/drawingml/2006/table">
            <a:tbl>
              <a:tblPr firstRow="1" bandRow="1">
                <a:tableStyleId>{5C22544A-7EE6-4342-B048-85BDC9FD1C3A}</a:tableStyleId>
              </a:tblPr>
              <a:tblGrid>
                <a:gridCol w="2859505">
                  <a:extLst>
                    <a:ext uri="{9D8B030D-6E8A-4147-A177-3AD203B41FA5}">
                      <a16:colId xmlns:a16="http://schemas.microsoft.com/office/drawing/2014/main" val="1563541935"/>
                    </a:ext>
                  </a:extLst>
                </a:gridCol>
                <a:gridCol w="2322095">
                  <a:extLst>
                    <a:ext uri="{9D8B030D-6E8A-4147-A177-3AD203B41FA5}">
                      <a16:colId xmlns:a16="http://schemas.microsoft.com/office/drawing/2014/main" val="2432520976"/>
                    </a:ext>
                  </a:extLst>
                </a:gridCol>
              </a:tblGrid>
              <a:tr h="370840">
                <a:tc>
                  <a:txBody>
                    <a:bodyPr/>
                    <a:lstStyle/>
                    <a:p>
                      <a:pPr algn="ctr" latinLnBrk="1"/>
                      <a:r>
                        <a:rPr lang="ko-KR" altLang="en-US" dirty="0"/>
                        <a:t>선형회귀의 종류</a:t>
                      </a:r>
                    </a:p>
                  </a:txBody>
                  <a:tcPr/>
                </a:tc>
                <a:tc>
                  <a:txBody>
                    <a:bodyPr/>
                    <a:lstStyle/>
                    <a:p>
                      <a:pPr algn="ctr" latinLnBrk="1"/>
                      <a:r>
                        <a:rPr lang="ko-KR" altLang="en-US" dirty="0"/>
                        <a:t>함수 정의 예</a:t>
                      </a:r>
                    </a:p>
                  </a:txBody>
                  <a:tcPr/>
                </a:tc>
                <a:extLst>
                  <a:ext uri="{0D108BD9-81ED-4DB2-BD59-A6C34878D82A}">
                    <a16:rowId xmlns:a16="http://schemas.microsoft.com/office/drawing/2014/main" val="476287826"/>
                  </a:ext>
                </a:extLst>
              </a:tr>
              <a:tr h="370840">
                <a:tc>
                  <a:txBody>
                    <a:bodyPr/>
                    <a:lstStyle/>
                    <a:p>
                      <a:pPr algn="ctr" latinLnBrk="1"/>
                      <a:r>
                        <a:rPr lang="ko-KR" altLang="en-US" dirty="0"/>
                        <a:t>단순선형회귀</a:t>
                      </a:r>
                      <a:endParaRPr lang="en-US" altLang="ko-KR" dirty="0"/>
                    </a:p>
                    <a:p>
                      <a:pPr algn="ctr" latinLnBrk="1"/>
                      <a:r>
                        <a:rPr lang="en-US" altLang="ko-KR" dirty="0"/>
                        <a:t>Simple linear regression</a:t>
                      </a:r>
                      <a:endParaRPr lang="ko-KR" altLang="en-US" dirty="0"/>
                    </a:p>
                  </a:txBody>
                  <a:tcPr/>
                </a:tc>
                <a:tc>
                  <a:txBody>
                    <a:bodyPr/>
                    <a:lstStyle/>
                    <a:p>
                      <a:pPr algn="ctr" latinLnBrk="1">
                        <a:lnSpc>
                          <a:spcPct val="150000"/>
                        </a:lnSpc>
                      </a:pPr>
                      <a:r>
                        <a:rPr lang="en-US" altLang="ko-KR" dirty="0"/>
                        <a:t>y = ax + b</a:t>
                      </a:r>
                      <a:endParaRPr lang="ko-KR" altLang="en-US" dirty="0"/>
                    </a:p>
                  </a:txBody>
                  <a:tcPr/>
                </a:tc>
                <a:extLst>
                  <a:ext uri="{0D108BD9-81ED-4DB2-BD59-A6C34878D82A}">
                    <a16:rowId xmlns:a16="http://schemas.microsoft.com/office/drawing/2014/main" val="3093184256"/>
                  </a:ext>
                </a:extLst>
              </a:tr>
              <a:tr h="370840">
                <a:tc>
                  <a:txBody>
                    <a:bodyPr/>
                    <a:lstStyle/>
                    <a:p>
                      <a:pPr algn="ctr" latinLnBrk="1"/>
                      <a:r>
                        <a:rPr lang="ko-KR" altLang="en-US" dirty="0"/>
                        <a:t>다중선형회귀</a:t>
                      </a:r>
                      <a:endParaRPr lang="en-US" altLang="ko-KR" dirty="0"/>
                    </a:p>
                    <a:p>
                      <a:pPr algn="ctr" latinLnBrk="1"/>
                      <a:r>
                        <a:rPr lang="en-US" altLang="ko-KR" sz="1800" b="0" i="0" kern="1200" dirty="0">
                          <a:solidFill>
                            <a:schemeClr val="dk1"/>
                          </a:solidFill>
                          <a:effectLst/>
                          <a:latin typeface="+mn-lt"/>
                          <a:ea typeface="+mn-ea"/>
                          <a:cs typeface="+mn-cs"/>
                        </a:rPr>
                        <a:t>multiple linear regression</a:t>
                      </a:r>
                      <a:endParaRPr lang="ko-KR" altLang="en-US" dirty="0"/>
                    </a:p>
                  </a:txBody>
                  <a:tcPr/>
                </a:tc>
                <a:tc>
                  <a:txBody>
                    <a:bodyPr/>
                    <a:lstStyle/>
                    <a:p>
                      <a:pPr algn="ctr" latinLnBrk="1">
                        <a:lnSpc>
                          <a:spcPct val="150000"/>
                        </a:lnSpc>
                      </a:pPr>
                      <a:r>
                        <a:rPr lang="en-US" altLang="ko-KR" dirty="0"/>
                        <a:t>z = ax + by + c</a:t>
                      </a:r>
                      <a:endParaRPr lang="ko-KR" altLang="en-US" dirty="0"/>
                    </a:p>
                  </a:txBody>
                  <a:tcPr/>
                </a:tc>
                <a:extLst>
                  <a:ext uri="{0D108BD9-81ED-4DB2-BD59-A6C34878D82A}">
                    <a16:rowId xmlns:a16="http://schemas.microsoft.com/office/drawing/2014/main" val="3446507830"/>
                  </a:ext>
                </a:extLst>
              </a:tr>
              <a:tr h="370840">
                <a:tc>
                  <a:txBody>
                    <a:bodyPr/>
                    <a:lstStyle/>
                    <a:p>
                      <a:pPr algn="ctr" latinLnBrk="1"/>
                      <a:r>
                        <a:rPr lang="ko-KR" altLang="en-US" dirty="0"/>
                        <a:t>다항회귀</a:t>
                      </a:r>
                      <a:endParaRPr lang="en-US" altLang="ko-KR" dirty="0"/>
                    </a:p>
                    <a:p>
                      <a:pPr algn="ctr" latinLnBrk="1"/>
                      <a:r>
                        <a:rPr lang="en-US" altLang="ko-KR" dirty="0"/>
                        <a:t>Polynomial regression</a:t>
                      </a:r>
                      <a:endParaRPr lang="ko-KR" altLang="en-US" dirty="0"/>
                    </a:p>
                  </a:txBody>
                  <a:tcPr/>
                </a:tc>
                <a:tc>
                  <a:txBody>
                    <a:bodyPr/>
                    <a:lstStyle/>
                    <a:p>
                      <a:pPr algn="ctr" latinLnBrk="1">
                        <a:lnSpc>
                          <a:spcPct val="150000"/>
                        </a:lnSpc>
                      </a:pPr>
                      <a:r>
                        <a:rPr lang="en-US" altLang="ko-KR" dirty="0"/>
                        <a:t>y = ax^2 + bx + c</a:t>
                      </a:r>
                      <a:endParaRPr lang="ko-KR" altLang="en-US" dirty="0"/>
                    </a:p>
                  </a:txBody>
                  <a:tcPr/>
                </a:tc>
                <a:extLst>
                  <a:ext uri="{0D108BD9-81ED-4DB2-BD59-A6C34878D82A}">
                    <a16:rowId xmlns:a16="http://schemas.microsoft.com/office/drawing/2014/main" val="3317751139"/>
                  </a:ext>
                </a:extLst>
              </a:tr>
            </a:tbl>
          </a:graphicData>
        </a:graphic>
      </p:graphicFrame>
      <p:pic>
        <p:nvPicPr>
          <p:cNvPr id="6" name="그림 5">
            <a:extLst>
              <a:ext uri="{FF2B5EF4-FFF2-40B4-BE49-F238E27FC236}">
                <a16:creationId xmlns:a16="http://schemas.microsoft.com/office/drawing/2014/main" id="{D6CDF0FD-A029-43FC-9477-209565B37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534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0F9CED-422E-4B30-8269-F7E00440301A}"/>
              </a:ext>
            </a:extLst>
          </p:cNvPr>
          <p:cNvSpPr>
            <a:spLocks noGrp="1"/>
          </p:cNvSpPr>
          <p:nvPr>
            <p:ph type="title"/>
          </p:nvPr>
        </p:nvSpPr>
        <p:spPr/>
        <p:txBody>
          <a:bodyPr/>
          <a:lstStyle/>
          <a:p>
            <a:r>
              <a:rPr lang="en-US" altLang="ko-KR" dirty="0"/>
              <a:t>Nonlinear regression</a:t>
            </a:r>
            <a:endParaRPr lang="ko-KR" altLang="en-US" dirty="0"/>
          </a:p>
        </p:txBody>
      </p:sp>
      <p:sp>
        <p:nvSpPr>
          <p:cNvPr id="3" name="내용 개체 틀 2">
            <a:extLst>
              <a:ext uri="{FF2B5EF4-FFF2-40B4-BE49-F238E27FC236}">
                <a16:creationId xmlns:a16="http://schemas.microsoft.com/office/drawing/2014/main" id="{C331871F-36CC-4AF2-8C04-A437C006BE93}"/>
              </a:ext>
            </a:extLst>
          </p:cNvPr>
          <p:cNvSpPr>
            <a:spLocks noGrp="1"/>
          </p:cNvSpPr>
          <p:nvPr>
            <p:ph idx="1"/>
          </p:nvPr>
        </p:nvSpPr>
        <p:spPr/>
        <p:txBody>
          <a:bodyPr/>
          <a:lstStyle/>
          <a:p>
            <a:r>
              <a:rPr lang="en-US" altLang="ko-KR" b="0" i="0" dirty="0">
                <a:solidFill>
                  <a:srgbClr val="000000"/>
                </a:solidFill>
                <a:effectLst/>
                <a:latin typeface="Helvetica Neue"/>
              </a:rPr>
              <a:t>y = </a:t>
            </a:r>
            <a:r>
              <a:rPr lang="en-US" altLang="ko-KR" b="0" i="0" dirty="0" err="1">
                <a:solidFill>
                  <a:srgbClr val="000000"/>
                </a:solidFill>
                <a:effectLst/>
                <a:latin typeface="Helvetica Neue"/>
              </a:rPr>
              <a:t>e^x</a:t>
            </a:r>
            <a:endParaRPr lang="en-US" altLang="ko-KR" b="0" i="0" dirty="0">
              <a:solidFill>
                <a:srgbClr val="000000"/>
              </a:solidFill>
              <a:effectLst/>
              <a:latin typeface="Helvetica Neue"/>
            </a:endParaRPr>
          </a:p>
          <a:p>
            <a:r>
              <a:rPr lang="en-US" altLang="ko-KR" b="0" i="0" dirty="0">
                <a:solidFill>
                  <a:srgbClr val="000000"/>
                </a:solidFill>
                <a:effectLst/>
                <a:latin typeface="Helvetica Neue"/>
              </a:rPr>
              <a:t>y = 1/x</a:t>
            </a:r>
          </a:p>
        </p:txBody>
      </p:sp>
      <p:pic>
        <p:nvPicPr>
          <p:cNvPr id="5" name="그림 4">
            <a:extLst>
              <a:ext uri="{FF2B5EF4-FFF2-40B4-BE49-F238E27FC236}">
                <a16:creationId xmlns:a16="http://schemas.microsoft.com/office/drawing/2014/main" id="{DB1997A9-032C-4FF3-965A-B15C4D7DC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574" y="2987675"/>
            <a:ext cx="5019675" cy="3324225"/>
          </a:xfrm>
          <a:prstGeom prst="rect">
            <a:avLst/>
          </a:prstGeom>
        </p:spPr>
      </p:pic>
      <p:pic>
        <p:nvPicPr>
          <p:cNvPr id="7" name="그림 6">
            <a:extLst>
              <a:ext uri="{FF2B5EF4-FFF2-40B4-BE49-F238E27FC236}">
                <a16:creationId xmlns:a16="http://schemas.microsoft.com/office/drawing/2014/main" id="{034F0337-FB49-4F79-91A1-D822FE8DD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532" y="1829309"/>
            <a:ext cx="4271338" cy="3199381"/>
          </a:xfrm>
          <a:prstGeom prst="rect">
            <a:avLst/>
          </a:prstGeom>
        </p:spPr>
      </p:pic>
      <p:pic>
        <p:nvPicPr>
          <p:cNvPr id="6" name="그림 5">
            <a:extLst>
              <a:ext uri="{FF2B5EF4-FFF2-40B4-BE49-F238E27FC236}">
                <a16:creationId xmlns:a16="http://schemas.microsoft.com/office/drawing/2014/main" id="{0A7665E5-240D-4088-9956-D078CC57C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219590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Regularization</a:t>
            </a:r>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19213EA9-3C0B-4349-9362-6149780D8ECB}"/>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22013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dirty="0"/>
              <a:t>Normalization is used as a way to prevent over-fitting of the model</a:t>
            </a:r>
          </a:p>
          <a:p>
            <a:r>
              <a:rPr lang="en-US" altLang="ko-KR" dirty="0"/>
              <a:t>In over-fitting, the error between the execution result and the correct answer data is very small, but the error between the result of executing the model with test data and the correct answer data is very large</a:t>
            </a:r>
            <a:endParaRPr lang="ko-KR" altLang="en-US" dirty="0"/>
          </a:p>
        </p:txBody>
      </p:sp>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2791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E29B7F-4E03-43C7-850F-72266A26D36C}"/>
              </a:ext>
            </a:extLst>
          </p:cNvPr>
          <p:cNvSpPr>
            <a:spLocks noGrp="1"/>
          </p:cNvSpPr>
          <p:nvPr>
            <p:ph type="title"/>
          </p:nvPr>
        </p:nvSpPr>
        <p:spPr/>
        <p:txBody>
          <a:bodyPr/>
          <a:lstStyle/>
          <a:p>
            <a:r>
              <a:rPr lang="en-US" altLang="ko-KR" dirty="0"/>
              <a:t>Fundamental concept</a:t>
            </a:r>
            <a:br>
              <a:rPr lang="en-US" altLang="ko-KR" dirty="0"/>
            </a:br>
            <a:r>
              <a:rPr lang="en-US" altLang="ko-KR" sz="2400" dirty="0"/>
              <a:t>making practice data</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3004C253-95F7-40CB-9025-032A70D4D9D8}"/>
                  </a:ext>
                </a:extLst>
              </p:cNvPr>
              <p:cNvSpPr>
                <a:spLocks noGrp="1"/>
              </p:cNvSpPr>
              <p:nvPr>
                <p:ph sz="half" idx="1"/>
              </p:nvPr>
            </p:nvSpPr>
            <p:spPr/>
            <p:txBody>
              <a:bodyPr/>
              <a:lstStyle/>
              <a:p>
                <a:r>
                  <a:rPr lang="en-US" altLang="ko-KR" b="0" i="0" dirty="0">
                    <a:solidFill>
                      <a:srgbClr val="000000"/>
                    </a:solidFill>
                    <a:effectLst/>
                  </a:rPr>
                  <a:t>We created data by adding random numbers to the function </a:t>
                </a: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func>
                      <m:funcPr>
                        <m:ctrlPr>
                          <a:rPr lang="en-US" altLang="ko-KR" b="0" i="1" smtClean="0">
                            <a:solidFill>
                              <a:srgbClr val="000000"/>
                            </a:solidFill>
                            <a:effectLst/>
                            <a:latin typeface="Cambria Math" panose="02040503050406030204" pitchFamily="18" charset="0"/>
                          </a:rPr>
                        </m:ctrlPr>
                      </m:funcPr>
                      <m:fName>
                        <m:r>
                          <m:rPr>
                            <m:sty m:val="p"/>
                          </m:rPr>
                          <a:rPr lang="en-US" altLang="ko-KR" b="0" i="1" smtClean="0">
                            <a:solidFill>
                              <a:srgbClr val="000000"/>
                            </a:solidFill>
                            <a:effectLst/>
                            <a:latin typeface="Cambria Math" panose="02040503050406030204" pitchFamily="18" charset="0"/>
                          </a:rPr>
                          <m:t>sin</m:t>
                        </m:r>
                      </m:fName>
                      <m:e>
                        <m:d>
                          <m:dPr>
                            <m:ctrlPr>
                              <a:rPr lang="en-US" altLang="ko-KR" b="0" i="1" smtClean="0">
                                <a:solidFill>
                                  <a:srgbClr val="000000"/>
                                </a:solidFill>
                                <a:effectLst/>
                                <a:latin typeface="Cambria Math" panose="02040503050406030204" pitchFamily="18" charset="0"/>
                              </a:rPr>
                            </m:ctrlPr>
                          </m:dPr>
                          <m:e>
                            <m:r>
                              <a:rPr lang="en-US" altLang="ko-KR" b="0" i="1" smtClean="0">
                                <a:solidFill>
                                  <a:srgbClr val="000000"/>
                                </a:solidFill>
                                <a:effectLst/>
                                <a:latin typeface="Cambria Math" panose="02040503050406030204" pitchFamily="18" charset="0"/>
                              </a:rPr>
                              <m:t>2</m:t>
                            </m:r>
                            <m:r>
                              <a:rPr lang="en-US" altLang="ko-KR" b="0" i="1" smtClean="0">
                                <a:solidFill>
                                  <a:srgbClr val="000000"/>
                                </a:solidFill>
                                <a:effectLst/>
                                <a:latin typeface="Cambria Math" panose="02040503050406030204" pitchFamily="18" charset="0"/>
                              </a:rPr>
                              <m:t>𝜋𝜒</m:t>
                            </m:r>
                          </m:e>
                        </m:d>
                      </m:e>
                    </m:func>
                  </m:oMath>
                </a14:m>
                <a:endParaRPr lang="en-US" altLang="ko-KR" dirty="0"/>
              </a:p>
              <a:p>
                <a:r>
                  <a:rPr lang="en-US" altLang="ko-KR" dirty="0"/>
                  <a:t>We’ll apply linear regression to this data to make it a machine learning model</a:t>
                </a:r>
              </a:p>
              <a:p>
                <a:r>
                  <a:rPr lang="en-US" altLang="ko-KR" dirty="0"/>
                  <a:t>When the order is increased, we’ll check how the learning error and test error change</a:t>
                </a:r>
                <a:endParaRPr lang="ko-KR" altLang="en-US" dirty="0"/>
              </a:p>
            </p:txBody>
          </p:sp>
        </mc:Choice>
        <mc:Fallback xmlns="">
          <p:sp>
            <p:nvSpPr>
              <p:cNvPr id="3" name="내용 개체 틀 2">
                <a:extLst>
                  <a:ext uri="{FF2B5EF4-FFF2-40B4-BE49-F238E27FC236}">
                    <a16:creationId xmlns:a16="http://schemas.microsoft.com/office/drawing/2014/main" id="{3004C253-95F7-40CB-9025-032A70D4D9D8}"/>
                  </a:ext>
                </a:extLst>
              </p:cNvPr>
              <p:cNvSpPr>
                <a:spLocks noGrp="1" noRot="1" noChangeAspect="1" noMove="1" noResize="1" noEditPoints="1" noAdjustHandles="1" noChangeArrowheads="1" noChangeShapeType="1" noTextEdit="1"/>
              </p:cNvSpPr>
              <p:nvPr>
                <p:ph sz="half" idx="1"/>
              </p:nvPr>
            </p:nvSpPr>
            <p:spPr>
              <a:blipFill>
                <a:blip r:embed="rId2"/>
                <a:stretch>
                  <a:fillRect l="-2118" t="-2381" r="-2000"/>
                </a:stretch>
              </a:blipFill>
            </p:spPr>
            <p:txBody>
              <a:bodyPr/>
              <a:lstStyle/>
              <a:p>
                <a:r>
                  <a:rPr lang="ko-KR" altLang="en-US">
                    <a:noFill/>
                  </a:rPr>
                  <a:t> </a:t>
                </a:r>
              </a:p>
            </p:txBody>
          </p:sp>
        </mc:Fallback>
      </mc:AlternateContent>
      <p:pic>
        <p:nvPicPr>
          <p:cNvPr id="7" name="내용 개체 틀 6">
            <a:extLst>
              <a:ext uri="{FF2B5EF4-FFF2-40B4-BE49-F238E27FC236}">
                <a16:creationId xmlns:a16="http://schemas.microsoft.com/office/drawing/2014/main" id="{03476510-8DD3-401E-8EF3-71CA8A78B9D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046273"/>
            <a:ext cx="5181600" cy="3910041"/>
          </a:xfrm>
        </p:spPr>
      </p:pic>
      <p:pic>
        <p:nvPicPr>
          <p:cNvPr id="5" name="그림 4">
            <a:extLst>
              <a:ext uri="{FF2B5EF4-FFF2-40B4-BE49-F238E27FC236}">
                <a16:creationId xmlns:a16="http://schemas.microsoft.com/office/drawing/2014/main" id="{308C5408-F85B-41D2-AD6C-AD7855A73A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59676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Learning errors and test errors by order</a:t>
            </a:r>
            <a:endParaRPr lang="ko-KR" altLang="en-US" dirty="0"/>
          </a:p>
        </p:txBody>
      </p:sp>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p:txBody>
          <a:bodyPr>
            <a:normAutofit lnSpcReduction="10000"/>
          </a:bodyPr>
          <a:lstStyle/>
          <a:p>
            <a:r>
              <a:rPr lang="en-US" altLang="ko-KR" dirty="0"/>
              <a:t>As</a:t>
            </a:r>
            <a:r>
              <a:rPr lang="ko-KR" altLang="en-US" dirty="0"/>
              <a:t> </a:t>
            </a:r>
            <a:r>
              <a:rPr lang="en-US" altLang="ko-KR" dirty="0"/>
              <a:t>the</a:t>
            </a:r>
            <a:r>
              <a:rPr lang="ko-KR" altLang="en-US" dirty="0"/>
              <a:t> </a:t>
            </a:r>
            <a:r>
              <a:rPr lang="en-US" altLang="ko-KR" dirty="0"/>
              <a:t>order</a:t>
            </a:r>
            <a:r>
              <a:rPr lang="ko-KR" altLang="en-US" dirty="0"/>
              <a:t> </a:t>
            </a:r>
            <a:r>
              <a:rPr lang="en-US" altLang="ko-KR" dirty="0"/>
              <a:t>increases,</a:t>
            </a:r>
            <a:r>
              <a:rPr lang="ko-KR" altLang="en-US" dirty="0"/>
              <a:t> </a:t>
            </a:r>
            <a:r>
              <a:rPr lang="en-US" altLang="ko-KR" dirty="0"/>
              <a:t>the</a:t>
            </a:r>
            <a:r>
              <a:rPr lang="ko-KR" altLang="en-US" dirty="0"/>
              <a:t> </a:t>
            </a:r>
            <a:r>
              <a:rPr lang="en-US" altLang="ko-KR" dirty="0"/>
              <a:t>learning</a:t>
            </a:r>
            <a:r>
              <a:rPr lang="ko-KR" altLang="en-US" dirty="0"/>
              <a:t> </a:t>
            </a:r>
            <a:r>
              <a:rPr lang="en-US" altLang="ko-KR" dirty="0"/>
              <a:t>error</a:t>
            </a:r>
            <a:r>
              <a:rPr lang="ko-KR" altLang="en-US" dirty="0"/>
              <a:t> </a:t>
            </a:r>
            <a:r>
              <a:rPr lang="en-US" altLang="ko-KR" dirty="0"/>
              <a:t>gradually</a:t>
            </a:r>
            <a:r>
              <a:rPr lang="ko-KR" altLang="en-US" dirty="0"/>
              <a:t> </a:t>
            </a:r>
            <a:r>
              <a:rPr lang="en-US" altLang="ko-KR" dirty="0"/>
              <a:t>decreases</a:t>
            </a:r>
          </a:p>
          <a:p>
            <a:r>
              <a:rPr lang="en-US" altLang="ko-KR" dirty="0"/>
              <a:t>The test error increases as the order increases</a:t>
            </a:r>
          </a:p>
          <a:p>
            <a:r>
              <a:rPr lang="en-US" altLang="ko-KR" b="0" i="0" dirty="0">
                <a:solidFill>
                  <a:srgbClr val="000000"/>
                </a:solidFill>
                <a:effectLst/>
              </a:rPr>
              <a:t>The sixth-order linear regression is a complex model, so learning errors are reduced, but over-fitting occurs and cannot be called a generalized model.</a:t>
            </a:r>
            <a:endParaRPr lang="ko-KR" altLang="en-US" dirty="0"/>
          </a:p>
        </p:txBody>
      </p:sp>
      <p:graphicFrame>
        <p:nvGraphicFramePr>
          <p:cNvPr id="6" name="표 6">
            <a:extLst>
              <a:ext uri="{FF2B5EF4-FFF2-40B4-BE49-F238E27FC236}">
                <a16:creationId xmlns:a16="http://schemas.microsoft.com/office/drawing/2014/main" id="{04AE283B-08F1-450E-A369-B3ECC640DD57}"/>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0.618</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0.176</a:t>
                      </a:r>
                      <a:endParaRPr lang="ko-KR" altLang="en-US" dirty="0"/>
                    </a:p>
                  </a:txBody>
                  <a:tcPr/>
                </a:tc>
                <a:tc>
                  <a:txBody>
                    <a:bodyPr/>
                    <a:lstStyle/>
                    <a:p>
                      <a:pPr algn="ctr" latinLnBrk="1"/>
                      <a:r>
                        <a:rPr lang="en-US" altLang="ko-KR" dirty="0"/>
                        <a:t>0.193</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0.081</a:t>
                      </a:r>
                      <a:endParaRPr lang="ko-KR" altLang="en-US" dirty="0"/>
                    </a:p>
                  </a:txBody>
                  <a:tcPr/>
                </a:tc>
                <a:tc>
                  <a:txBody>
                    <a:bodyPr/>
                    <a:lstStyle/>
                    <a:p>
                      <a:pPr algn="ctr" latinLnBrk="1"/>
                      <a:r>
                        <a:rPr lang="en-US" altLang="ko-KR" dirty="0"/>
                        <a:t>0.492</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0.024</a:t>
                      </a:r>
                      <a:endParaRPr lang="ko-KR" altLang="en-US" dirty="0"/>
                    </a:p>
                  </a:txBody>
                  <a:tcPr/>
                </a:tc>
                <a:tc>
                  <a:txBody>
                    <a:bodyPr/>
                    <a:lstStyle/>
                    <a:p>
                      <a:pPr algn="ctr" latinLnBrk="1"/>
                      <a:r>
                        <a:rPr lang="en-US" altLang="ko-KR" dirty="0"/>
                        <a:t>3.472</a:t>
                      </a:r>
                      <a:endParaRPr lang="ko-KR" altLang="en-US" dirty="0"/>
                    </a:p>
                  </a:txBody>
                  <a:tcPr/>
                </a:tc>
                <a:extLst>
                  <a:ext uri="{0D108BD9-81ED-4DB2-BD59-A6C34878D82A}">
                    <a16:rowId xmlns:a16="http://schemas.microsoft.com/office/drawing/2014/main" val="1208870466"/>
                  </a:ext>
                </a:extLst>
              </a:tr>
            </a:tbl>
          </a:graphicData>
        </a:graphic>
      </p:graphicFrame>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47850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Consequences of using normalization for linear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p:txBody>
          <a:bodyPr/>
          <a:lstStyle/>
          <a:p>
            <a:r>
              <a:rPr lang="en-US" altLang="ko-KR" b="0" i="0" dirty="0">
                <a:solidFill>
                  <a:srgbClr val="000000"/>
                </a:solidFill>
                <a:effectLst/>
              </a:rPr>
              <a:t>Normalization prevents over-fitting by adding a penalty term to the loss function</a:t>
            </a:r>
          </a:p>
          <a:p>
            <a:r>
              <a:rPr lang="en-US" altLang="ko-KR" b="0" i="0" dirty="0">
                <a:solidFill>
                  <a:srgbClr val="000000"/>
                </a:solidFill>
                <a:effectLst/>
              </a:rPr>
              <a:t>When the order increased, the test error did not increase, so that over-fitting could be prevented</a:t>
            </a:r>
          </a:p>
          <a:p>
            <a:r>
              <a:rPr lang="en-US" altLang="ko-KR" dirty="0">
                <a:solidFill>
                  <a:srgbClr val="000000"/>
                </a:solidFill>
              </a:rPr>
              <a:t>We’re going to regularization method as a ridge regression</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8" name="표 6">
            <a:extLst>
              <a:ext uri="{FF2B5EF4-FFF2-40B4-BE49-F238E27FC236}">
                <a16:creationId xmlns:a16="http://schemas.microsoft.com/office/drawing/2014/main" id="{444CCF21-D6DC-4B60-959C-6D9BF1D03F02}"/>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0.612</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0.372</a:t>
                      </a:r>
                      <a:endParaRPr lang="ko-KR" altLang="en-US" dirty="0"/>
                    </a:p>
                  </a:txBody>
                  <a:tcPr/>
                </a:tc>
                <a:tc>
                  <a:txBody>
                    <a:bodyPr/>
                    <a:lstStyle/>
                    <a:p>
                      <a:pPr algn="ctr" latinLnBrk="1"/>
                      <a:r>
                        <a:rPr lang="en-US" altLang="ko-KR" dirty="0"/>
                        <a:t>0.532</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0.301</a:t>
                      </a:r>
                      <a:endParaRPr lang="ko-KR" altLang="en-US" dirty="0"/>
                    </a:p>
                  </a:txBody>
                  <a:tcPr/>
                </a:tc>
                <a:tc>
                  <a:txBody>
                    <a:bodyPr/>
                    <a:lstStyle/>
                    <a:p>
                      <a:pPr algn="ctr" latinLnBrk="1"/>
                      <a:r>
                        <a:rPr lang="en-US" altLang="ko-KR" dirty="0"/>
                        <a:t>0.394</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0.159</a:t>
                      </a:r>
                      <a:endParaRPr lang="ko-KR" altLang="en-US" dirty="0"/>
                    </a:p>
                  </a:txBody>
                  <a:tcPr/>
                </a:tc>
                <a:tc>
                  <a:txBody>
                    <a:bodyPr/>
                    <a:lstStyle/>
                    <a:p>
                      <a:pPr algn="ctr" latinLnBrk="1"/>
                      <a:r>
                        <a:rPr lang="en-US" altLang="ko-KR" dirty="0"/>
                        <a:t>0.331</a:t>
                      </a:r>
                      <a:endParaRPr lang="ko-KR" altLang="en-US" dirty="0"/>
                    </a:p>
                  </a:txBody>
                  <a:tcPr/>
                </a:tc>
                <a:extLst>
                  <a:ext uri="{0D108BD9-81ED-4DB2-BD59-A6C34878D82A}">
                    <a16:rowId xmlns:a16="http://schemas.microsoft.com/office/drawing/2014/main" val="1208870466"/>
                  </a:ext>
                </a:extLst>
              </a:tr>
            </a:tbl>
          </a:graphicData>
        </a:graphic>
      </p:graphicFrame>
    </p:spTree>
    <p:extLst>
      <p:ext uri="{BB962C8B-B14F-4D97-AF65-F5344CB8AC3E}">
        <p14:creationId xmlns:p14="http://schemas.microsoft.com/office/powerpoint/2010/main" val="2401848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only linear regression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dirty="0"/>
              <a:t>As the order increases, the absolute value of the learning parameter gradually increases.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533421685"/>
                  </p:ext>
                </p:extLst>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endParaRPr lang="ko-KR"/>
                        </a:p>
                      </a:txBody>
                      <a:tcPr>
                        <a:blipFill>
                          <a:blip r:embed="rId3"/>
                          <a:stretch>
                            <a:fillRect l="-64634" t="-8197" r="-503049" b="-598361"/>
                          </a:stretch>
                        </a:blipFill>
                      </a:tcPr>
                    </a:tc>
                    <a:tc>
                      <a:txBody>
                        <a:bodyPr/>
                        <a:lstStyle/>
                        <a:p>
                          <a:endParaRPr lang="ko-KR"/>
                        </a:p>
                      </a:txBody>
                      <a:tcPr>
                        <a:blipFill>
                          <a:blip r:embed="rId3"/>
                          <a:stretch>
                            <a:fillRect l="-164634" t="-8197" r="-403049" b="-598361"/>
                          </a:stretch>
                        </a:blipFill>
                      </a:tcPr>
                    </a:tc>
                    <a:tc>
                      <a:txBody>
                        <a:bodyPr/>
                        <a:lstStyle/>
                        <a:p>
                          <a:endParaRPr lang="ko-KR"/>
                        </a:p>
                      </a:txBody>
                      <a:tcPr>
                        <a:blipFill>
                          <a:blip r:embed="rId3"/>
                          <a:stretch>
                            <a:fillRect l="-263030" t="-8197" r="-300606" b="-598361"/>
                          </a:stretch>
                        </a:blipFill>
                      </a:tcPr>
                    </a:tc>
                    <a:tc>
                      <a:txBody>
                        <a:bodyPr/>
                        <a:lstStyle/>
                        <a:p>
                          <a:endParaRPr lang="ko-KR"/>
                        </a:p>
                      </a:txBody>
                      <a:tcPr>
                        <a:blipFill>
                          <a:blip r:embed="rId3"/>
                          <a:stretch>
                            <a:fillRect l="-365244" t="-8197" r="-202439" b="-598361"/>
                          </a:stretch>
                        </a:blipFill>
                      </a:tcPr>
                    </a:tc>
                    <a:tc>
                      <a:txBody>
                        <a:bodyPr/>
                        <a:lstStyle/>
                        <a:p>
                          <a:endParaRPr lang="ko-KR"/>
                        </a:p>
                      </a:txBody>
                      <a:tcPr>
                        <a:blipFill>
                          <a:blip r:embed="rId3"/>
                          <a:stretch>
                            <a:fillRect l="-465244" t="-8197" r="-102439" b="-598361"/>
                          </a:stretch>
                        </a:blipFill>
                      </a:tcPr>
                    </a:tc>
                    <a:tc>
                      <a:txBody>
                        <a:bodyPr/>
                        <a:lstStyle/>
                        <a:p>
                          <a:endParaRPr lang="ko-KR"/>
                        </a:p>
                      </a:txBody>
                      <a:tcPr>
                        <a:blipFill>
                          <a:blip r:embed="rId3"/>
                          <a:stretch>
                            <a:fillRect l="-565244" t="-8197" r="-2439" b="-598361"/>
                          </a:stretch>
                        </a:blipFill>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64008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701121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linear regression with</a:t>
            </a:r>
            <a:r>
              <a:rPr lang="ko-KR" altLang="en-US" sz="2400" dirty="0"/>
              <a:t> </a:t>
            </a:r>
            <a:r>
              <a:rPr lang="en-US" altLang="ko-KR" sz="2400" dirty="0"/>
              <a:t>normalization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b="0" i="0" dirty="0">
                <a:solidFill>
                  <a:srgbClr val="000000"/>
                </a:solidFill>
                <a:effectLst/>
              </a:rPr>
              <a:t>Normalization reduces the increase in learning parameters.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1958769026"/>
                  </p:ext>
                </p:extLst>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endParaRPr lang="ko-KR"/>
                        </a:p>
                      </a:txBody>
                      <a:tcPr>
                        <a:blipFill>
                          <a:blip r:embed="rId3"/>
                          <a:stretch>
                            <a:fillRect l="-64634" t="-8197" r="-503049" b="-524590"/>
                          </a:stretch>
                        </a:blipFill>
                      </a:tcPr>
                    </a:tc>
                    <a:tc>
                      <a:txBody>
                        <a:bodyPr/>
                        <a:lstStyle/>
                        <a:p>
                          <a:endParaRPr lang="ko-KR"/>
                        </a:p>
                      </a:txBody>
                      <a:tcPr>
                        <a:blipFill>
                          <a:blip r:embed="rId3"/>
                          <a:stretch>
                            <a:fillRect l="-164634" t="-8197" r="-403049" b="-524590"/>
                          </a:stretch>
                        </a:blipFill>
                      </a:tcPr>
                    </a:tc>
                    <a:tc>
                      <a:txBody>
                        <a:bodyPr/>
                        <a:lstStyle/>
                        <a:p>
                          <a:endParaRPr lang="ko-KR"/>
                        </a:p>
                      </a:txBody>
                      <a:tcPr>
                        <a:blipFill>
                          <a:blip r:embed="rId3"/>
                          <a:stretch>
                            <a:fillRect l="-263030" t="-8197" r="-300606" b="-524590"/>
                          </a:stretch>
                        </a:blipFill>
                      </a:tcPr>
                    </a:tc>
                    <a:tc>
                      <a:txBody>
                        <a:bodyPr/>
                        <a:lstStyle/>
                        <a:p>
                          <a:endParaRPr lang="ko-KR"/>
                        </a:p>
                      </a:txBody>
                      <a:tcPr>
                        <a:blipFill>
                          <a:blip r:embed="rId3"/>
                          <a:stretch>
                            <a:fillRect l="-365244" t="-8197" r="-202439" b="-524590"/>
                          </a:stretch>
                        </a:blipFill>
                      </a:tcPr>
                    </a:tc>
                    <a:tc>
                      <a:txBody>
                        <a:bodyPr/>
                        <a:lstStyle/>
                        <a:p>
                          <a:endParaRPr lang="ko-KR"/>
                        </a:p>
                      </a:txBody>
                      <a:tcPr>
                        <a:blipFill>
                          <a:blip r:embed="rId3"/>
                          <a:stretch>
                            <a:fillRect l="-465244" t="-8197" r="-102439" b="-524590"/>
                          </a:stretch>
                        </a:blipFill>
                      </a:tcPr>
                    </a:tc>
                    <a:tc>
                      <a:txBody>
                        <a:bodyPr/>
                        <a:lstStyle/>
                        <a:p>
                          <a:endParaRPr lang="ko-KR"/>
                        </a:p>
                      </a:txBody>
                      <a:tcPr>
                        <a:blipFill>
                          <a:blip r:embed="rId3"/>
                          <a:stretch>
                            <a:fillRect l="-565244" t="-8197" r="-2439" b="-524590"/>
                          </a:stretch>
                        </a:blipFill>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3456018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Algorithm</a:t>
            </a:r>
            <a:br>
              <a:rPr lang="en-US" altLang="ko-KR" dirty="0"/>
            </a:br>
            <a:r>
              <a:rPr lang="en-US" altLang="ko-KR" sz="2400" dirty="0"/>
              <a:t>loss function and penalty term</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a:xfrm>
                <a:off x="838199" y="1825625"/>
                <a:ext cx="10515599" cy="4351338"/>
              </a:xfrm>
            </p:spPr>
            <p:txBody>
              <a:bodyPr>
                <a:normAutofit lnSpcReduction="10000"/>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sz="2800" b="0" i="1" smtClean="0">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oMath>
                </a14:m>
                <a:r>
                  <a:rPr lang="ko-KR" altLang="en-US" sz="2800" dirty="0"/>
                  <a:t> </a:t>
                </a:r>
                <a:r>
                  <a:rPr lang="en-US" altLang="ko-KR" sz="2800" dirty="0"/>
                  <a:t>is a linear regression loss function</a:t>
                </a:r>
              </a:p>
              <a:p>
                <a14:m>
                  <m:oMath xmlns:m="http://schemas.openxmlformats.org/officeDocument/2006/math">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ko-KR" altLang="en-US" sz="2800" dirty="0"/>
                  <a:t> </a:t>
                </a:r>
                <a:r>
                  <a:rPr lang="en-US" altLang="ko-KR" sz="2800" dirty="0"/>
                  <a:t>is a penalty term which is learning parameter’s square shape</a:t>
                </a:r>
              </a:p>
              <a:p>
                <a14:m>
                  <m:oMath xmlns:m="http://schemas.openxmlformats.org/officeDocument/2006/math">
                    <m:r>
                      <a:rPr lang="ko-KR" altLang="en-US" i="1">
                        <a:latin typeface="Cambria Math" panose="02040503050406030204" pitchFamily="18" charset="0"/>
                      </a:rPr>
                      <m:t>𝛼</m:t>
                    </m:r>
                    <m:d>
                      <m:dPr>
                        <m:ctrlPr>
                          <a:rPr lang="en-US" altLang="ko-KR" sz="2800" b="0" i="1" smtClean="0">
                            <a:latin typeface="Cambria Math" panose="02040503050406030204" pitchFamily="18" charset="0"/>
                            <a:ea typeface="Cambria Math" panose="02040503050406030204" pitchFamily="18" charset="0"/>
                          </a:rPr>
                        </m:ctrlPr>
                      </m:dPr>
                      <m:e>
                        <m:r>
                          <a:rPr lang="en-US" altLang="ko-KR" sz="2800" b="0" i="1" smtClean="0">
                            <a:latin typeface="Cambria Math" panose="02040503050406030204" pitchFamily="18" charset="0"/>
                            <a:ea typeface="Cambria Math" panose="02040503050406030204" pitchFamily="18" charset="0"/>
                          </a:rPr>
                          <m:t>≥0</m:t>
                        </m:r>
                      </m:e>
                    </m:d>
                  </m:oMath>
                </a14:m>
                <a:r>
                  <a:rPr lang="en-US" altLang="ko-KR" sz="2800" dirty="0"/>
                  <a:t> is </a:t>
                </a:r>
                <a:r>
                  <a:rPr lang="en-US" altLang="ko-KR" dirty="0"/>
                  <a:t>a parameter that adjusts the intensity of normalization</a:t>
                </a:r>
              </a:p>
              <a:p>
                <a:r>
                  <a:rPr lang="en-US" altLang="ko-KR" sz="2800" dirty="0"/>
                  <a:t>If a, b is in</a:t>
                </a:r>
                <a:r>
                  <a:rPr lang="en-US" altLang="ko-KR" dirty="0"/>
                  <a:t>creasing,</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 increase, and linear regression loss function value increase</a:t>
                </a:r>
              </a:p>
              <a:p>
                <a:r>
                  <a:rPr lang="en-US" altLang="ko-KR" sz="2800" dirty="0"/>
                  <a:t>By making a, b minimize,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a:t>
                </a:r>
                <a:r>
                  <a:rPr lang="en-US" altLang="ko-KR" sz="2800" dirty="0"/>
                  <a:t> minimized and linear regression loss function minimized</a:t>
                </a:r>
              </a:p>
            </p:txBody>
          </p:sp>
        </mc:Choice>
        <mc:Fallback xmlns="">
          <p:sp>
            <p:nvSpPr>
              <p:cNvPr id="3" name="내용 개체 틀 2">
                <a:extLst>
                  <a:ext uri="{FF2B5EF4-FFF2-40B4-BE49-F238E27FC236}">
                    <a16:creationId xmlns:a16="http://schemas.microsoft.com/office/drawing/2014/main" id="{A05EA078-0B4E-4542-A0E3-73C078BCBEBC}"/>
                  </a:ext>
                </a:extLst>
              </p:cNvPr>
              <p:cNvSpPr>
                <a:spLocks noGrp="1" noRot="1" noChangeAspect="1" noMove="1" noResize="1" noEditPoints="1" noAdjustHandles="1" noChangeArrowheads="1" noChangeShapeType="1" noTextEdit="1"/>
              </p:cNvSpPr>
              <p:nvPr>
                <p:ph sz="half" idx="1"/>
              </p:nvPr>
            </p:nvSpPr>
            <p:spPr>
              <a:xfrm>
                <a:off x="838199" y="1825625"/>
                <a:ext cx="10515599" cy="4351338"/>
              </a:xfrm>
              <a:blipFill>
                <a:blip r:embed="rId2"/>
                <a:stretch>
                  <a:fillRect l="-986" r="-58" b="-420"/>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330330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fontScale="92500"/>
          </a:bodyPr>
          <a:lstStyle/>
          <a:p>
            <a:r>
              <a:rPr lang="en-US" altLang="ko-KR" dirty="0"/>
              <a:t>Import </a:t>
            </a:r>
            <a:r>
              <a:rPr lang="en-US" altLang="ko-KR" dirty="0" err="1"/>
              <a:t>numpy</a:t>
            </a:r>
            <a:r>
              <a:rPr lang="en-US" altLang="ko-KR" dirty="0"/>
              <a:t>, </a:t>
            </a:r>
            <a:r>
              <a:rPr lang="en-US" altLang="ko-KR" dirty="0" err="1"/>
              <a:t>PolynomialFeatures</a:t>
            </a:r>
            <a:r>
              <a:rPr lang="en-US" altLang="ko-KR" dirty="0"/>
              <a:t>, Ridge, </a:t>
            </a:r>
            <a:r>
              <a:rPr lang="en-US" altLang="ko-KR" dirty="0" err="1"/>
              <a:t>mean_squared_error</a:t>
            </a:r>
            <a:endParaRPr lang="en-US" altLang="ko-KR" dirty="0"/>
          </a:p>
          <a:p>
            <a:r>
              <a:rPr lang="en-US" altLang="ko-KR" dirty="0"/>
              <a:t>Set training data and test data</a:t>
            </a:r>
          </a:p>
          <a:p>
            <a:r>
              <a:rPr lang="en-US" altLang="ko-KR" dirty="0"/>
              <a:t>Construct a six-order linear regression model</a:t>
            </a:r>
          </a:p>
          <a:p>
            <a:r>
              <a:rPr lang="en-US" altLang="ko-KR" dirty="0"/>
              <a:t>Conversion</a:t>
            </a:r>
            <a:r>
              <a:rPr lang="ko-KR" altLang="en-US" dirty="0"/>
              <a:t> </a:t>
            </a:r>
            <a:r>
              <a:rPr lang="en-US" altLang="ko-KR" dirty="0"/>
              <a:t>of</a:t>
            </a:r>
            <a:r>
              <a:rPr lang="ko-KR" altLang="en-US" dirty="0"/>
              <a:t> </a:t>
            </a:r>
            <a:r>
              <a:rPr lang="en-US" altLang="ko-KR" dirty="0"/>
              <a:t>the</a:t>
            </a:r>
            <a:r>
              <a:rPr lang="ko-KR" altLang="en-US" dirty="0"/>
              <a:t> </a:t>
            </a:r>
            <a:r>
              <a:rPr lang="en-US" altLang="ko-KR" dirty="0"/>
              <a:t>results</a:t>
            </a:r>
            <a:r>
              <a:rPr lang="ko-KR" altLang="en-US" dirty="0"/>
              <a:t> </a:t>
            </a:r>
            <a:r>
              <a:rPr lang="en-US" altLang="ko-KR" dirty="0"/>
              <a:t>into</a:t>
            </a:r>
            <a:r>
              <a:rPr lang="ko-KR" altLang="en-US" dirty="0"/>
              <a:t> </a:t>
            </a:r>
            <a:r>
              <a:rPr lang="en-US" altLang="ko-KR" dirty="0"/>
              <a:t>an</a:t>
            </a:r>
            <a:r>
              <a:rPr lang="ko-KR" altLang="en-US" dirty="0"/>
              <a:t> </a:t>
            </a:r>
            <a:r>
              <a:rPr lang="en-US" altLang="ko-KR" dirty="0"/>
              <a:t>array</a:t>
            </a:r>
            <a:r>
              <a:rPr lang="ko-KR" altLang="en-US" dirty="0"/>
              <a:t> </a:t>
            </a:r>
            <a:r>
              <a:rPr lang="en-US" altLang="ko-KR" dirty="0"/>
              <a:t>after</a:t>
            </a:r>
            <a:r>
              <a:rPr lang="ko-KR" altLang="en-US" dirty="0"/>
              <a:t> </a:t>
            </a:r>
            <a:r>
              <a:rPr lang="en-US" altLang="ko-KR" dirty="0"/>
              <a:t>learning</a:t>
            </a:r>
            <a:r>
              <a:rPr lang="ko-KR" altLang="en-US" dirty="0"/>
              <a:t> </a:t>
            </a:r>
            <a:r>
              <a:rPr lang="en-US" altLang="ko-KR" dirty="0"/>
              <a:t>the</a:t>
            </a:r>
            <a:r>
              <a:rPr lang="ko-KR" altLang="en-US" dirty="0"/>
              <a:t> </a:t>
            </a:r>
            <a:r>
              <a:rPr lang="en-US" altLang="ko-KR" dirty="0"/>
              <a:t>characteristics</a:t>
            </a:r>
            <a:r>
              <a:rPr lang="ko-KR" altLang="en-US" dirty="0"/>
              <a:t> </a:t>
            </a:r>
            <a:r>
              <a:rPr lang="en-US" altLang="ko-KR" dirty="0"/>
              <a:t>of</a:t>
            </a:r>
            <a:r>
              <a:rPr lang="ko-KR" altLang="en-US" dirty="0"/>
              <a:t> </a:t>
            </a:r>
            <a:r>
              <a:rPr lang="en-US" altLang="ko-KR" dirty="0"/>
              <a:t>the</a:t>
            </a:r>
            <a:r>
              <a:rPr lang="ko-KR" altLang="en-US" dirty="0"/>
              <a:t> </a:t>
            </a:r>
            <a:r>
              <a:rPr lang="en-US" altLang="ko-KR" dirty="0"/>
              <a:t>learning data in the sixth equation</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DB4E4D8D-7F59-4DA1-8564-22A7BAB83C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690688"/>
            <a:ext cx="5181600" cy="3573517"/>
          </a:xfrm>
        </p:spPr>
      </p:pic>
    </p:spTree>
    <p:extLst>
      <p:ext uri="{BB962C8B-B14F-4D97-AF65-F5344CB8AC3E}">
        <p14:creationId xmlns:p14="http://schemas.microsoft.com/office/powerpoint/2010/main" val="860049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dirty="0"/>
              <a:t>Make ridge model and </a:t>
            </a:r>
            <a:r>
              <a:rPr lang="en-US" altLang="ko-KR" dirty="0">
                <a:solidFill>
                  <a:srgbClr val="000000"/>
                </a:solidFill>
              </a:rPr>
              <a:t>learn</a:t>
            </a:r>
            <a:r>
              <a:rPr lang="en-US" altLang="ko-KR" b="0" i="0" dirty="0">
                <a:solidFill>
                  <a:srgbClr val="000000"/>
                </a:solidFill>
                <a:effectLst/>
              </a:rPr>
              <a:t> as a dependent variable of 6th-order learning outcomes and learning data</a:t>
            </a:r>
          </a:p>
          <a:p>
            <a:r>
              <a:rPr lang="en-US" altLang="ko-KR" dirty="0"/>
              <a:t>Predict output results of models made by learning from rigid regression</a:t>
            </a:r>
          </a:p>
          <a:p>
            <a:r>
              <a:rPr lang="en-US" altLang="ko-KR" dirty="0"/>
              <a:t>Calculation of mean square error</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C4A49CA-E746-4843-8CBD-E4ACDD40379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295684"/>
          </a:xfrm>
        </p:spPr>
      </p:pic>
    </p:spTree>
    <p:extLst>
      <p:ext uri="{BB962C8B-B14F-4D97-AF65-F5344CB8AC3E}">
        <p14:creationId xmlns:p14="http://schemas.microsoft.com/office/powerpoint/2010/main" val="3249153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Adjust normalization strength with</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oMath>
                </a14:m>
                <a:endParaRPr lang="ko-KR" altLang="en-US" dirty="0"/>
              </a:p>
            </p:txBody>
          </p:sp>
        </mc:Choice>
        <mc:Fallback xmlns="">
          <p:sp>
            <p:nvSpPr>
              <p:cNvPr id="2" name="제목 1">
                <a:extLst>
                  <a:ext uri="{FF2B5EF4-FFF2-40B4-BE49-F238E27FC236}">
                    <a16:creationId xmlns:a16="http://schemas.microsoft.com/office/drawing/2014/main" id="{C62B5975-9DE0-4663-B191-B96441AA5B6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b="0" i="0" dirty="0">
                    <a:solidFill>
                      <a:srgbClr val="000000"/>
                    </a:solidFill>
                    <a:effectLst/>
                  </a:rPr>
                  <a:t>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large, the increase in learning parameters decreases and the graph shape becomes simple.</a:t>
                </a:r>
              </a:p>
              <a:p>
                <a:r>
                  <a:rPr lang="en-US" altLang="ko-KR" b="0" i="0" dirty="0">
                    <a:solidFill>
                      <a:srgbClr val="000000"/>
                    </a:solidFill>
                    <a:effectLst/>
                  </a:rPr>
                  <a:t>Conversely, 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small, a penalty when the absolute value of the learning parameter increases is hardly given, making the model complicated.</a:t>
                </a:r>
              </a:p>
              <a:p>
                <a:r>
                  <a:rPr lang="en-US" altLang="ko-KR" b="0" i="0" dirty="0">
                    <a:solidFill>
                      <a:srgbClr val="000000"/>
                    </a:solidFill>
                    <a:effectLst/>
                  </a:rPr>
                  <a:t>If</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 0, it is the same state as linear regression without normalization.%</a:t>
                </a:r>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02562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LASSO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b="0" i="0" dirty="0">
                <a:solidFill>
                  <a:srgbClr val="000000"/>
                </a:solidFill>
                <a:effectLst/>
                <a:latin typeface="noto"/>
              </a:rPr>
              <a:t>In rigid regression, the graph is circular as shown in the right picture because the penalty term is the sum of the learning parameters squared.</a:t>
            </a:r>
          </a:p>
          <a:p>
            <a:r>
              <a:rPr lang="en-US" altLang="ko-KR" b="0" i="0">
                <a:solidFill>
                  <a:srgbClr val="000000"/>
                </a:solidFill>
                <a:effectLst/>
                <a:latin typeface="noto"/>
              </a:rPr>
              <a:t>In LASSO regression, the penalty term is the sum of the absolute values, so the graph is square as shown in the figure on the right.</a:t>
            </a:r>
            <a:endParaRPr lang="en-US" altLang="ko-KR"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C36E266A-4D03-4E2A-8572-CDE0925283C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644881"/>
          </a:xfrm>
        </p:spPr>
      </p:pic>
    </p:spTree>
    <p:extLst>
      <p:ext uri="{BB962C8B-B14F-4D97-AF65-F5344CB8AC3E}">
        <p14:creationId xmlns:p14="http://schemas.microsoft.com/office/powerpoint/2010/main" val="4188224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LASSO regression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𝑎</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𝑏</m:t>
                    </m:r>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r>
                  <a:rPr lang="en-US" altLang="ko-KR" dirty="0"/>
                  <a:t>Ridge regression and LASSO regression are the same in that the increase in learning parameters decreases as the penalty term is added</a:t>
                </a:r>
              </a:p>
              <a:p>
                <a:r>
                  <a:rPr lang="en-US" altLang="ko-KR" dirty="0"/>
                  <a:t>In LASSO regression, there is a difference that the </a:t>
                </a:r>
                <a14:m>
                  <m:oMath xmlns:m="http://schemas.openxmlformats.org/officeDocument/2006/math">
                    <m:r>
                      <a:rPr lang="en-US" altLang="ko-KR" i="1" dirty="0" smtClean="0">
                        <a:latin typeface="Cambria Math" panose="02040503050406030204" pitchFamily="18" charset="0"/>
                      </a:rPr>
                      <m:t>𝑏</m:t>
                    </m:r>
                  </m:oMath>
                </a14:m>
                <a:r>
                  <a:rPr lang="en-US" altLang="ko-KR" dirty="0"/>
                  <a:t> learning parameter is 0 at optimum solution</a:t>
                </a:r>
              </a:p>
              <a:p>
                <a:r>
                  <a:rPr lang="en-US" altLang="ko-KR" dirty="0"/>
                  <a:t>Therefore, in LASSO regression, the </a:t>
                </a:r>
                <a14:m>
                  <m:oMath xmlns:m="http://schemas.openxmlformats.org/officeDocument/2006/math">
                    <m:r>
                      <a:rPr lang="en-US" altLang="ko-KR" i="1" dirty="0" smtClean="0">
                        <a:latin typeface="Cambria Math" panose="02040503050406030204" pitchFamily="18" charset="0"/>
                      </a:rPr>
                      <m:t>𝑏</m:t>
                    </m:r>
                  </m:oMath>
                </a14:m>
                <a:r>
                  <a:rPr lang="en-US" altLang="ko-KR" dirty="0"/>
                  <a:t> parameter tends to become 0</a:t>
                </a:r>
              </a:p>
              <a:p>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2"/>
                <a:stretch>
                  <a:fillRect l="-1043" r="-11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16346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17D754-03F1-492A-8748-5EF1EF9E42F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6E791D23-5D3F-42EE-9C96-32BE049A2030}"/>
              </a:ext>
            </a:extLst>
          </p:cNvPr>
          <p:cNvSpPr>
            <a:spLocks noGrp="1"/>
          </p:cNvSpPr>
          <p:nvPr>
            <p:ph type="subTitle" idx="1"/>
          </p:nvPr>
        </p:nvSpPr>
        <p:spPr/>
        <p:txBody>
          <a:bodyPr/>
          <a:lstStyle/>
          <a:p>
            <a:r>
              <a:rPr lang="en-US" altLang="ko-KR" dirty="0"/>
              <a:t>Logistic Regression</a:t>
            </a:r>
            <a:endParaRPr lang="ko-KR" altLang="en-US" dirty="0"/>
          </a:p>
        </p:txBody>
      </p:sp>
      <p:pic>
        <p:nvPicPr>
          <p:cNvPr id="4" name="그림 3">
            <a:extLst>
              <a:ext uri="{FF2B5EF4-FFF2-40B4-BE49-F238E27FC236}">
                <a16:creationId xmlns:a16="http://schemas.microsoft.com/office/drawing/2014/main" id="{9E6A6545-4989-44A3-AAD6-322F477A3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EF33A593-C625-4558-A696-D69B9D7BEC4E}"/>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308112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C2B32DA4-E454-412F-968E-5E3126BE58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0481" y="1825625"/>
            <a:ext cx="5391038" cy="4351338"/>
          </a:xfrm>
        </p:spPr>
      </p:pic>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12290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Logistic regression is an algorithm that learns the probability of an event occurring</a:t>
            </a:r>
          </a:p>
          <a:p>
            <a:r>
              <a:rPr lang="en-US" altLang="ko-KR" dirty="0"/>
              <a:t>Usually, binary classification is performed, but more than three classification problems can also be dealt with</a:t>
            </a:r>
            <a:endParaRPr lang="ko-KR" altLang="en-US" dirty="0"/>
          </a:p>
        </p:txBody>
      </p:sp>
    </p:spTree>
    <p:extLst>
      <p:ext uri="{BB962C8B-B14F-4D97-AF65-F5344CB8AC3E}">
        <p14:creationId xmlns:p14="http://schemas.microsoft.com/office/powerpoint/2010/main" val="3672343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The deflection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ko-KR" altLang="en-US" dirty="0"/>
                  <a:t> </a:t>
                </a:r>
                <a:r>
                  <a:rPr lang="en-US" altLang="ko-KR" dirty="0"/>
                  <a:t>is added to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corresponding to the data </a:t>
                </a:r>
                <a14:m>
                  <m:oMath xmlns:m="http://schemas.openxmlformats.org/officeDocument/2006/math">
                    <m:r>
                      <a:rPr lang="en-US" altLang="ko-KR" b="0" i="1" smtClean="0">
                        <a:latin typeface="Cambria Math" panose="02040503050406030204" pitchFamily="18" charset="0"/>
                      </a:rPr>
                      <m:t>𝑥</m:t>
                    </m:r>
                  </m:oMath>
                </a14:m>
                <a:r>
                  <a:rPr lang="en-US" altLang="ko-KR" dirty="0"/>
                  <a:t> to calculate </a:t>
                </a: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𝑡</m:t>
                        </m:r>
                      </m:sup>
                    </m:sSup>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a:t>
                </a:r>
              </a:p>
              <a:p>
                <a:r>
                  <a:rPr lang="en-US" altLang="ko-KR" dirty="0"/>
                  <a:t>The same is true of learning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and the deflection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from the data</a:t>
                </a:r>
              </a:p>
              <a:p>
                <a:r>
                  <a:rPr lang="en-US" altLang="ko-KR" dirty="0"/>
                  <a:t>Unlike linear regression, the probability is calculated, so the range of output results should be between 0 and 1</a:t>
                </a:r>
              </a:p>
              <a:p>
                <a:r>
                  <a:rPr lang="en-US" altLang="ko-KR" dirty="0"/>
                  <a:t>Therefore, a value between 0 and 1 is returned using the sigmoid function</a:t>
                </a:r>
              </a:p>
              <a:p>
                <a:r>
                  <a:rPr lang="en-US" altLang="ko-KR" dirty="0"/>
                  <a:t>Sigmoid function: </a:t>
                </a:r>
                <a14:m>
                  <m:oMath xmlns:m="http://schemas.openxmlformats.org/officeDocument/2006/math">
                    <m:r>
                      <a:rPr lang="ko-KR" altLang="en-US" i="1" smtClean="0">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1</m:t>
                        </m:r>
                      </m:num>
                      <m:den>
                        <m:r>
                          <a:rPr lang="en-US" altLang="ko-KR" b="0" i="1" smtClean="0">
                            <a:latin typeface="Cambria Math" panose="02040503050406030204" pitchFamily="18" charset="0"/>
                          </a:rPr>
                          <m:t>1+</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𝑒</m:t>
                            </m:r>
                          </m:e>
                          <m:sup>
                            <m:r>
                              <a:rPr lang="en-US" altLang="ko-KR" b="0" i="1" smtClean="0">
                                <a:latin typeface="Cambria Math" panose="02040503050406030204" pitchFamily="18" charset="0"/>
                              </a:rPr>
                              <m:t>−</m:t>
                            </m:r>
                            <m:r>
                              <a:rPr lang="en-US" altLang="ko-KR" b="0" i="1" smtClean="0">
                                <a:latin typeface="Cambria Math" panose="02040503050406030204" pitchFamily="18" charset="0"/>
                              </a:rPr>
                              <m:t>𝑧</m:t>
                            </m:r>
                          </m:sup>
                        </m:sSup>
                      </m:den>
                    </m:f>
                  </m:oMath>
                </a14:m>
                <a:endParaRPr lang="en-US" altLang="ko-KR" dirty="0"/>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7693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br>
              <a:rPr lang="en-US" altLang="ko-KR" dirty="0"/>
            </a:br>
            <a:r>
              <a:rPr lang="en-US" altLang="ko-KR" sz="2400" dirty="0"/>
              <a:t>sigmoid function graph</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8391EA4-7F02-4B8A-91E5-CBBAC80755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26515" y="1690688"/>
            <a:ext cx="6660098" cy="4435488"/>
          </a:xfrm>
        </p:spPr>
      </p:pic>
    </p:spTree>
    <p:extLst>
      <p:ext uri="{BB962C8B-B14F-4D97-AF65-F5344CB8AC3E}">
        <p14:creationId xmlns:p14="http://schemas.microsoft.com/office/powerpoint/2010/main" val="2553874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14:m>
                  <m:oMath xmlns:m="http://schemas.openxmlformats.org/officeDocument/2006/math">
                    <m:r>
                      <a:rPr lang="ko-KR" altLang="en-US" i="1" smtClean="0">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m:t>
                        </m:r>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𝑡</m:t>
                        </m:r>
                      </m:sup>
                    </m:sSup>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r>
                      <a:rPr lang="en-US" altLang="ko-KR" b="0" i="0" smtClean="0">
                        <a:latin typeface="Cambria Math" panose="02040503050406030204" pitchFamily="18" charset="0"/>
                      </a:rPr>
                      <m:t>)</m:t>
                    </m:r>
                  </m:oMath>
                </a14:m>
                <a:r>
                  <a:rPr lang="en-US" altLang="ko-KR" b="0" i="0" dirty="0">
                    <a:solidFill>
                      <a:srgbClr val="000000"/>
                    </a:solidFill>
                    <a:effectLst/>
                  </a:rPr>
                  <a:t> is calculated as a probability p in which a label corresponding to data </a:t>
                </a:r>
                <a14:m>
                  <m:oMath xmlns:m="http://schemas.openxmlformats.org/officeDocument/2006/math">
                    <m:r>
                      <a:rPr lang="en-US" altLang="ko-KR" b="0" i="1" smtClean="0">
                        <a:solidFill>
                          <a:srgbClr val="000000"/>
                        </a:solidFill>
                        <a:effectLst/>
                        <a:latin typeface="Cambria Math" panose="02040503050406030204" pitchFamily="18" charset="0"/>
                      </a:rPr>
                      <m:t>𝑥</m:t>
                    </m:r>
                  </m:oMath>
                </a14:m>
                <a:r>
                  <a:rPr lang="en-US" altLang="ko-KR" b="0" i="0" dirty="0">
                    <a:solidFill>
                      <a:srgbClr val="000000"/>
                    </a:solidFill>
                    <a:effectLst/>
                  </a:rPr>
                  <a:t> is </a:t>
                </a:r>
                <a14:m>
                  <m:oMath xmlns:m="http://schemas.openxmlformats.org/officeDocument/2006/math">
                    <m:r>
                      <a:rPr lang="en-US" altLang="ko-KR" b="0" i="1" smtClean="0">
                        <a:solidFill>
                          <a:srgbClr val="000000"/>
                        </a:solidFill>
                        <a:effectLst/>
                        <a:latin typeface="Cambria Math" panose="02040503050406030204" pitchFamily="18" charset="0"/>
                      </a:rPr>
                      <m:t>𝑦</m:t>
                    </m:r>
                  </m:oMath>
                </a14:m>
                <a:r>
                  <a:rPr lang="en-US" altLang="ko-KR" b="0" i="0" dirty="0">
                    <a:solidFill>
                      <a:srgbClr val="000000"/>
                    </a:solidFill>
                    <a:effectLst/>
                  </a:rPr>
                  <a:t> as a sigmoid function.</a:t>
                </a:r>
              </a:p>
              <a:p>
                <a:r>
                  <a:rPr lang="en-US" altLang="ko-KR" b="0" i="0" dirty="0">
                    <a:solidFill>
                      <a:srgbClr val="000000"/>
                    </a:solidFill>
                    <a:effectLst/>
                  </a:rPr>
                  <a:t>Binary classification usually takes the probability of a prediction result of 0.5 as a threshold.</a:t>
                </a:r>
              </a:p>
              <a:p>
                <a:r>
                  <a:rPr lang="en-US" altLang="ko-KR" b="0" i="0" dirty="0">
                    <a:solidFill>
                      <a:srgbClr val="000000"/>
                    </a:solidFill>
                    <a:effectLst/>
                  </a:rPr>
                  <a:t>When learning, the error is minimized with the loss function of logistic regression.</a:t>
                </a:r>
              </a:p>
              <a:p>
                <a:r>
                  <a:rPr lang="en-US" altLang="ko-KR" b="0" i="0" dirty="0">
                    <a:solidFill>
                      <a:srgbClr val="000000"/>
                    </a:solidFill>
                    <a:effectLst/>
                  </a:rPr>
                  <a:t>Find the minimum value of the loss function value while calculating the slope of the logistic regression function value.</a:t>
                </a:r>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278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A02EBC-5843-476B-952A-2F057D5AC5F9}"/>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602B9CE-B91C-4A80-80A1-798D050CFA5D}"/>
              </a:ext>
            </a:extLst>
          </p:cNvPr>
          <p:cNvSpPr>
            <a:spLocks noGrp="1"/>
          </p:cNvSpPr>
          <p:nvPr>
            <p:ph sz="half" idx="1"/>
          </p:nvPr>
        </p:nvSpPr>
        <p:spPr/>
        <p:txBody>
          <a:bodyPr/>
          <a:lstStyle/>
          <a:p>
            <a:r>
              <a:rPr lang="en-US" altLang="ko-KR" dirty="0"/>
              <a:t>Import </a:t>
            </a:r>
            <a:r>
              <a:rPr lang="en-US" altLang="ko-KR" dirty="0" err="1"/>
              <a:t>numpy</a:t>
            </a:r>
            <a:r>
              <a:rPr lang="en-US" altLang="ko-KR" dirty="0"/>
              <a:t> and </a:t>
            </a:r>
            <a:r>
              <a:rPr lang="en-US" altLang="ko-KR" dirty="0" err="1"/>
              <a:t>sklearn</a:t>
            </a:r>
            <a:endParaRPr lang="en-US" altLang="ko-KR" dirty="0"/>
          </a:p>
          <a:p>
            <a:r>
              <a:rPr lang="en-US" altLang="ko-KR" dirty="0"/>
              <a:t>Make feature data</a:t>
            </a:r>
          </a:p>
          <a:p>
            <a:r>
              <a:rPr lang="en-US" altLang="ko-KR" dirty="0"/>
              <a:t>Make label data</a:t>
            </a:r>
          </a:p>
          <a:p>
            <a:r>
              <a:rPr lang="en-US" altLang="ko-KR" b="0" i="0" dirty="0">
                <a:solidFill>
                  <a:srgbClr val="000000"/>
                </a:solidFill>
                <a:effectLst/>
              </a:rPr>
              <a:t>generation and learning and prediction of logistic regression models</a:t>
            </a:r>
            <a:endParaRPr lang="ko-KR" altLang="en-US" dirty="0"/>
          </a:p>
        </p:txBody>
      </p:sp>
      <p:pic>
        <p:nvPicPr>
          <p:cNvPr id="6" name="내용 개체 틀 5">
            <a:extLst>
              <a:ext uri="{FF2B5EF4-FFF2-40B4-BE49-F238E27FC236}">
                <a16:creationId xmlns:a16="http://schemas.microsoft.com/office/drawing/2014/main" id="{343D88E5-6FA9-43FF-AAAC-0F465401D1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615517"/>
            <a:ext cx="5181600" cy="2771553"/>
          </a:xfrm>
        </p:spPr>
      </p:pic>
    </p:spTree>
    <p:extLst>
      <p:ext uri="{BB962C8B-B14F-4D97-AF65-F5344CB8AC3E}">
        <p14:creationId xmlns:p14="http://schemas.microsoft.com/office/powerpoint/2010/main" val="1013647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Determination boundary</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When unknown data is put into the model trained to solve the classification problem and classified, the classification result changes to a boundary of some data.</a:t>
            </a:r>
          </a:p>
          <a:p>
            <a:r>
              <a:rPr lang="en-US" altLang="ko-KR" dirty="0"/>
              <a:t>The boundary in which the classification results change is called the determination boundary.</a:t>
            </a:r>
          </a:p>
          <a:p>
            <a:r>
              <a:rPr lang="en-US" altLang="ko-KR" dirty="0"/>
              <a:t>In logistic regression, the decision boundary is where the result of calculated probability is 50%.</a:t>
            </a:r>
          </a:p>
        </p:txBody>
      </p:sp>
    </p:spTree>
    <p:extLst>
      <p:ext uri="{BB962C8B-B14F-4D97-AF65-F5344CB8AC3E}">
        <p14:creationId xmlns:p14="http://schemas.microsoft.com/office/powerpoint/2010/main" val="3548099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64F4A3-01D4-43B8-963A-9C8B3CFF5AD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00828F37-4AF5-48F5-BA7B-A7080A9EF62F}"/>
              </a:ext>
            </a:extLst>
          </p:cNvPr>
          <p:cNvSpPr>
            <a:spLocks noGrp="1"/>
          </p:cNvSpPr>
          <p:nvPr>
            <p:ph type="subTitle" idx="1"/>
          </p:nvPr>
        </p:nvSpPr>
        <p:spPr/>
        <p:txBody>
          <a:bodyPr/>
          <a:lstStyle/>
          <a:p>
            <a:r>
              <a:rPr lang="en-US" altLang="ko-KR" dirty="0"/>
              <a:t>SVM (Support Vector Machine)</a:t>
            </a:r>
            <a:endParaRPr lang="ko-KR" altLang="en-US" dirty="0"/>
          </a:p>
        </p:txBody>
      </p:sp>
      <p:pic>
        <p:nvPicPr>
          <p:cNvPr id="4" name="그림 3">
            <a:extLst>
              <a:ext uri="{FF2B5EF4-FFF2-40B4-BE49-F238E27FC236}">
                <a16:creationId xmlns:a16="http://schemas.microsoft.com/office/drawing/2014/main" id="{12B3956E-A753-47D9-BDF6-BFB38EE41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61ACB06-9C09-4FE0-B41F-6EB7A34D887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168914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5A7596-8A4F-4B5F-9064-5EE6C96C11F4}"/>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A595D80E-1C9B-4F47-945C-8AFFAB46A1DD}"/>
              </a:ext>
            </a:extLst>
          </p:cNvPr>
          <p:cNvSpPr>
            <a:spLocks noGrp="1"/>
          </p:cNvSpPr>
          <p:nvPr>
            <p:ph sz="half" idx="1"/>
          </p:nvPr>
        </p:nvSpPr>
        <p:spPr/>
        <p:txBody>
          <a:bodyPr/>
          <a:lstStyle/>
          <a:p>
            <a:r>
              <a:rPr lang="en-US" altLang="ko-KR" b="0" i="0" dirty="0">
                <a:solidFill>
                  <a:srgbClr val="000000"/>
                </a:solidFill>
                <a:effectLst/>
              </a:rPr>
              <a:t>The decision boundaries obtained by SVM maximize margin between groups, so learn to have no points belonging to the boundaries and classify them more clearly than logistic regression.</a:t>
            </a:r>
          </a:p>
          <a:p>
            <a:endParaRPr lang="ko-KR" altLang="en-US" dirty="0"/>
          </a:p>
        </p:txBody>
      </p:sp>
      <p:pic>
        <p:nvPicPr>
          <p:cNvPr id="7" name="내용 개체 틀 6">
            <a:extLst>
              <a:ext uri="{FF2B5EF4-FFF2-40B4-BE49-F238E27FC236}">
                <a16:creationId xmlns:a16="http://schemas.microsoft.com/office/drawing/2014/main" id="{59866E57-4B79-4C6D-B965-6AEBFDAB412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3386333"/>
          </a:xfrm>
        </p:spPr>
      </p:pic>
      <p:pic>
        <p:nvPicPr>
          <p:cNvPr id="5" name="그림 4">
            <a:extLst>
              <a:ext uri="{FF2B5EF4-FFF2-40B4-BE49-F238E27FC236}">
                <a16:creationId xmlns:a16="http://schemas.microsoft.com/office/drawing/2014/main" id="{C69EA76E-5FEA-48C3-A0CE-EE2251125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9533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SVM deals with the problem of binary classification of planes assuming linear and complete classification is possible.</a:t>
            </a:r>
          </a:p>
          <a:p>
            <a:pPr algn="l">
              <a:buFont typeface="Arial" panose="020B0604020202020204" pitchFamily="34" charset="0"/>
              <a:buChar char="•"/>
            </a:pPr>
            <a:r>
              <a:rPr lang="en-US" altLang="ko-KR" b="0" i="0" dirty="0">
                <a:solidFill>
                  <a:srgbClr val="000000"/>
                </a:solidFill>
                <a:effectLst/>
              </a:rPr>
              <a:t>Maximize the margin between groups to obtain a good decision boundary to classify.</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67349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lstStyle/>
          <a:p>
            <a:r>
              <a:rPr lang="en-US" altLang="ko-KR" dirty="0"/>
              <a:t>Import libraries</a:t>
            </a:r>
          </a:p>
          <a:p>
            <a:r>
              <a:rPr lang="en-US" altLang="ko-KR" dirty="0"/>
              <a:t>Set center coordinate of data</a:t>
            </a:r>
          </a:p>
          <a:p>
            <a:r>
              <a:rPr lang="en-US" altLang="ko-KR" dirty="0"/>
              <a:t>Make random numbers based on center</a:t>
            </a:r>
            <a:r>
              <a:rPr lang="ko-KR" altLang="en-US" dirty="0"/>
              <a:t> </a:t>
            </a:r>
            <a:r>
              <a:rPr lang="en-US" altLang="ko-KR" dirty="0"/>
              <a:t>coordinate</a:t>
            </a:r>
          </a:p>
          <a:p>
            <a:r>
              <a:rPr lang="en-US" altLang="ko-KR" dirty="0"/>
              <a:t>Make SVM model</a:t>
            </a:r>
          </a:p>
          <a:p>
            <a:r>
              <a:rPr lang="en-US" altLang="ko-KR" dirty="0"/>
              <a:t>Learning data</a:t>
            </a:r>
          </a:p>
          <a:p>
            <a:r>
              <a:rPr lang="en-US" altLang="ko-KR" dirty="0"/>
              <a:t>Get accuracy</a:t>
            </a:r>
          </a:p>
        </p:txBody>
      </p:sp>
      <p:pic>
        <p:nvPicPr>
          <p:cNvPr id="6" name="내용 개체 틀 5">
            <a:extLst>
              <a:ext uri="{FF2B5EF4-FFF2-40B4-BE49-F238E27FC236}">
                <a16:creationId xmlns:a16="http://schemas.microsoft.com/office/drawing/2014/main" id="{FF7C2E8E-B883-43EC-9A30-3361855E48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79568"/>
          </a:xfrm>
        </p:spPr>
      </p:pic>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89922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Margin and Support vector</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margin does not contain data, it is called hard margin.</a:t>
            </a:r>
          </a:p>
          <a:p>
            <a:pPr algn="l">
              <a:buFont typeface="Arial" panose="020B0604020202020204" pitchFamily="34" charset="0"/>
              <a:buChar char="•"/>
            </a:pPr>
            <a:r>
              <a:rPr lang="en-US" altLang="ko-KR" b="0" i="0" dirty="0">
                <a:solidFill>
                  <a:srgbClr val="000000"/>
                </a:solidFill>
                <a:effectLst/>
              </a:rPr>
              <a:t>Allowing some data to be contained in margin is called soft margin.</a:t>
            </a:r>
          </a:p>
          <a:p>
            <a:pPr algn="l">
              <a:buFont typeface="Arial" panose="020B0604020202020204" pitchFamily="34" charset="0"/>
              <a:buChar char="•"/>
            </a:pPr>
            <a:r>
              <a:rPr lang="en-US" altLang="ko-KR" b="0" i="0" dirty="0">
                <a:solidFill>
                  <a:srgbClr val="000000"/>
                </a:solidFill>
                <a:effectLst/>
              </a:rPr>
              <a:t>Learning data is divided into three categories.</a:t>
            </a:r>
          </a:p>
          <a:p>
            <a:pPr marL="742950" lvl="1" indent="-285750" algn="l">
              <a:buFont typeface="Arial" panose="020B0604020202020204" pitchFamily="34" charset="0"/>
              <a:buChar char="•"/>
            </a:pPr>
            <a:r>
              <a:rPr lang="en-US" altLang="ko-KR" b="0" i="0" dirty="0">
                <a:solidFill>
                  <a:srgbClr val="000000"/>
                </a:solidFill>
                <a:effectLst/>
              </a:rPr>
              <a:t>data outside margin: data outside the margin based on the decision boundary</a:t>
            </a:r>
          </a:p>
          <a:p>
            <a:pPr marL="742950" lvl="1" indent="-285750" algn="l">
              <a:buFont typeface="Arial" panose="020B0604020202020204" pitchFamily="34" charset="0"/>
              <a:buChar char="•"/>
            </a:pPr>
            <a:r>
              <a:rPr lang="en-US" altLang="ko-KR" b="0" i="0" dirty="0">
                <a:solidFill>
                  <a:srgbClr val="000000"/>
                </a:solidFill>
                <a:effectLst/>
              </a:rPr>
              <a:t>margin data: data for determining margin based on decision boundaries</a:t>
            </a:r>
          </a:p>
          <a:p>
            <a:pPr marL="742950" lvl="1" indent="-285750" algn="l">
              <a:buFont typeface="Arial" panose="020B0604020202020204" pitchFamily="34" charset="0"/>
              <a:buChar char="•"/>
            </a:pPr>
            <a:r>
              <a:rPr lang="en-US" altLang="ko-KR" b="0" i="0" dirty="0">
                <a:solidFill>
                  <a:srgbClr val="000000"/>
                </a:solidFill>
                <a:effectLst/>
              </a:rPr>
              <a:t>data inside margin: data that are in margin or misclassified based on the boundary of the boundaries</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319763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Hard margin and Soft margin</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The left graph using soft margin is not affected by the fact that the learning results are far away.</a:t>
            </a:r>
          </a:p>
          <a:p>
            <a:pPr algn="l">
              <a:buFont typeface="Arial" panose="020B0604020202020204" pitchFamily="34" charset="0"/>
              <a:buChar char="•"/>
            </a:pPr>
            <a:r>
              <a:rPr lang="en-US" altLang="ko-KR" b="0" i="0" dirty="0">
                <a:solidFill>
                  <a:srgbClr val="000000"/>
                </a:solidFill>
                <a:effectLst/>
              </a:rPr>
              <a:t>The graph on the right using hard margin is greatly influenced by the point far away.</a:t>
            </a:r>
          </a:p>
          <a:p>
            <a:pPr algn="l">
              <a:buFont typeface="Arial" panose="020B0604020202020204" pitchFamily="34" charset="0"/>
              <a:buChar char="•"/>
            </a:pPr>
            <a:r>
              <a:rPr lang="en-US" altLang="ko-KR" b="0" i="0" dirty="0">
                <a:solidFill>
                  <a:srgbClr val="000000"/>
                </a:solidFill>
                <a:effectLst/>
              </a:rPr>
              <a:t>How much data in the margin is allowed in soft margin follows the hyperparameters set by the person himself.</a:t>
            </a:r>
          </a:p>
        </p:txBody>
      </p:sp>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내용 개체 틀 10">
            <a:extLst>
              <a:ext uri="{FF2B5EF4-FFF2-40B4-BE49-F238E27FC236}">
                <a16:creationId xmlns:a16="http://schemas.microsoft.com/office/drawing/2014/main" id="{C704FB10-EEDA-4825-8046-8F4E29418F3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24637" y="2496344"/>
            <a:ext cx="4276725" cy="3009900"/>
          </a:xfrm>
        </p:spPr>
      </p:pic>
    </p:spTree>
    <p:extLst>
      <p:ext uri="{BB962C8B-B14F-4D97-AF65-F5344CB8AC3E}">
        <p14:creationId xmlns:p14="http://schemas.microsoft.com/office/powerpoint/2010/main" val="1074278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0C75CB-79B6-4143-89DF-90D4BCA7B02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38520A7-448A-41A7-97F8-3D418A0A4697}"/>
              </a:ext>
            </a:extLst>
          </p:cNvPr>
          <p:cNvSpPr>
            <a:spLocks noGrp="1"/>
          </p:cNvSpPr>
          <p:nvPr>
            <p:ph type="subTitle" idx="1"/>
          </p:nvPr>
        </p:nvSpPr>
        <p:spPr/>
        <p:txBody>
          <a:bodyPr/>
          <a:lstStyle/>
          <a:p>
            <a:r>
              <a:rPr lang="en-US" altLang="ko-KR" dirty="0"/>
              <a:t>SVM(Support Vector Machine) Using Kernel</a:t>
            </a:r>
            <a:endParaRPr lang="ko-KR" altLang="en-US" dirty="0"/>
          </a:p>
        </p:txBody>
      </p:sp>
      <p:pic>
        <p:nvPicPr>
          <p:cNvPr id="4" name="그림 3">
            <a:extLst>
              <a:ext uri="{FF2B5EF4-FFF2-40B4-BE49-F238E27FC236}">
                <a16:creationId xmlns:a16="http://schemas.microsoft.com/office/drawing/2014/main" id="{28887DC8-0C2A-4C41-AA79-D3AFE92F8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47F458CB-417D-46E4-86D5-C74ACC6AECA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4115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In SVM, it is difficult to classify data in which the boundary of each label is curved because the decision boundary is a straight line.</a:t>
            </a:r>
          </a:p>
          <a:p>
            <a:pPr algn="l">
              <a:buFont typeface="Arial" panose="020B0604020202020204" pitchFamily="34" charset="0"/>
              <a:buChar char="•"/>
            </a:pPr>
            <a:r>
              <a:rPr lang="en-US" altLang="ko-KR" b="0" i="0" dirty="0">
                <a:solidFill>
                  <a:srgbClr val="000000"/>
                </a:solidFill>
                <a:effectLst/>
              </a:rPr>
              <a:t>Complex decision boundaries can be learned by applying kernel techniques to SVM.</a:t>
            </a:r>
          </a:p>
        </p:txBody>
      </p:sp>
      <p:pic>
        <p:nvPicPr>
          <p:cNvPr id="6" name="내용 개체 틀 5">
            <a:extLst>
              <a:ext uri="{FF2B5EF4-FFF2-40B4-BE49-F238E27FC236}">
                <a16:creationId xmlns:a16="http://schemas.microsoft.com/office/drawing/2014/main" id="{B51AF0EF-40A0-494B-9EFD-707FC6A3DA4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2495728"/>
            <a:ext cx="5175258" cy="3007450"/>
          </a:xfrm>
        </p:spPr>
      </p:pic>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18276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17E0B416-80FF-4E0F-926F-E4A52B4BD16F}"/>
              </a:ext>
            </a:extLst>
          </p:cNvPr>
          <p:cNvSpPr>
            <a:spLocks noGrp="1"/>
          </p:cNvSpPr>
          <p:nvPr>
            <p:ph idx="1"/>
          </p:nvPr>
        </p:nvSpPr>
        <p:spPr/>
        <p:txBody>
          <a:bodyPr>
            <a:normAutofit/>
          </a:bodyPr>
          <a:lstStyle/>
          <a:p>
            <a:pPr algn="l">
              <a:buFont typeface="Arial" panose="020B0604020202020204" pitchFamily="34" charset="0"/>
              <a:buChar char="•"/>
            </a:pPr>
            <a:r>
              <a:rPr lang="en-US" altLang="ko-KR" dirty="0">
                <a:solidFill>
                  <a:srgbClr val="000000"/>
                </a:solidFill>
              </a:rPr>
              <a:t>K</a:t>
            </a:r>
            <a:r>
              <a:rPr lang="en-US" altLang="ko-KR" b="0" i="0" dirty="0">
                <a:solidFill>
                  <a:srgbClr val="000000"/>
                </a:solidFill>
                <a:effectLst/>
              </a:rPr>
              <a:t>ernel technique: linear regression after transferring data to another feature space</a:t>
            </a:r>
          </a:p>
          <a:p>
            <a:pPr algn="l">
              <a:buFont typeface="Arial" panose="020B0604020202020204" pitchFamily="34" charset="0"/>
              <a:buChar char="•"/>
            </a:pPr>
            <a:r>
              <a:rPr lang="en-US" altLang="ko-KR" dirty="0">
                <a:solidFill>
                  <a:srgbClr val="000000"/>
                </a:solidFill>
              </a:rPr>
              <a:t>C</a:t>
            </a:r>
            <a:r>
              <a:rPr lang="en-US" altLang="ko-KR" b="0" i="0">
                <a:solidFill>
                  <a:srgbClr val="000000"/>
                </a:solidFill>
                <a:effectLst/>
              </a:rPr>
              <a:t>onditions </a:t>
            </a:r>
            <a:r>
              <a:rPr lang="en-US" altLang="ko-KR" b="0" i="0" dirty="0">
                <a:solidFill>
                  <a:srgbClr val="000000"/>
                </a:solidFill>
                <a:effectLst/>
              </a:rPr>
              <a:t>required to allow linear separation of data that cannot be linearly separated</a:t>
            </a:r>
          </a:p>
          <a:p>
            <a:pPr marL="742950" lvl="1" indent="-285750" algn="l">
              <a:buFont typeface="Arial" panose="020B0604020202020204" pitchFamily="34" charset="0"/>
              <a:buChar char="•"/>
            </a:pPr>
            <a:r>
              <a:rPr lang="en-US" altLang="ko-KR" b="0" i="0" dirty="0">
                <a:solidFill>
                  <a:srgbClr val="000000"/>
                </a:solidFill>
                <a:effectLst/>
              </a:rPr>
              <a:t>There is a higher dimension space than the learning data, and each point of the learning data corresponds to a point of the higher dimension space.</a:t>
            </a:r>
          </a:p>
          <a:p>
            <a:pPr marL="742950" lvl="1" indent="-285750" algn="l">
              <a:buFont typeface="Arial" panose="020B0604020202020204" pitchFamily="34" charset="0"/>
              <a:buChar char="•"/>
            </a:pPr>
            <a:r>
              <a:rPr lang="en-US" altLang="ko-KR" b="0" i="0" dirty="0">
                <a:solidFill>
                  <a:srgbClr val="000000"/>
                </a:solidFill>
                <a:effectLst/>
              </a:rPr>
              <a:t>Points corresponding to learning data in a high-dimensional space can be linearly separated, and actual learning data is projection in a high-dimensional space.</a:t>
            </a:r>
          </a:p>
        </p:txBody>
      </p:sp>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2870558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pic>
        <p:nvPicPr>
          <p:cNvPr id="6" name="내용 개체 틀 5">
            <a:extLst>
              <a:ext uri="{FF2B5EF4-FFF2-40B4-BE49-F238E27FC236}">
                <a16:creationId xmlns:a16="http://schemas.microsoft.com/office/drawing/2014/main" id="{C61F4BA6-1E6C-41E7-B345-C7C313059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7252" y="1988191"/>
            <a:ext cx="8837495" cy="3523951"/>
          </a:xfrm>
        </p:spPr>
      </p:pic>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301159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Import libraries</a:t>
            </a:r>
          </a:p>
          <a:p>
            <a:pPr algn="l">
              <a:buFont typeface="Arial" panose="020B0604020202020204" pitchFamily="34" charset="0"/>
              <a:buChar char="•"/>
            </a:pPr>
            <a:r>
              <a:rPr lang="en-US" altLang="ko-KR" dirty="0">
                <a:solidFill>
                  <a:srgbClr val="000000"/>
                </a:solidFill>
              </a:rPr>
              <a:t>Make gaussian quantiles</a:t>
            </a:r>
          </a:p>
          <a:p>
            <a:pPr algn="l">
              <a:buFont typeface="Arial" panose="020B0604020202020204" pitchFamily="34" charset="0"/>
              <a:buChar char="•"/>
            </a:pPr>
            <a:r>
              <a:rPr lang="en-US" altLang="ko-KR" b="0" i="0" dirty="0">
                <a:solidFill>
                  <a:srgbClr val="000000"/>
                </a:solidFill>
                <a:effectLst/>
              </a:rPr>
              <a:t>Set train, test dataset</a:t>
            </a:r>
          </a:p>
          <a:p>
            <a:pPr algn="l">
              <a:buFont typeface="Arial" panose="020B0604020202020204" pitchFamily="34" charset="0"/>
              <a:buChar char="•"/>
            </a:pPr>
            <a:r>
              <a:rPr lang="en-US" altLang="ko-KR" dirty="0">
                <a:solidFill>
                  <a:srgbClr val="000000"/>
                </a:solidFill>
              </a:rPr>
              <a:t>Make SVM model</a:t>
            </a:r>
          </a:p>
          <a:p>
            <a:pPr algn="l">
              <a:buFont typeface="Arial" panose="020B0604020202020204" pitchFamily="34" charset="0"/>
              <a:buChar char="•"/>
            </a:pPr>
            <a:r>
              <a:rPr lang="en-US" altLang="ko-KR" b="0" i="0" dirty="0">
                <a:solidFill>
                  <a:srgbClr val="000000"/>
                </a:solidFill>
                <a:effectLst/>
              </a:rPr>
              <a:t>Learn and predict data</a:t>
            </a:r>
          </a:p>
          <a:p>
            <a:pPr algn="l">
              <a:buFont typeface="Arial" panose="020B0604020202020204" pitchFamily="34" charset="0"/>
              <a:buChar char="•"/>
            </a:pPr>
            <a:r>
              <a:rPr lang="en-US" altLang="ko-KR" dirty="0">
                <a:solidFill>
                  <a:srgbClr val="000000"/>
                </a:solidFill>
              </a:rPr>
              <a:t>Check accuracy</a:t>
            </a:r>
            <a:endParaRPr lang="en-US" altLang="ko-KR" b="0" i="0" dirty="0">
              <a:solidFill>
                <a:srgbClr val="000000"/>
              </a:solidFill>
              <a:effectLst/>
            </a:endParaRPr>
          </a:p>
        </p:txBody>
      </p:sp>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50F34BF3-0395-41E9-8DBA-99766FD86E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866553"/>
          </a:xfrm>
        </p:spPr>
      </p:pic>
    </p:spTree>
    <p:extLst>
      <p:ext uri="{BB962C8B-B14F-4D97-AF65-F5344CB8AC3E}">
        <p14:creationId xmlns:p14="http://schemas.microsoft.com/office/powerpoint/2010/main" val="305809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Difference in learning outcomes</a:t>
            </a:r>
            <a:br>
              <a:rPr lang="en-US" altLang="ko-KR" dirty="0"/>
            </a:br>
            <a:r>
              <a:rPr lang="en-US" altLang="ko-KR" dirty="0"/>
              <a:t>using kernel functions</a:t>
            </a:r>
            <a:endParaRPr lang="ko-KR" altLang="en-US" dirty="0"/>
          </a:p>
        </p:txBody>
      </p:sp>
      <p:pic>
        <p:nvPicPr>
          <p:cNvPr id="5" name="내용 개체 틀 4">
            <a:extLst>
              <a:ext uri="{FF2B5EF4-FFF2-40B4-BE49-F238E27FC236}">
                <a16:creationId xmlns:a16="http://schemas.microsoft.com/office/drawing/2014/main" id="{071C6754-060B-4C65-8C79-C84C8005AD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7850" y="1825625"/>
            <a:ext cx="5536300" cy="4351338"/>
          </a:xfrm>
        </p:spPr>
      </p:pic>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5905649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Points to note</a:t>
            </a:r>
            <a:endParaRPr lang="ko-KR" altLang="en-US" dirty="0"/>
          </a:p>
        </p:txBody>
      </p:sp>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1C067A5-A3C6-4959-ACF4-F9229F0DCF9C}"/>
              </a:ext>
            </a:extLst>
          </p:cNvPr>
          <p:cNvSpPr>
            <a:spLocks noGrp="1"/>
          </p:cNvSpPr>
          <p:nvPr>
            <p:ph idx="1"/>
          </p:nvPr>
        </p:nvSpPr>
        <p:spPr/>
        <p:txBody>
          <a:bodyPr/>
          <a:lstStyle/>
          <a:p>
            <a:r>
              <a:rPr lang="en-US" altLang="ko-KR" b="0" i="0" dirty="0">
                <a:solidFill>
                  <a:srgbClr val="000000"/>
                </a:solidFill>
                <a:effectLst/>
              </a:rPr>
              <a:t>The larger the hyperparameter value, the more complex the decision boundary is learned from the data.</a:t>
            </a:r>
          </a:p>
          <a:p>
            <a:r>
              <a:rPr lang="en-US" altLang="ko-KR" b="0" i="0" dirty="0">
                <a:solidFill>
                  <a:srgbClr val="000000"/>
                </a:solidFill>
                <a:effectLst/>
              </a:rPr>
              <a:t>Kernel techniques are recommended to be used to require accuracy rather than feature analysis.</a:t>
            </a:r>
            <a:endParaRPr lang="en-US" altLang="ko-KR" dirty="0">
              <a:solidFill>
                <a:srgbClr val="000000"/>
              </a:solidFill>
            </a:endParaRPr>
          </a:p>
          <a:p>
            <a:r>
              <a:rPr lang="en-US" altLang="ko-KR" b="0" i="0" dirty="0">
                <a:solidFill>
                  <a:srgbClr val="000000"/>
                </a:solidFill>
                <a:effectLst/>
              </a:rPr>
              <a:t>It should be noted that meaningful decision boundaries are not obtained as a result of learning.</a:t>
            </a:r>
            <a:endParaRPr lang="ko-KR" altLang="en-US" dirty="0"/>
          </a:p>
        </p:txBody>
      </p:sp>
    </p:spTree>
    <p:extLst>
      <p:ext uri="{BB962C8B-B14F-4D97-AF65-F5344CB8AC3E}">
        <p14:creationId xmlns:p14="http://schemas.microsoft.com/office/powerpoint/2010/main" val="798628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998ED7-62D7-42D4-B842-BD57BDFC27F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AA1678A9-9987-4F55-A6A6-54BD518A4988}"/>
              </a:ext>
            </a:extLst>
          </p:cNvPr>
          <p:cNvSpPr>
            <a:spLocks noGrp="1"/>
          </p:cNvSpPr>
          <p:nvPr>
            <p:ph type="subTitle" idx="1"/>
          </p:nvPr>
        </p:nvSpPr>
        <p:spPr/>
        <p:txBody>
          <a:bodyPr/>
          <a:lstStyle/>
          <a:p>
            <a:r>
              <a:rPr lang="en-US" altLang="ko-KR" dirty="0"/>
              <a:t>Naïve Bayes Classification</a:t>
            </a:r>
            <a:endParaRPr lang="ko-KR" altLang="en-US" dirty="0"/>
          </a:p>
        </p:txBody>
      </p:sp>
      <p:pic>
        <p:nvPicPr>
          <p:cNvPr id="4" name="그림 3">
            <a:extLst>
              <a:ext uri="{FF2B5EF4-FFF2-40B4-BE49-F238E27FC236}">
                <a16:creationId xmlns:a16="http://schemas.microsoft.com/office/drawing/2014/main" id="{DF57E4DD-26A3-46C9-95B4-CCCE44B98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F455602-D6B1-4FF0-AABB-1D416445C03C}"/>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4718398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E4403-5CB5-4EBD-AC6C-BFA3FDEA6566}"/>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E57266-F310-413B-A6B8-2AA750BD6DEF}"/>
              </a:ext>
            </a:extLst>
          </p:cNvPr>
          <p:cNvSpPr>
            <a:spLocks noGrp="1"/>
          </p:cNvSpPr>
          <p:nvPr>
            <p:ph sz="half" idx="1"/>
          </p:nvPr>
        </p:nvSpPr>
        <p:spPr/>
        <p:txBody>
          <a:bodyPr>
            <a:normAutofit fontScale="92500" lnSpcReduction="20000"/>
          </a:bodyPr>
          <a:lstStyle/>
          <a:p>
            <a:r>
              <a:rPr lang="en-US" altLang="ko-KR" b="0" i="0" dirty="0">
                <a:solidFill>
                  <a:srgbClr val="000000"/>
                </a:solidFill>
                <a:effectLst/>
              </a:rPr>
              <a:t>The </a:t>
            </a:r>
            <a:r>
              <a:rPr lang="en-US" altLang="ko-KR" dirty="0">
                <a:solidFill>
                  <a:srgbClr val="000000"/>
                </a:solidFill>
              </a:rPr>
              <a:t>Naïve Bayes Classification </a:t>
            </a:r>
            <a:r>
              <a:rPr lang="en-US" altLang="ko-KR" b="0" i="0" dirty="0">
                <a:solidFill>
                  <a:srgbClr val="000000"/>
                </a:solidFill>
                <a:effectLst/>
              </a:rPr>
              <a:t>is one of the algorithms for predicting results based on probability.</a:t>
            </a:r>
          </a:p>
          <a:p>
            <a:r>
              <a:rPr lang="en-US" altLang="ko-KR" b="0" i="0" dirty="0">
                <a:solidFill>
                  <a:srgbClr val="000000"/>
                </a:solidFill>
                <a:effectLst/>
              </a:rPr>
              <a:t>Calculate the probability of which label the data belongs and classify the data into the label with the highest probability.</a:t>
            </a:r>
          </a:p>
          <a:p>
            <a:r>
              <a:rPr lang="en-US" altLang="ko-KR" dirty="0"/>
              <a:t>We’re going to use </a:t>
            </a:r>
            <a:r>
              <a:rPr lang="en-US" altLang="ko-KR" b="0" i="0" dirty="0">
                <a:solidFill>
                  <a:srgbClr val="000000"/>
                </a:solidFill>
                <a:effectLst/>
              </a:rPr>
              <a:t>The </a:t>
            </a:r>
            <a:r>
              <a:rPr lang="en-US" altLang="ko-KR" dirty="0">
                <a:solidFill>
                  <a:srgbClr val="000000"/>
                </a:solidFill>
              </a:rPr>
              <a:t>Naïve</a:t>
            </a:r>
            <a:r>
              <a:rPr lang="en-US" altLang="ko-KR" b="0" i="0" dirty="0">
                <a:solidFill>
                  <a:srgbClr val="000000"/>
                </a:solidFill>
                <a:effectLst/>
              </a:rPr>
              <a:t> Bayes classification going to be used to classify virtual news article titles into ‘</a:t>
            </a:r>
            <a:r>
              <a:rPr lang="ko-KR" altLang="en-US" b="0" i="0" dirty="0">
                <a:solidFill>
                  <a:srgbClr val="000000"/>
                </a:solidFill>
                <a:effectLst/>
              </a:rPr>
              <a:t>영화</a:t>
            </a:r>
            <a:r>
              <a:rPr lang="en-US" altLang="ko-KR" b="0" i="0" dirty="0">
                <a:solidFill>
                  <a:srgbClr val="000000"/>
                </a:solidFill>
                <a:effectLst/>
              </a:rPr>
              <a:t>' and ‘</a:t>
            </a:r>
            <a:r>
              <a:rPr lang="ko-KR" altLang="en-US" b="0" i="0" dirty="0">
                <a:solidFill>
                  <a:srgbClr val="000000"/>
                </a:solidFill>
                <a:effectLst/>
              </a:rPr>
              <a:t>우주</a:t>
            </a:r>
            <a:r>
              <a:rPr lang="en-US" altLang="ko-KR" b="0" i="0" dirty="0">
                <a:solidFill>
                  <a:srgbClr val="000000"/>
                </a:solidFill>
                <a:effectLst/>
              </a:rPr>
              <a:t>'.</a:t>
            </a:r>
            <a:endParaRPr lang="ko-KR" altLang="en-US" dirty="0"/>
          </a:p>
        </p:txBody>
      </p:sp>
      <p:graphicFrame>
        <p:nvGraphicFramePr>
          <p:cNvPr id="5" name="표 5">
            <a:extLst>
              <a:ext uri="{FF2B5EF4-FFF2-40B4-BE49-F238E27FC236}">
                <a16:creationId xmlns:a16="http://schemas.microsoft.com/office/drawing/2014/main" id="{C8E599DD-311B-4BD3-BBA3-226C1035A656}"/>
              </a:ext>
            </a:extLst>
          </p:cNvPr>
          <p:cNvGraphicFramePr>
            <a:graphicFrameLocks noGrp="1"/>
          </p:cNvGraphicFramePr>
          <p:nvPr>
            <p:ph sz="half" idx="2"/>
          </p:nvPr>
        </p:nvGraphicFramePr>
        <p:xfrm>
          <a:off x="6019800" y="1825625"/>
          <a:ext cx="5334000" cy="2595880"/>
        </p:xfrm>
        <a:graphic>
          <a:graphicData uri="http://schemas.openxmlformats.org/drawingml/2006/table">
            <a:tbl>
              <a:tblPr firstRow="1" bandRow="1">
                <a:tableStyleId>{5C22544A-7EE6-4342-B048-85BDC9FD1C3A}</a:tableStyleId>
              </a:tblPr>
              <a:tblGrid>
                <a:gridCol w="4189602">
                  <a:extLst>
                    <a:ext uri="{9D8B030D-6E8A-4147-A177-3AD203B41FA5}">
                      <a16:colId xmlns:a16="http://schemas.microsoft.com/office/drawing/2014/main" val="1156370764"/>
                    </a:ext>
                  </a:extLst>
                </a:gridCol>
                <a:gridCol w="1144398">
                  <a:extLst>
                    <a:ext uri="{9D8B030D-6E8A-4147-A177-3AD203B41FA5}">
                      <a16:colId xmlns:a16="http://schemas.microsoft.com/office/drawing/2014/main" val="3498148249"/>
                    </a:ext>
                  </a:extLst>
                </a:gridCol>
              </a:tblGrid>
              <a:tr h="370840">
                <a:tc>
                  <a:txBody>
                    <a:bodyPr/>
                    <a:lstStyle/>
                    <a:p>
                      <a:pPr algn="ctr" latinLnBrk="1"/>
                      <a:r>
                        <a:rPr lang="ko-KR" altLang="en-US" dirty="0"/>
                        <a:t>학습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2735989979"/>
                  </a:ext>
                </a:extLst>
              </a:tr>
              <a:tr h="370840">
                <a:tc>
                  <a:txBody>
                    <a:bodyPr/>
                    <a:lstStyle/>
                    <a:p>
                      <a:pPr latinLnBrk="1"/>
                      <a:r>
                        <a:rPr lang="ko-KR" altLang="en-US" dirty="0"/>
                        <a:t>감동을 준 명작 영화가 부활</a:t>
                      </a:r>
                    </a:p>
                  </a:txBody>
                  <a:tcPr/>
                </a:tc>
                <a:tc>
                  <a:txBody>
                    <a:bodyPr/>
                    <a:lstStyle/>
                    <a:p>
                      <a:pPr algn="ctr" latinLnBrk="1"/>
                      <a:r>
                        <a:rPr lang="ko-KR" altLang="en-US" dirty="0"/>
                        <a:t>영화</a:t>
                      </a:r>
                    </a:p>
                  </a:txBody>
                  <a:tcPr/>
                </a:tc>
                <a:extLst>
                  <a:ext uri="{0D108BD9-81ED-4DB2-BD59-A6C34878D82A}">
                    <a16:rowId xmlns:a16="http://schemas.microsoft.com/office/drawing/2014/main" val="167074727"/>
                  </a:ext>
                </a:extLst>
              </a:tr>
              <a:tr h="370840">
                <a:tc>
                  <a:txBody>
                    <a:bodyPr/>
                    <a:lstStyle/>
                    <a:p>
                      <a:pPr latinLnBrk="1"/>
                      <a:r>
                        <a:rPr lang="ko-KR" altLang="en-US" dirty="0"/>
                        <a:t>화려한 액션 영화가 개봉</a:t>
                      </a:r>
                    </a:p>
                  </a:txBody>
                  <a:tcPr/>
                </a:tc>
                <a:tc>
                  <a:txBody>
                    <a:bodyPr/>
                    <a:lstStyle/>
                    <a:p>
                      <a:pPr algn="ctr" latinLnBrk="1"/>
                      <a:r>
                        <a:rPr lang="ko-KR" altLang="en-US" dirty="0"/>
                        <a:t>영화</a:t>
                      </a:r>
                    </a:p>
                  </a:txBody>
                  <a:tcPr/>
                </a:tc>
                <a:extLst>
                  <a:ext uri="{0D108BD9-81ED-4DB2-BD59-A6C34878D82A}">
                    <a16:rowId xmlns:a16="http://schemas.microsoft.com/office/drawing/2014/main" val="5455961"/>
                  </a:ext>
                </a:extLst>
              </a:tr>
              <a:tr h="370840">
                <a:tc>
                  <a:txBody>
                    <a:bodyPr/>
                    <a:lstStyle/>
                    <a:p>
                      <a:pPr latinLnBrk="1"/>
                      <a:r>
                        <a:rPr lang="ko-KR" altLang="en-US" dirty="0"/>
                        <a:t>명작의 부활에 세계가 감동</a:t>
                      </a:r>
                    </a:p>
                  </a:txBody>
                  <a:tcPr/>
                </a:tc>
                <a:tc>
                  <a:txBody>
                    <a:bodyPr/>
                    <a:lstStyle/>
                    <a:p>
                      <a:pPr algn="ctr" latinLnBrk="1"/>
                      <a:r>
                        <a:rPr lang="ko-KR" altLang="en-US" dirty="0"/>
                        <a:t>영화</a:t>
                      </a:r>
                    </a:p>
                  </a:txBody>
                  <a:tcPr/>
                </a:tc>
                <a:extLst>
                  <a:ext uri="{0D108BD9-81ED-4DB2-BD59-A6C34878D82A}">
                    <a16:rowId xmlns:a16="http://schemas.microsoft.com/office/drawing/2014/main" val="2596244755"/>
                  </a:ext>
                </a:extLst>
              </a:tr>
              <a:tr h="370840">
                <a:tc>
                  <a:txBody>
                    <a:bodyPr/>
                    <a:lstStyle/>
                    <a:p>
                      <a:pPr latinLnBrk="1"/>
                      <a:r>
                        <a:rPr lang="ko-KR" altLang="en-US" dirty="0"/>
                        <a:t>모래 폭풍이 화성을 덮다</a:t>
                      </a:r>
                    </a:p>
                  </a:txBody>
                  <a:tcPr/>
                </a:tc>
                <a:tc>
                  <a:txBody>
                    <a:bodyPr/>
                    <a:lstStyle/>
                    <a:p>
                      <a:pPr algn="ctr" latinLnBrk="1"/>
                      <a:r>
                        <a:rPr lang="ko-KR" altLang="en-US" dirty="0"/>
                        <a:t>우주</a:t>
                      </a:r>
                    </a:p>
                  </a:txBody>
                  <a:tcPr/>
                </a:tc>
                <a:extLst>
                  <a:ext uri="{0D108BD9-81ED-4DB2-BD59-A6C34878D82A}">
                    <a16:rowId xmlns:a16="http://schemas.microsoft.com/office/drawing/2014/main" val="3624719113"/>
                  </a:ext>
                </a:extLst>
              </a:tr>
              <a:tr h="370840">
                <a:tc>
                  <a:txBody>
                    <a:bodyPr/>
                    <a:lstStyle/>
                    <a:p>
                      <a:pPr latinLnBrk="1"/>
                      <a:r>
                        <a:rPr lang="ko-KR" altLang="en-US" dirty="0"/>
                        <a:t>마침내 화성 탐사 재개</a:t>
                      </a:r>
                    </a:p>
                  </a:txBody>
                  <a:tcPr/>
                </a:tc>
                <a:tc>
                  <a:txBody>
                    <a:bodyPr/>
                    <a:lstStyle/>
                    <a:p>
                      <a:pPr algn="ctr" latinLnBrk="1"/>
                      <a:r>
                        <a:rPr lang="ko-KR" altLang="en-US" dirty="0"/>
                        <a:t>우주</a:t>
                      </a:r>
                    </a:p>
                  </a:txBody>
                  <a:tcPr/>
                </a:tc>
                <a:extLst>
                  <a:ext uri="{0D108BD9-81ED-4DB2-BD59-A6C34878D82A}">
                    <a16:rowId xmlns:a16="http://schemas.microsoft.com/office/drawing/2014/main" val="3582653798"/>
                  </a:ext>
                </a:extLst>
              </a:tr>
              <a:tr h="370840">
                <a:tc>
                  <a:txBody>
                    <a:bodyPr/>
                    <a:lstStyle/>
                    <a:p>
                      <a:pPr latinLnBrk="1"/>
                      <a:r>
                        <a:rPr lang="en-US" altLang="ko-KR" dirty="0"/>
                        <a:t>VR</a:t>
                      </a:r>
                      <a:r>
                        <a:rPr lang="ko-KR" altLang="en-US" dirty="0"/>
                        <a:t>로 보는 화성의 모래 폭풍과 감동</a:t>
                      </a:r>
                    </a:p>
                  </a:txBody>
                  <a:tcPr/>
                </a:tc>
                <a:tc>
                  <a:txBody>
                    <a:bodyPr/>
                    <a:lstStyle/>
                    <a:p>
                      <a:pPr algn="ctr" latinLnBrk="1"/>
                      <a:r>
                        <a:rPr lang="ko-KR" altLang="en-US" dirty="0"/>
                        <a:t>우주</a:t>
                      </a:r>
                    </a:p>
                  </a:txBody>
                  <a:tcPr/>
                </a:tc>
                <a:extLst>
                  <a:ext uri="{0D108BD9-81ED-4DB2-BD59-A6C34878D82A}">
                    <a16:rowId xmlns:a16="http://schemas.microsoft.com/office/drawing/2014/main" val="1802383174"/>
                  </a:ext>
                </a:extLst>
              </a:tr>
            </a:tbl>
          </a:graphicData>
        </a:graphic>
      </p:graphicFrame>
      <p:graphicFrame>
        <p:nvGraphicFramePr>
          <p:cNvPr id="6" name="표 6">
            <a:extLst>
              <a:ext uri="{FF2B5EF4-FFF2-40B4-BE49-F238E27FC236}">
                <a16:creationId xmlns:a16="http://schemas.microsoft.com/office/drawing/2014/main" id="{85D95A9D-587F-43C5-90FF-5EA8D5669B3E}"/>
              </a:ext>
            </a:extLst>
          </p:cNvPr>
          <p:cNvGraphicFramePr>
            <a:graphicFrameLocks noGrp="1"/>
          </p:cNvGraphicFramePr>
          <p:nvPr/>
        </p:nvGraphicFramePr>
        <p:xfrm>
          <a:off x="6019800" y="4928394"/>
          <a:ext cx="5334000" cy="741680"/>
        </p:xfrm>
        <a:graphic>
          <a:graphicData uri="http://schemas.openxmlformats.org/drawingml/2006/table">
            <a:tbl>
              <a:tblPr firstRow="1" bandRow="1">
                <a:tableStyleId>{5C22544A-7EE6-4342-B048-85BDC9FD1C3A}</a:tableStyleId>
              </a:tblPr>
              <a:tblGrid>
                <a:gridCol w="4199121">
                  <a:extLst>
                    <a:ext uri="{9D8B030D-6E8A-4147-A177-3AD203B41FA5}">
                      <a16:colId xmlns:a16="http://schemas.microsoft.com/office/drawing/2014/main" val="1629880921"/>
                    </a:ext>
                  </a:extLst>
                </a:gridCol>
                <a:gridCol w="1134879">
                  <a:extLst>
                    <a:ext uri="{9D8B030D-6E8A-4147-A177-3AD203B41FA5}">
                      <a16:colId xmlns:a16="http://schemas.microsoft.com/office/drawing/2014/main" val="2071020492"/>
                    </a:ext>
                  </a:extLst>
                </a:gridCol>
              </a:tblGrid>
              <a:tr h="370840">
                <a:tc>
                  <a:txBody>
                    <a:bodyPr/>
                    <a:lstStyle/>
                    <a:p>
                      <a:pPr algn="ctr" latinLnBrk="1"/>
                      <a:r>
                        <a:rPr lang="ko-KR" altLang="en-US" dirty="0"/>
                        <a:t>검정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456405235"/>
                  </a:ext>
                </a:extLst>
              </a:tr>
              <a:tr h="370840">
                <a:tc>
                  <a:txBody>
                    <a:bodyPr/>
                    <a:lstStyle/>
                    <a:p>
                      <a:pPr latinLnBrk="1"/>
                      <a:r>
                        <a:rPr lang="ko-KR" altLang="en-US" dirty="0"/>
                        <a:t>부활한 명작에서 보여주는 액션에 감동</a:t>
                      </a:r>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411857883"/>
                  </a:ext>
                </a:extLst>
              </a:tr>
            </a:tbl>
          </a:graphicData>
        </a:graphic>
      </p:graphicFrame>
      <p:pic>
        <p:nvPicPr>
          <p:cNvPr id="7" name="그림 6">
            <a:extLst>
              <a:ext uri="{FF2B5EF4-FFF2-40B4-BE49-F238E27FC236}">
                <a16:creationId xmlns:a16="http://schemas.microsoft.com/office/drawing/2014/main" id="{324D19B1-3D55-4622-951D-55477748B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26137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3E1BBC48-E4D7-49D3-9492-134540AD362B}"/>
              </a:ext>
            </a:extLst>
          </p:cNvPr>
          <p:cNvSpPr>
            <a:spLocks noGrp="1"/>
          </p:cNvSpPr>
          <p:nvPr>
            <p:ph idx="1"/>
          </p:nvPr>
        </p:nvSpPr>
        <p:spPr/>
        <p:txBody>
          <a:bodyPr/>
          <a:lstStyle/>
          <a:p>
            <a:r>
              <a:rPr lang="en-US" altLang="ko-KR" b="0" i="0" dirty="0">
                <a:solidFill>
                  <a:srgbClr val="000000"/>
                </a:solidFill>
                <a:effectLst/>
                <a:ea typeface="+mj-ea"/>
              </a:rPr>
              <a:t>According to the table, there are three categories of articles in the learning data, one for </a:t>
            </a:r>
            <a:r>
              <a:rPr lang="ko-KR" altLang="en-US" b="0" i="0" dirty="0">
                <a:solidFill>
                  <a:srgbClr val="000000"/>
                </a:solidFill>
                <a:effectLst/>
                <a:ea typeface="+mj-ea"/>
              </a:rPr>
              <a:t>영화</a:t>
            </a:r>
            <a:r>
              <a:rPr lang="en-US" altLang="ko-KR" b="0" i="0" dirty="0">
                <a:solidFill>
                  <a:srgbClr val="000000"/>
                </a:solidFill>
                <a:effectLst/>
                <a:ea typeface="+mj-ea"/>
              </a:rPr>
              <a:t> and one for </a:t>
            </a:r>
            <a:r>
              <a:rPr lang="ko-KR" altLang="en-US" b="0" i="0" dirty="0">
                <a:solidFill>
                  <a:srgbClr val="000000"/>
                </a:solidFill>
                <a:effectLst/>
                <a:ea typeface="+mj-ea"/>
              </a:rPr>
              <a:t>우주</a:t>
            </a:r>
            <a:r>
              <a:rPr lang="en-US" altLang="ko-KR" b="0" i="0" dirty="0">
                <a:solidFill>
                  <a:srgbClr val="000000"/>
                </a:solidFill>
                <a:effectLst/>
                <a:ea typeface="+mj-ea"/>
              </a:rPr>
              <a:t>.</a:t>
            </a:r>
          </a:p>
          <a:p>
            <a:r>
              <a:rPr lang="en-US" altLang="ko-KR" b="0" i="0" dirty="0">
                <a:solidFill>
                  <a:srgbClr val="000000"/>
                </a:solidFill>
                <a:effectLst/>
                <a:ea typeface="+mj-ea"/>
              </a:rPr>
              <a:t>Simply put, there is a 50 % chance that a title is a movie or a universe.</a:t>
            </a:r>
          </a:p>
          <a:p>
            <a:r>
              <a:rPr lang="en-US" altLang="ko-KR" b="0" i="0" dirty="0">
                <a:solidFill>
                  <a:srgbClr val="000000"/>
                </a:solidFill>
                <a:effectLst/>
                <a:ea typeface="+mj-ea"/>
              </a:rPr>
              <a:t>We will take an example by paying attention to the word ＇</a:t>
            </a:r>
            <a:r>
              <a:rPr lang="ko-KR" altLang="en-US" b="0" i="0" dirty="0">
                <a:solidFill>
                  <a:srgbClr val="000000"/>
                </a:solidFill>
                <a:effectLst/>
                <a:ea typeface="+mj-ea"/>
              </a:rPr>
              <a:t>감동</a:t>
            </a:r>
            <a:r>
              <a:rPr lang="en-US" altLang="ko-KR" b="0" i="0" dirty="0">
                <a:solidFill>
                  <a:srgbClr val="000000"/>
                </a:solidFill>
                <a:effectLst/>
                <a:ea typeface="+mj-ea"/>
              </a:rPr>
              <a:t>' included in the test data.</a:t>
            </a:r>
            <a:endParaRPr lang="ko-KR" altLang="en-US" dirty="0">
              <a:ea typeface="+mj-ea"/>
            </a:endParaRPr>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548197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7" name="직사각형 6">
            <a:extLst>
              <a:ext uri="{FF2B5EF4-FFF2-40B4-BE49-F238E27FC236}">
                <a16:creationId xmlns:a16="http://schemas.microsoft.com/office/drawing/2014/main" id="{B501603E-421C-4821-8414-D7CFCD6FB1C2}"/>
              </a:ext>
            </a:extLst>
          </p:cNvPr>
          <p:cNvSpPr/>
          <p:nvPr/>
        </p:nvSpPr>
        <p:spPr>
          <a:xfrm>
            <a:off x="4547532" y="1975494"/>
            <a:ext cx="2793534" cy="914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dirty="0"/>
              <a:t>학습 데이터</a:t>
            </a:r>
            <a:endParaRPr lang="en-US" altLang="ko-KR" dirty="0"/>
          </a:p>
          <a:p>
            <a:pPr algn="ctr"/>
            <a:r>
              <a:rPr lang="ko-KR" altLang="en-US" dirty="0"/>
              <a:t>기사제목 </a:t>
            </a:r>
            <a:r>
              <a:rPr lang="en-US" altLang="ko-KR" dirty="0"/>
              <a:t>6</a:t>
            </a:r>
            <a:r>
              <a:rPr lang="ko-KR" altLang="en-US" dirty="0"/>
              <a:t>개</a:t>
            </a:r>
          </a:p>
        </p:txBody>
      </p:sp>
      <p:cxnSp>
        <p:nvCxnSpPr>
          <p:cNvPr id="9" name="연결선: 꺾임 8">
            <a:extLst>
              <a:ext uri="{FF2B5EF4-FFF2-40B4-BE49-F238E27FC236}">
                <a16:creationId xmlns:a16="http://schemas.microsoft.com/office/drawing/2014/main" id="{F5763E38-08E6-4C28-84DB-C8501F282C81}"/>
              </a:ext>
            </a:extLst>
          </p:cNvPr>
          <p:cNvCxnSpPr>
            <a:cxnSpLocks/>
            <a:stCxn id="7" idx="1"/>
            <a:endCxn id="10" idx="0"/>
          </p:cNvCxnSpPr>
          <p:nvPr/>
        </p:nvCxnSpPr>
        <p:spPr>
          <a:xfrm rot="10800000" flipV="1">
            <a:off x="2809614" y="2432694"/>
            <a:ext cx="1737919"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33409523-E6B2-4685-9E12-7A256AE0FC14}"/>
              </a:ext>
            </a:extLst>
          </p:cNvPr>
          <p:cNvSpPr/>
          <p:nvPr/>
        </p:nvSpPr>
        <p:spPr>
          <a:xfrm>
            <a:off x="1987492" y="2889894"/>
            <a:ext cx="1644242" cy="72145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ko-KR" altLang="en-US" dirty="0"/>
              <a:t>영화 카테고리</a:t>
            </a:r>
            <a:endParaRPr lang="en-US" altLang="ko-KR" dirty="0"/>
          </a:p>
          <a:p>
            <a:pPr algn="ctr"/>
            <a:r>
              <a:rPr lang="en-US" altLang="ko-KR" dirty="0"/>
              <a:t>3</a:t>
            </a:r>
            <a:r>
              <a:rPr lang="ko-KR" altLang="en-US" dirty="0"/>
              <a:t>개</a:t>
            </a:r>
          </a:p>
        </p:txBody>
      </p:sp>
      <p:cxnSp>
        <p:nvCxnSpPr>
          <p:cNvPr id="14" name="연결선: 꺾임 13">
            <a:extLst>
              <a:ext uri="{FF2B5EF4-FFF2-40B4-BE49-F238E27FC236}">
                <a16:creationId xmlns:a16="http://schemas.microsoft.com/office/drawing/2014/main" id="{C2606013-BD9C-4288-9A32-D99825261554}"/>
              </a:ext>
            </a:extLst>
          </p:cNvPr>
          <p:cNvCxnSpPr>
            <a:cxnSpLocks/>
            <a:stCxn id="7" idx="3"/>
            <a:endCxn id="15" idx="0"/>
          </p:cNvCxnSpPr>
          <p:nvPr/>
        </p:nvCxnSpPr>
        <p:spPr>
          <a:xfrm>
            <a:off x="7341066" y="2432694"/>
            <a:ext cx="1737918"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7ED1547C-B0D8-4879-A779-B9958716E9C1}"/>
              </a:ext>
            </a:extLst>
          </p:cNvPr>
          <p:cNvSpPr/>
          <p:nvPr/>
        </p:nvSpPr>
        <p:spPr>
          <a:xfrm>
            <a:off x="8256863" y="2889894"/>
            <a:ext cx="1644242" cy="7214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ko-KR" altLang="en-US" dirty="0"/>
              <a:t>우주 카테고리</a:t>
            </a:r>
            <a:endParaRPr lang="en-US" altLang="ko-KR" dirty="0"/>
          </a:p>
          <a:p>
            <a:pPr algn="ctr"/>
            <a:r>
              <a:rPr lang="en-US" altLang="ko-KR" dirty="0"/>
              <a:t>3</a:t>
            </a:r>
            <a:r>
              <a:rPr lang="ko-KR" altLang="en-US" dirty="0"/>
              <a:t>개</a:t>
            </a:r>
          </a:p>
        </p:txBody>
      </p:sp>
      <p:sp>
        <p:nvSpPr>
          <p:cNvPr id="17" name="직사각형 16">
            <a:extLst>
              <a:ext uri="{FF2B5EF4-FFF2-40B4-BE49-F238E27FC236}">
                <a16:creationId xmlns:a16="http://schemas.microsoft.com/office/drawing/2014/main" id="{ED00F619-5C8E-446E-A4D8-3CEDA5B2D8F1}"/>
              </a:ext>
            </a:extLst>
          </p:cNvPr>
          <p:cNvSpPr/>
          <p:nvPr/>
        </p:nvSpPr>
        <p:spPr>
          <a:xfrm>
            <a:off x="686499" y="3790436"/>
            <a:ext cx="1084278" cy="72145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ko-KR" altLang="en-US" dirty="0"/>
              <a:t>없음</a:t>
            </a:r>
            <a:endParaRPr lang="en-US" altLang="ko-KR" dirty="0"/>
          </a:p>
          <a:p>
            <a:pPr algn="ctr"/>
            <a:r>
              <a:rPr lang="en-US" altLang="ko-KR" dirty="0"/>
              <a:t>1</a:t>
            </a:r>
            <a:r>
              <a:rPr lang="ko-KR" altLang="en-US" dirty="0"/>
              <a:t>개</a:t>
            </a:r>
          </a:p>
        </p:txBody>
      </p:sp>
      <p:cxnSp>
        <p:nvCxnSpPr>
          <p:cNvPr id="18" name="연결선: 꺾임 17">
            <a:extLst>
              <a:ext uri="{FF2B5EF4-FFF2-40B4-BE49-F238E27FC236}">
                <a16:creationId xmlns:a16="http://schemas.microsoft.com/office/drawing/2014/main" id="{F4CDDDCA-18EC-425F-AF2F-3A1C8B604CC2}"/>
              </a:ext>
            </a:extLst>
          </p:cNvPr>
          <p:cNvCxnSpPr>
            <a:cxnSpLocks/>
            <a:stCxn id="10" idx="1"/>
            <a:endCxn id="17" idx="0"/>
          </p:cNvCxnSpPr>
          <p:nvPr/>
        </p:nvCxnSpPr>
        <p:spPr>
          <a:xfrm rot="10800000" flipV="1">
            <a:off x="1228638" y="3250620"/>
            <a:ext cx="758854" cy="5398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4CE51786-D9A8-4B50-ABA9-C21E6AD4735D}"/>
              </a:ext>
            </a:extLst>
          </p:cNvPr>
          <p:cNvSpPr/>
          <p:nvPr/>
        </p:nvSpPr>
        <p:spPr>
          <a:xfrm>
            <a:off x="4005393" y="3791579"/>
            <a:ext cx="1084278" cy="721454"/>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ko-KR" altLang="en-US" dirty="0"/>
              <a:t>있음</a:t>
            </a:r>
            <a:endParaRPr lang="en-US" altLang="ko-KR" dirty="0"/>
          </a:p>
          <a:p>
            <a:pPr algn="ctr"/>
            <a:r>
              <a:rPr lang="en-US" altLang="ko-KR" dirty="0"/>
              <a:t>2</a:t>
            </a:r>
            <a:r>
              <a:rPr lang="ko-KR" altLang="en-US" dirty="0"/>
              <a:t>개</a:t>
            </a:r>
          </a:p>
        </p:txBody>
      </p:sp>
      <p:cxnSp>
        <p:nvCxnSpPr>
          <p:cNvPr id="23" name="연결선: 꺾임 22">
            <a:extLst>
              <a:ext uri="{FF2B5EF4-FFF2-40B4-BE49-F238E27FC236}">
                <a16:creationId xmlns:a16="http://schemas.microsoft.com/office/drawing/2014/main" id="{839CE662-C73A-4BB0-B56E-B579608EF76D}"/>
              </a:ext>
            </a:extLst>
          </p:cNvPr>
          <p:cNvCxnSpPr>
            <a:cxnSpLocks/>
            <a:stCxn id="10" idx="3"/>
            <a:endCxn id="22" idx="0"/>
          </p:cNvCxnSpPr>
          <p:nvPr/>
        </p:nvCxnSpPr>
        <p:spPr>
          <a:xfrm>
            <a:off x="3631734" y="3250621"/>
            <a:ext cx="915798" cy="5409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직사각형 25">
            <a:extLst>
              <a:ext uri="{FF2B5EF4-FFF2-40B4-BE49-F238E27FC236}">
                <a16:creationId xmlns:a16="http://schemas.microsoft.com/office/drawing/2014/main" id="{3DFA07F2-3E91-488B-A83F-87A139722052}"/>
              </a:ext>
            </a:extLst>
          </p:cNvPr>
          <p:cNvSpPr/>
          <p:nvPr/>
        </p:nvSpPr>
        <p:spPr>
          <a:xfrm>
            <a:off x="6950628" y="3803151"/>
            <a:ext cx="1084278" cy="721454"/>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ko-KR" altLang="en-US" dirty="0"/>
              <a:t>없음</a:t>
            </a:r>
            <a:endParaRPr lang="en-US" altLang="ko-KR" dirty="0"/>
          </a:p>
          <a:p>
            <a:pPr algn="ctr"/>
            <a:r>
              <a:rPr lang="en-US" altLang="ko-KR" dirty="0"/>
              <a:t>2</a:t>
            </a:r>
            <a:r>
              <a:rPr lang="ko-KR" altLang="en-US" dirty="0"/>
              <a:t>개</a:t>
            </a:r>
          </a:p>
        </p:txBody>
      </p:sp>
      <p:cxnSp>
        <p:nvCxnSpPr>
          <p:cNvPr id="27" name="연결선: 꺾임 26">
            <a:extLst>
              <a:ext uri="{FF2B5EF4-FFF2-40B4-BE49-F238E27FC236}">
                <a16:creationId xmlns:a16="http://schemas.microsoft.com/office/drawing/2014/main" id="{98C4DEF1-319E-4813-B5FA-663D8D981B26}"/>
              </a:ext>
            </a:extLst>
          </p:cNvPr>
          <p:cNvCxnSpPr>
            <a:cxnSpLocks/>
            <a:stCxn id="15" idx="1"/>
            <a:endCxn id="26" idx="0"/>
          </p:cNvCxnSpPr>
          <p:nvPr/>
        </p:nvCxnSpPr>
        <p:spPr>
          <a:xfrm rot="10800000" flipV="1">
            <a:off x="7492767" y="3250621"/>
            <a:ext cx="764096" cy="55253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BF273C10-166E-44E2-9000-6B479C103590}"/>
              </a:ext>
            </a:extLst>
          </p:cNvPr>
          <p:cNvSpPr/>
          <p:nvPr/>
        </p:nvSpPr>
        <p:spPr>
          <a:xfrm>
            <a:off x="10269522" y="3804294"/>
            <a:ext cx="1084278" cy="721454"/>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ko-KR" altLang="en-US" dirty="0"/>
              <a:t>있음</a:t>
            </a:r>
            <a:endParaRPr lang="en-US" altLang="ko-KR" dirty="0"/>
          </a:p>
          <a:p>
            <a:pPr algn="ctr"/>
            <a:r>
              <a:rPr lang="en-US" altLang="ko-KR" dirty="0"/>
              <a:t>1</a:t>
            </a:r>
            <a:r>
              <a:rPr lang="ko-KR" altLang="en-US" dirty="0"/>
              <a:t>개</a:t>
            </a:r>
          </a:p>
        </p:txBody>
      </p:sp>
      <p:cxnSp>
        <p:nvCxnSpPr>
          <p:cNvPr id="29" name="연결선: 꺾임 28">
            <a:extLst>
              <a:ext uri="{FF2B5EF4-FFF2-40B4-BE49-F238E27FC236}">
                <a16:creationId xmlns:a16="http://schemas.microsoft.com/office/drawing/2014/main" id="{3077EB8B-8A09-4F21-846F-F637130F5AEC}"/>
              </a:ext>
            </a:extLst>
          </p:cNvPr>
          <p:cNvCxnSpPr>
            <a:cxnSpLocks/>
            <a:stCxn id="15" idx="3"/>
            <a:endCxn id="28" idx="0"/>
          </p:cNvCxnSpPr>
          <p:nvPr/>
        </p:nvCxnSpPr>
        <p:spPr>
          <a:xfrm>
            <a:off x="9901105" y="3250621"/>
            <a:ext cx="910556" cy="5536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표 34">
            <a:extLst>
              <a:ext uri="{FF2B5EF4-FFF2-40B4-BE49-F238E27FC236}">
                <a16:creationId xmlns:a16="http://schemas.microsoft.com/office/drawing/2014/main" id="{BB4D3DBE-8537-4EB6-BE02-D5D6C311C956}"/>
              </a:ext>
            </a:extLst>
          </p:cNvPr>
          <p:cNvGraphicFramePr>
            <a:graphicFrameLocks noGrp="1"/>
          </p:cNvGraphicFramePr>
          <p:nvPr/>
        </p:nvGraphicFramePr>
        <p:xfrm>
          <a:off x="1939721" y="4810555"/>
          <a:ext cx="8128000" cy="1112520"/>
        </p:xfrm>
        <a:graphic>
          <a:graphicData uri="http://schemas.openxmlformats.org/drawingml/2006/table">
            <a:tbl>
              <a:tblPr firstRow="1" bandRow="1">
                <a:tableStyleId>{F5AB1C69-6EDB-4FF4-983F-18BD219EF322}</a:tableStyleId>
              </a:tblPr>
              <a:tblGrid>
                <a:gridCol w="4064000">
                  <a:extLst>
                    <a:ext uri="{9D8B030D-6E8A-4147-A177-3AD203B41FA5}">
                      <a16:colId xmlns:a16="http://schemas.microsoft.com/office/drawing/2014/main" val="2508201540"/>
                    </a:ext>
                  </a:extLst>
                </a:gridCol>
                <a:gridCol w="4064000">
                  <a:extLst>
                    <a:ext uri="{9D8B030D-6E8A-4147-A177-3AD203B41FA5}">
                      <a16:colId xmlns:a16="http://schemas.microsoft.com/office/drawing/2014/main" val="3475985117"/>
                    </a:ext>
                  </a:extLst>
                </a:gridCol>
              </a:tblGrid>
              <a:tr h="370840">
                <a:tc>
                  <a:txBody>
                    <a:bodyPr/>
                    <a:lstStyle/>
                    <a:p>
                      <a:pPr algn="ctr" latinLnBrk="1"/>
                      <a:r>
                        <a:rPr lang="ko-KR" altLang="en-US" dirty="0"/>
                        <a:t>카테고리</a:t>
                      </a:r>
                    </a:p>
                  </a:txBody>
                  <a:tcPr/>
                </a:tc>
                <a:tc>
                  <a:txBody>
                    <a:bodyPr/>
                    <a:lstStyle/>
                    <a:p>
                      <a:pPr algn="ctr" latinLnBrk="1"/>
                      <a:r>
                        <a:rPr lang="en-US" altLang="ko-KR" dirty="0"/>
                        <a:t>‘</a:t>
                      </a:r>
                      <a:r>
                        <a:rPr lang="ko-KR" altLang="en-US" dirty="0"/>
                        <a:t>감동</a:t>
                      </a:r>
                      <a:r>
                        <a:rPr lang="en-US" altLang="ko-KR" dirty="0"/>
                        <a:t>’</a:t>
                      </a:r>
                      <a:r>
                        <a:rPr lang="ko-KR" altLang="en-US" dirty="0"/>
                        <a:t>이 나타날 조건부 확률</a:t>
                      </a:r>
                    </a:p>
                  </a:txBody>
                  <a:tcPr/>
                </a:tc>
                <a:extLst>
                  <a:ext uri="{0D108BD9-81ED-4DB2-BD59-A6C34878D82A}">
                    <a16:rowId xmlns:a16="http://schemas.microsoft.com/office/drawing/2014/main" val="1770658147"/>
                  </a:ext>
                </a:extLst>
              </a:tr>
              <a:tr h="370840">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extLst>
                  <a:ext uri="{0D108BD9-81ED-4DB2-BD59-A6C34878D82A}">
                    <a16:rowId xmlns:a16="http://schemas.microsoft.com/office/drawing/2014/main" val="2854923407"/>
                  </a:ext>
                </a:extLst>
              </a:tr>
              <a:tr h="370840">
                <a:tc>
                  <a:txBody>
                    <a:bodyPr/>
                    <a:lstStyle/>
                    <a:p>
                      <a:pPr algn="ctr" latinLnBrk="1"/>
                      <a:r>
                        <a:rPr lang="ko-KR" altLang="en-US" dirty="0"/>
                        <a:t>우주</a:t>
                      </a:r>
                    </a:p>
                  </a:txBody>
                  <a:tcPr/>
                </a:tc>
                <a:tc>
                  <a:txBody>
                    <a:bodyPr/>
                    <a:lstStyle/>
                    <a:p>
                      <a:pPr algn="ctr" latinLnBrk="1"/>
                      <a:r>
                        <a:rPr lang="en-US" altLang="ko-KR" dirty="0"/>
                        <a:t>1/3</a:t>
                      </a:r>
                      <a:endParaRPr lang="ko-KR" altLang="en-US" dirty="0"/>
                    </a:p>
                  </a:txBody>
                  <a:tcPr/>
                </a:tc>
                <a:extLst>
                  <a:ext uri="{0D108BD9-81ED-4DB2-BD59-A6C34878D82A}">
                    <a16:rowId xmlns:a16="http://schemas.microsoft.com/office/drawing/2014/main" val="281234695"/>
                  </a:ext>
                </a:extLst>
              </a:tr>
            </a:tbl>
          </a:graphicData>
        </a:graphic>
      </p:graphicFrame>
    </p:spTree>
    <p:extLst>
      <p:ext uri="{BB962C8B-B14F-4D97-AF65-F5344CB8AC3E}">
        <p14:creationId xmlns:p14="http://schemas.microsoft.com/office/powerpoint/2010/main" val="714611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When dealing with the classification problem of natural language processing into the Naive Bayes classification, input data must be converted into a vector composed of features.</a:t>
            </a:r>
          </a:p>
          <a:p>
            <a:pPr algn="l">
              <a:buFont typeface="Arial" panose="020B0604020202020204" pitchFamily="34" charset="0"/>
              <a:buChar char="•"/>
            </a:pPr>
            <a:r>
              <a:rPr lang="en-US" altLang="ko-KR" b="0" i="0" dirty="0">
                <a:solidFill>
                  <a:srgbClr val="000000"/>
                </a:solidFill>
                <a:effectLst/>
              </a:rPr>
              <a:t>The preprocessing in this example is to convert the article title to </a:t>
            </a:r>
            <a:r>
              <a:rPr lang="en-US" altLang="ko-KR" b="0" i="0" dirty="0" err="1">
                <a:solidFill>
                  <a:srgbClr val="000000"/>
                </a:solidFill>
                <a:effectLst/>
              </a:rPr>
              <a:t>BoW</a:t>
            </a:r>
            <a:r>
              <a:rPr lang="en-US" altLang="ko-KR" b="0" i="0" dirty="0">
                <a:solidFill>
                  <a:srgbClr val="000000"/>
                </a:solidFill>
                <a:effectLst/>
              </a:rPr>
              <a:t> (Bag of Words) and then create a vector consisting of feature and label pairs.</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4463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b="0" i="0" dirty="0">
                <a:solidFill>
                  <a:srgbClr val="000000"/>
                </a:solidFill>
                <a:effectLst/>
              </a:rPr>
              <a:t>First, only nouns are extracted from the article title of the learning data. At this time, the word order is ignored and treated as a set.</a:t>
            </a:r>
            <a:endParaRPr lang="ko-KR" altLang="en-US" dirty="0"/>
          </a:p>
        </p:txBody>
      </p:sp>
      <p:graphicFrame>
        <p:nvGraphicFramePr>
          <p:cNvPr id="6" name="표 6">
            <a:extLst>
              <a:ext uri="{FF2B5EF4-FFF2-40B4-BE49-F238E27FC236}">
                <a16:creationId xmlns:a16="http://schemas.microsoft.com/office/drawing/2014/main" id="{FA5FAA37-D01C-4A10-B12E-5108922B871D}"/>
              </a:ext>
            </a:extLst>
          </p:cNvPr>
          <p:cNvGraphicFramePr>
            <a:graphicFrameLocks noGrp="1"/>
          </p:cNvGraphicFramePr>
          <p:nvPr>
            <p:ph sz="half" idx="2"/>
          </p:nvPr>
        </p:nvGraphicFramePr>
        <p:xfrm>
          <a:off x="6172200" y="1825625"/>
          <a:ext cx="5181600" cy="2595880"/>
        </p:xfrm>
        <a:graphic>
          <a:graphicData uri="http://schemas.openxmlformats.org/drawingml/2006/table">
            <a:tbl>
              <a:tblPr firstRow="1" bandRow="1">
                <a:tableStyleId>{5C22544A-7EE6-4342-B048-85BDC9FD1C3A}</a:tableStyleId>
              </a:tblPr>
              <a:tblGrid>
                <a:gridCol w="3677653">
                  <a:extLst>
                    <a:ext uri="{9D8B030D-6E8A-4147-A177-3AD203B41FA5}">
                      <a16:colId xmlns:a16="http://schemas.microsoft.com/office/drawing/2014/main" val="402381612"/>
                    </a:ext>
                  </a:extLst>
                </a:gridCol>
                <a:gridCol w="1503947">
                  <a:extLst>
                    <a:ext uri="{9D8B030D-6E8A-4147-A177-3AD203B41FA5}">
                      <a16:colId xmlns:a16="http://schemas.microsoft.com/office/drawing/2014/main" val="71941078"/>
                    </a:ext>
                  </a:extLst>
                </a:gridCol>
              </a:tblGrid>
              <a:tr h="370840">
                <a:tc>
                  <a:txBody>
                    <a:bodyPr/>
                    <a:lstStyle/>
                    <a:p>
                      <a:pPr algn="ctr" latinLnBrk="1"/>
                      <a:r>
                        <a:rPr lang="ko-KR" altLang="en-US" dirty="0"/>
                        <a:t>학습데이터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1403225328"/>
                  </a:ext>
                </a:extLst>
              </a:tr>
              <a:tr h="370840">
                <a:tc>
                  <a:txBody>
                    <a:bodyPr/>
                    <a:lstStyle/>
                    <a:p>
                      <a:pPr algn="ctr" latinLnBrk="1"/>
                      <a:r>
                        <a:rPr lang="en-US" altLang="ko-KR" dirty="0"/>
                        <a:t>{“</a:t>
                      </a:r>
                      <a:r>
                        <a:rPr lang="ko-KR" altLang="en-US" dirty="0"/>
                        <a:t>감동</a:t>
                      </a:r>
                      <a:r>
                        <a:rPr lang="en-US" altLang="ko-KR" dirty="0"/>
                        <a:t>”, “</a:t>
                      </a:r>
                      <a:r>
                        <a:rPr lang="ko-KR" altLang="en-US" dirty="0"/>
                        <a:t>명작</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995078419"/>
                  </a:ext>
                </a:extLst>
              </a:tr>
              <a:tr h="370840">
                <a:tc>
                  <a:txBody>
                    <a:bodyPr/>
                    <a:lstStyle/>
                    <a:p>
                      <a:pPr algn="ctr" latinLnBrk="1"/>
                      <a:r>
                        <a:rPr lang="en-US" altLang="ko-KR" dirty="0"/>
                        <a:t>{“</a:t>
                      </a:r>
                      <a:r>
                        <a:rPr lang="ko-KR" altLang="en-US" dirty="0"/>
                        <a:t>화려</a:t>
                      </a:r>
                      <a:r>
                        <a:rPr lang="en-US" altLang="ko-KR" dirty="0"/>
                        <a:t>”, “</a:t>
                      </a:r>
                      <a:r>
                        <a:rPr lang="ko-KR" altLang="en-US" dirty="0"/>
                        <a:t>액션</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2641183492"/>
                  </a:ext>
                </a:extLst>
              </a:tr>
              <a:tr h="370840">
                <a:tc>
                  <a:txBody>
                    <a:bodyPr/>
                    <a:lstStyle/>
                    <a:p>
                      <a:pPr algn="ctr" latinLnBrk="1"/>
                      <a:r>
                        <a:rPr lang="en-US" altLang="ko-KR" dirty="0"/>
                        <a:t>{“</a:t>
                      </a:r>
                      <a:r>
                        <a:rPr lang="ko-KR" altLang="en-US" dirty="0"/>
                        <a:t>명작</a:t>
                      </a:r>
                      <a:r>
                        <a:rPr lang="en-US" altLang="ko-KR" dirty="0"/>
                        <a:t>”, “</a:t>
                      </a:r>
                      <a:r>
                        <a:rPr lang="ko-KR" altLang="en-US" dirty="0"/>
                        <a:t>세계</a:t>
                      </a:r>
                      <a:r>
                        <a:rPr lang="en-US" altLang="ko-KR" dirty="0"/>
                        <a:t>“, “</a:t>
                      </a:r>
                      <a:r>
                        <a:rPr lang="ko-KR" altLang="en-US" dirty="0"/>
                        <a:t>감동</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623832619"/>
                  </a:ext>
                </a:extLst>
              </a:tr>
              <a:tr h="370840">
                <a:tc>
                  <a:txBody>
                    <a:bodyPr/>
                    <a:lstStyle/>
                    <a:p>
                      <a:pPr algn="ctr" latinLnBrk="1"/>
                      <a:r>
                        <a:rPr lang="en-US" altLang="ko-KR" dirty="0"/>
                        <a:t>{“</a:t>
                      </a:r>
                      <a:r>
                        <a:rPr lang="ko-KR" altLang="en-US" dirty="0"/>
                        <a:t>모래 폭풍</a:t>
                      </a:r>
                      <a:r>
                        <a:rPr lang="en-US" altLang="ko-KR" dirty="0"/>
                        <a:t>“, “</a:t>
                      </a:r>
                      <a:r>
                        <a:rPr lang="ko-KR" altLang="en-US" dirty="0"/>
                        <a:t>화성</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2144581934"/>
                  </a:ext>
                </a:extLst>
              </a:tr>
              <a:tr h="370840">
                <a:tc>
                  <a:txBody>
                    <a:bodyPr/>
                    <a:lstStyle/>
                    <a:p>
                      <a:pPr algn="ctr" latinLnBrk="1"/>
                      <a:r>
                        <a:rPr lang="en-US" altLang="ko-KR" dirty="0"/>
                        <a:t>{“</a:t>
                      </a:r>
                      <a:r>
                        <a:rPr lang="ko-KR" altLang="en-US" dirty="0"/>
                        <a:t>화성</a:t>
                      </a:r>
                      <a:r>
                        <a:rPr lang="en-US" altLang="ko-KR" dirty="0"/>
                        <a:t>”, “</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1311186066"/>
                  </a:ext>
                </a:extLst>
              </a:tr>
              <a:tr h="370840">
                <a:tc>
                  <a:txBody>
                    <a:bodyPr/>
                    <a:lstStyle/>
                    <a:p>
                      <a:pPr algn="ctr" latinLnBrk="1"/>
                      <a:r>
                        <a:rPr lang="en-US" altLang="ko-KR" dirty="0"/>
                        <a:t>{“VR”,</a:t>
                      </a:r>
                      <a:r>
                        <a:rPr lang="ko-KR" altLang="en-US" dirty="0"/>
                        <a:t> </a:t>
                      </a:r>
                      <a:r>
                        <a:rPr lang="en-US" altLang="ko-KR" dirty="0"/>
                        <a:t>“</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3847895621"/>
                  </a:ext>
                </a:extLst>
              </a:tr>
            </a:tbl>
          </a:graphicData>
        </a:graphic>
      </p:graphicFrame>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7381100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sz="2400" b="0" i="0" dirty="0">
                <a:solidFill>
                  <a:srgbClr val="000000"/>
                </a:solidFill>
                <a:effectLst/>
              </a:rPr>
              <a:t>Second, Change the word set and category of the feature to be easy to handle.</a:t>
            </a:r>
          </a:p>
          <a:p>
            <a:pPr algn="l">
              <a:buFont typeface="Arial" panose="020B0604020202020204" pitchFamily="34" charset="0"/>
              <a:buChar char="•"/>
            </a:pPr>
            <a:r>
              <a:rPr lang="en-US" altLang="ko-KR" sz="2400" b="0" i="0" dirty="0">
                <a:solidFill>
                  <a:srgbClr val="000000"/>
                </a:solidFill>
                <a:effectLst/>
              </a:rPr>
              <a:t>When the learning data includes words in a set of words, add 1 and 0 when not included.</a:t>
            </a:r>
          </a:p>
          <a:p>
            <a:r>
              <a:rPr lang="en-US" altLang="ko-KR" sz="2400" b="0" i="0" dirty="0">
                <a:solidFill>
                  <a:srgbClr val="000000"/>
                </a:solidFill>
                <a:effectLst/>
              </a:rPr>
              <a:t>As shown in the table above, a pair of features and labels is called </a:t>
            </a:r>
            <a:r>
              <a:rPr lang="en-US" altLang="ko-KR" sz="2400" b="0" i="0" dirty="0" err="1">
                <a:solidFill>
                  <a:srgbClr val="000000"/>
                </a:solidFill>
                <a:effectLst/>
              </a:rPr>
              <a:t>BoW</a:t>
            </a:r>
            <a:r>
              <a:rPr lang="en-US" altLang="ko-KR" sz="2400" b="0" i="0" dirty="0">
                <a:solidFill>
                  <a:srgbClr val="000000"/>
                </a:solidFill>
                <a:effectLst/>
              </a:rPr>
              <a:t> depending on whether there is a word in a natural language sentence.</a:t>
            </a:r>
          </a:p>
          <a:p>
            <a:pPr algn="l">
              <a:buFont typeface="Arial" panose="020B0604020202020204" pitchFamily="34" charset="0"/>
              <a:buChar char="•"/>
            </a:pP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9018B32-A5BD-46AA-B990-A822FBF4C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080" y="4165780"/>
            <a:ext cx="6415840" cy="1958323"/>
          </a:xfrm>
          <a:prstGeom prst="rect">
            <a:avLst/>
          </a:prstGeom>
        </p:spPr>
      </p:pic>
    </p:spTree>
    <p:extLst>
      <p:ext uri="{BB962C8B-B14F-4D97-AF65-F5344CB8AC3E}">
        <p14:creationId xmlns:p14="http://schemas.microsoft.com/office/powerpoint/2010/main" val="790734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r>
              <a:rPr lang="en-US" altLang="ko-KR" b="0" i="0" dirty="0">
                <a:solidFill>
                  <a:srgbClr val="000000"/>
                </a:solidFill>
                <a:effectLst/>
              </a:rPr>
              <a:t>Third, The test data is also converted to </a:t>
            </a:r>
            <a:r>
              <a:rPr lang="en-US" altLang="ko-KR" b="0" i="0" dirty="0" err="1">
                <a:solidFill>
                  <a:srgbClr val="000000"/>
                </a:solidFill>
                <a:effectLst/>
              </a:rPr>
              <a:t>BoW</a:t>
            </a:r>
            <a:r>
              <a:rPr lang="en-US" altLang="ko-KR" b="0" i="0" dirty="0">
                <a:solidFill>
                  <a:srgbClr val="000000"/>
                </a:solidFill>
                <a:effectLst/>
              </a:rPr>
              <a:t>.</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그림 6">
            <a:extLst>
              <a:ext uri="{FF2B5EF4-FFF2-40B4-BE49-F238E27FC236}">
                <a16:creationId xmlns:a16="http://schemas.microsoft.com/office/drawing/2014/main" id="{B475A0A9-9232-4659-82DD-718CEB56E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3004" y="3487868"/>
            <a:ext cx="7805992" cy="733897"/>
          </a:xfrm>
          <a:prstGeom prst="rect">
            <a:avLst/>
          </a:prstGeom>
        </p:spPr>
      </p:pic>
    </p:spTree>
    <p:extLst>
      <p:ext uri="{BB962C8B-B14F-4D97-AF65-F5344CB8AC3E}">
        <p14:creationId xmlns:p14="http://schemas.microsoft.com/office/powerpoint/2010/main" val="7093261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1D4E2D-7E03-41E2-874B-0AD02A6A97D6}"/>
              </a:ext>
            </a:extLst>
          </p:cNvPr>
          <p:cNvSpPr>
            <a:spLocks noGrp="1"/>
          </p:cNvSpPr>
          <p:nvPr>
            <p:ph type="title"/>
          </p:nvPr>
        </p:nvSpPr>
        <p:spPr/>
        <p:txBody>
          <a:bodyPr/>
          <a:lstStyle/>
          <a:p>
            <a:r>
              <a:rPr lang="en-US" altLang="ko-KR" dirty="0"/>
              <a:t>Algorithm</a:t>
            </a:r>
            <a:br>
              <a:rPr lang="en-US" altLang="ko-KR" dirty="0"/>
            </a:br>
            <a:r>
              <a:rPr lang="en-US" altLang="ko-KR" sz="2400" dirty="0"/>
              <a:t>Calculate Probability</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356BCF7-17BD-4FF3-86FB-69196CA60A85}"/>
                  </a:ext>
                </a:extLst>
              </p:cNvPr>
              <p:cNvSpPr>
                <a:spLocks noGrp="1"/>
              </p:cNvSpPr>
              <p:nvPr>
                <p:ph idx="1"/>
              </p:nvPr>
            </p:nvSpPr>
            <p:spPr/>
            <p:txBody>
              <a:bodyPr>
                <a:normAutofit lnSpcReduction="10000"/>
              </a:bodyPr>
              <a:lstStyle/>
              <a:p>
                <a:pPr algn="l">
                  <a:buFont typeface="Arial" panose="020B0604020202020204" pitchFamily="34" charset="0"/>
                  <a:buChar char="•"/>
                </a:pPr>
                <a:r>
                  <a:rPr lang="en-US" altLang="ko-KR" b="0" i="0" dirty="0">
                    <a:solidFill>
                      <a:srgbClr val="000000"/>
                    </a:solidFill>
                    <a:effectLst/>
                  </a:rPr>
                  <a:t>When learning by the Naïve Bayes classification, two types of probabilities are calculated.</a:t>
                </a:r>
              </a:p>
              <a:p>
                <a:pPr marL="742950" lvl="1" indent="-285750" algn="l">
                  <a:buFont typeface="Arial" panose="020B0604020202020204" pitchFamily="34" charset="0"/>
                  <a:buChar char="•"/>
                </a:pPr>
                <a:r>
                  <a:rPr lang="en-US" altLang="ko-KR" b="0" i="0" dirty="0">
                    <a:solidFill>
                      <a:srgbClr val="000000"/>
                    </a:solidFill>
                    <a:effectLst/>
                  </a:rPr>
                  <a:t>a. probability of each label appearing</a:t>
                </a:r>
              </a:p>
              <a:p>
                <a:pPr marL="742950" lvl="1" indent="-285750" algn="l">
                  <a:buFont typeface="Arial" panose="020B0604020202020204" pitchFamily="34" charset="0"/>
                  <a:buChar char="•"/>
                </a:pPr>
                <a:r>
                  <a:rPr lang="en-US" altLang="ko-KR" b="0" i="0" dirty="0">
                    <a:solidFill>
                      <a:srgbClr val="000000"/>
                    </a:solidFill>
                    <a:effectLst/>
                  </a:rPr>
                  <a:t>b. conditional probability of each word appearing on each label</a:t>
                </a:r>
              </a:p>
              <a:p>
                <a:pPr marL="742950" lvl="1" indent="-285750" algn="l">
                  <a:buFont typeface="Arial" panose="020B0604020202020204" pitchFamily="34" charset="0"/>
                  <a:buChar char="•"/>
                </a:pPr>
                <a:r>
                  <a:rPr lang="en-US" altLang="ko-KR" b="0" i="0" dirty="0">
                    <a:solidFill>
                      <a:srgbClr val="000000"/>
                    </a:solidFill>
                    <a:effectLst/>
                  </a:rPr>
                  <a:t>calculate </a:t>
                </a:r>
                <a14:m>
                  <m:oMath xmlns:m="http://schemas.openxmlformats.org/officeDocument/2006/math">
                    <m:r>
                      <a:rPr lang="en-US" altLang="ko-KR" b="0" i="1" dirty="0" smtClean="0">
                        <a:solidFill>
                          <a:srgbClr val="000000"/>
                        </a:solidFill>
                        <a:effectLst/>
                        <a:latin typeface="Cambria Math" panose="02040503050406030204" pitchFamily="18" charset="0"/>
                      </a:rPr>
                      <m:t>𝑎</m:t>
                    </m:r>
                    <m:r>
                      <a:rPr lang="en-US" altLang="ko-KR" b="0" i="1" dirty="0" smtClean="0">
                        <a:solidFill>
                          <a:srgbClr val="000000"/>
                        </a:solidFill>
                        <a:effectLst/>
                        <a:latin typeface="Cambria Math" panose="02040503050406030204" pitchFamily="18" charset="0"/>
                        <a:ea typeface="Cambria Math" panose="02040503050406030204" pitchFamily="18" charset="0"/>
                      </a:rPr>
                      <m:t>×</m:t>
                    </m:r>
                    <m:r>
                      <a:rPr lang="en-US" altLang="ko-KR" b="0" i="1" dirty="0" smtClean="0">
                        <a:solidFill>
                          <a:srgbClr val="000000"/>
                        </a:solidFill>
                        <a:effectLst/>
                        <a:latin typeface="Cambria Math" panose="02040503050406030204" pitchFamily="18" charset="0"/>
                      </a:rPr>
                      <m:t>𝑏</m:t>
                    </m:r>
                  </m:oMath>
                </a14:m>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285750" indent="-285750"/>
                <a:r>
                  <a:rPr lang="en-US" altLang="ko-KR" b="0" i="0" dirty="0">
                    <a:solidFill>
                      <a:srgbClr val="000000"/>
                    </a:solidFill>
                    <a:effectLst/>
                  </a:rPr>
                  <a:t>The part allocated 0.01 is the part allocated with the original probability 0, which means that the word is not in the learning data.</a:t>
                </a:r>
                <a:endParaRPr lang="en-US" altLang="ko-KR" dirty="0">
                  <a:solidFill>
                    <a:srgbClr val="000000"/>
                  </a:solidFill>
                </a:endParaRPr>
              </a:p>
            </p:txBody>
          </p:sp>
        </mc:Choice>
        <mc:Fallback xmlns="">
          <p:sp>
            <p:nvSpPr>
              <p:cNvPr id="3" name="내용 개체 틀 2">
                <a:extLst>
                  <a:ext uri="{FF2B5EF4-FFF2-40B4-BE49-F238E27FC236}">
                    <a16:creationId xmlns:a16="http://schemas.microsoft.com/office/drawing/2014/main" id="{A356BCF7-17BD-4FF3-86FB-69196CA60A85}"/>
                  </a:ext>
                </a:extLst>
              </p:cNvPr>
              <p:cNvSpPr>
                <a:spLocks noGrp="1" noRot="1" noChangeAspect="1" noMove="1" noResize="1" noEditPoints="1" noAdjustHandles="1" noChangeArrowheads="1" noChangeShapeType="1" noTextEdit="1"/>
              </p:cNvSpPr>
              <p:nvPr>
                <p:ph idx="1"/>
              </p:nvPr>
            </p:nvSpPr>
            <p:spPr>
              <a:blipFill>
                <a:blip r:embed="rId2"/>
                <a:stretch>
                  <a:fillRect l="-1043" t="-3361" r="-98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756FAF10-DDF4-45BB-A9DB-0FCAE57C5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5" name="표 5">
            <a:extLst>
              <a:ext uri="{FF2B5EF4-FFF2-40B4-BE49-F238E27FC236}">
                <a16:creationId xmlns:a16="http://schemas.microsoft.com/office/drawing/2014/main" id="{CCC10D95-8098-4A98-95A5-0DDA8273E5AB}"/>
              </a:ext>
            </a:extLst>
          </p:cNvPr>
          <p:cNvGraphicFramePr>
            <a:graphicFrameLocks noGrp="1"/>
          </p:cNvGraphicFramePr>
          <p:nvPr/>
        </p:nvGraphicFramePr>
        <p:xfrm>
          <a:off x="2031999" y="3833514"/>
          <a:ext cx="8128001" cy="731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687688407"/>
                    </a:ext>
                  </a:extLst>
                </a:gridCol>
                <a:gridCol w="1161143">
                  <a:extLst>
                    <a:ext uri="{9D8B030D-6E8A-4147-A177-3AD203B41FA5}">
                      <a16:colId xmlns:a16="http://schemas.microsoft.com/office/drawing/2014/main" val="22396072"/>
                    </a:ext>
                  </a:extLst>
                </a:gridCol>
                <a:gridCol w="1161143">
                  <a:extLst>
                    <a:ext uri="{9D8B030D-6E8A-4147-A177-3AD203B41FA5}">
                      <a16:colId xmlns:a16="http://schemas.microsoft.com/office/drawing/2014/main" val="3082937306"/>
                    </a:ext>
                  </a:extLst>
                </a:gridCol>
                <a:gridCol w="1161143">
                  <a:extLst>
                    <a:ext uri="{9D8B030D-6E8A-4147-A177-3AD203B41FA5}">
                      <a16:colId xmlns:a16="http://schemas.microsoft.com/office/drawing/2014/main" val="3133052878"/>
                    </a:ext>
                  </a:extLst>
                </a:gridCol>
                <a:gridCol w="1161143">
                  <a:extLst>
                    <a:ext uri="{9D8B030D-6E8A-4147-A177-3AD203B41FA5}">
                      <a16:colId xmlns:a16="http://schemas.microsoft.com/office/drawing/2014/main" val="2380701529"/>
                    </a:ext>
                  </a:extLst>
                </a:gridCol>
                <a:gridCol w="1161143">
                  <a:extLst>
                    <a:ext uri="{9D8B030D-6E8A-4147-A177-3AD203B41FA5}">
                      <a16:colId xmlns:a16="http://schemas.microsoft.com/office/drawing/2014/main" val="194760876"/>
                    </a:ext>
                  </a:extLst>
                </a:gridCol>
                <a:gridCol w="1161143">
                  <a:extLst>
                    <a:ext uri="{9D8B030D-6E8A-4147-A177-3AD203B41FA5}">
                      <a16:colId xmlns:a16="http://schemas.microsoft.com/office/drawing/2014/main" val="105152808"/>
                    </a:ext>
                  </a:extLst>
                </a:gridCol>
              </a:tblGrid>
              <a:tr h="362857">
                <a:tc>
                  <a:txBody>
                    <a:bodyPr/>
                    <a:lstStyle/>
                    <a:p>
                      <a:pPr algn="ctr" latinLnBrk="1"/>
                      <a:endParaRPr lang="ko-KR" altLang="en-US" dirty="0"/>
                    </a:p>
                  </a:txBody>
                  <a:tcPr>
                    <a:lnTlToBr w="12700" cap="flat" cmpd="sng" algn="ctr">
                      <a:noFill/>
                      <a:prstDash val="solid"/>
                      <a:round/>
                      <a:headEnd type="none" w="med" len="med"/>
                      <a:tailEnd type="none" w="med" len="med"/>
                    </a:lnTlToBr>
                  </a:tcPr>
                </a:tc>
                <a:tc>
                  <a:txBody>
                    <a:bodyPr/>
                    <a:lstStyle/>
                    <a:p>
                      <a:pPr algn="ctr" latinLnBrk="1"/>
                      <a:r>
                        <a:rPr lang="ko-KR" altLang="en-US" dirty="0"/>
                        <a:t>명작</a:t>
                      </a:r>
                    </a:p>
                  </a:txBody>
                  <a:tcPr/>
                </a:tc>
                <a:tc>
                  <a:txBody>
                    <a:bodyPr/>
                    <a:lstStyle/>
                    <a:p>
                      <a:pPr algn="ctr" latinLnBrk="1"/>
                      <a:r>
                        <a:rPr lang="ko-KR" altLang="en-US" dirty="0"/>
                        <a:t>영화</a:t>
                      </a:r>
                    </a:p>
                  </a:txBody>
                  <a:tcPr/>
                </a:tc>
                <a:tc>
                  <a:txBody>
                    <a:bodyPr/>
                    <a:lstStyle/>
                    <a:p>
                      <a:pPr algn="ctr" latinLnBrk="1"/>
                      <a:r>
                        <a:rPr lang="en-US" altLang="ko-KR" dirty="0"/>
                        <a:t>…</a:t>
                      </a:r>
                      <a:endParaRPr lang="ko-KR" altLang="en-US" dirty="0"/>
                    </a:p>
                  </a:txBody>
                  <a:tcPr/>
                </a:tc>
                <a:tc>
                  <a:txBody>
                    <a:bodyPr/>
                    <a:lstStyle/>
                    <a:p>
                      <a:pPr algn="ctr" latinLnBrk="1"/>
                      <a:r>
                        <a:rPr lang="ko-KR" altLang="en-US" dirty="0"/>
                        <a:t>감동</a:t>
                      </a:r>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VR</a:t>
                      </a:r>
                      <a:endParaRPr lang="ko-KR" altLang="en-US" dirty="0"/>
                    </a:p>
                  </a:txBody>
                  <a:tcPr/>
                </a:tc>
                <a:extLst>
                  <a:ext uri="{0D108BD9-81ED-4DB2-BD59-A6C34878D82A}">
                    <a16:rowId xmlns:a16="http://schemas.microsoft.com/office/drawing/2014/main" val="1431318820"/>
                  </a:ext>
                </a:extLst>
              </a:tr>
              <a:tr h="174293">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0.01</a:t>
                      </a:r>
                      <a:endParaRPr lang="ko-KR" altLang="en-US" dirty="0"/>
                    </a:p>
                  </a:txBody>
                  <a:tcPr/>
                </a:tc>
                <a:extLst>
                  <a:ext uri="{0D108BD9-81ED-4DB2-BD59-A6C34878D82A}">
                    <a16:rowId xmlns:a16="http://schemas.microsoft.com/office/drawing/2014/main" val="1187199049"/>
                  </a:ext>
                </a:extLst>
              </a:tr>
            </a:tbl>
          </a:graphicData>
        </a:graphic>
      </p:graphicFrame>
    </p:spTree>
    <p:extLst>
      <p:ext uri="{BB962C8B-B14F-4D97-AF65-F5344CB8AC3E}">
        <p14:creationId xmlns:p14="http://schemas.microsoft.com/office/powerpoint/2010/main" val="707476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Sample Code</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dirty="0"/>
              <a:t>Import libraries</a:t>
            </a:r>
          </a:p>
          <a:p>
            <a:r>
              <a:rPr lang="en-US" altLang="ko-KR" dirty="0"/>
              <a:t>Make X, y data</a:t>
            </a:r>
          </a:p>
          <a:p>
            <a:r>
              <a:rPr lang="en-US" altLang="ko-KR" dirty="0"/>
              <a:t>Make model and training</a:t>
            </a:r>
          </a:p>
          <a:p>
            <a:r>
              <a:rPr lang="en-US" altLang="ko-KR" dirty="0"/>
              <a:t>Predict result</a:t>
            </a:r>
            <a:endParaRPr lang="ko-KR" altLang="en-US" dirty="0"/>
          </a:p>
        </p:txBody>
      </p:sp>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50CCF31-EA1C-4A27-A43C-5520DA9D096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88215" y="1825625"/>
            <a:ext cx="5149570" cy="3635608"/>
          </a:xfrm>
        </p:spPr>
      </p:pic>
      <p:pic>
        <p:nvPicPr>
          <p:cNvPr id="13" name="그림 12">
            <a:extLst>
              <a:ext uri="{FF2B5EF4-FFF2-40B4-BE49-F238E27FC236}">
                <a16:creationId xmlns:a16="http://schemas.microsoft.com/office/drawing/2014/main" id="{451DF2CF-9CF5-4E96-B0B2-888F3A79B3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5596170"/>
            <a:ext cx="2302005" cy="435514"/>
          </a:xfrm>
          <a:prstGeom prst="rect">
            <a:avLst/>
          </a:prstGeom>
        </p:spPr>
      </p:pic>
    </p:spTree>
    <p:extLst>
      <p:ext uri="{BB962C8B-B14F-4D97-AF65-F5344CB8AC3E}">
        <p14:creationId xmlns:p14="http://schemas.microsoft.com/office/powerpoint/2010/main" val="18546689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4AE12B-9253-4476-8B4B-8DB8BF1F1C7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C9981ED8-78D5-4954-9570-80C31111BE0D}"/>
              </a:ext>
            </a:extLst>
          </p:cNvPr>
          <p:cNvSpPr>
            <a:spLocks noGrp="1"/>
          </p:cNvSpPr>
          <p:nvPr>
            <p:ph type="subTitle" idx="1"/>
          </p:nvPr>
        </p:nvSpPr>
        <p:spPr/>
        <p:txBody>
          <a:bodyPr/>
          <a:lstStyle/>
          <a:p>
            <a:r>
              <a:rPr lang="en-US" altLang="ko-KR" dirty="0"/>
              <a:t>Random Forest</a:t>
            </a:r>
            <a:endParaRPr lang="ko-KR" altLang="en-US" dirty="0"/>
          </a:p>
        </p:txBody>
      </p:sp>
      <p:pic>
        <p:nvPicPr>
          <p:cNvPr id="4" name="그림 3">
            <a:extLst>
              <a:ext uri="{FF2B5EF4-FFF2-40B4-BE49-F238E27FC236}">
                <a16:creationId xmlns:a16="http://schemas.microsoft.com/office/drawing/2014/main" id="{083D9930-4228-4CFB-81BF-02C3E802C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EC96D265-2482-4812-9C7C-8DF1B4215333}"/>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2441390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7DE5FE-A3D3-45B0-BFB4-0367CD00BCBC}"/>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0EDC93-A9E9-41F3-80A9-31320E69C0E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Random forest is a method of combining various models to create a high-performance model.</a:t>
            </a:r>
          </a:p>
          <a:p>
            <a:pPr algn="l">
              <a:buFont typeface="Arial" panose="020B0604020202020204" pitchFamily="34" charset="0"/>
              <a:buChar char="•"/>
            </a:pPr>
            <a:r>
              <a:rPr lang="en-US" altLang="ko-KR" b="0" i="0" dirty="0">
                <a:solidFill>
                  <a:srgbClr val="000000"/>
                </a:solidFill>
                <a:effectLst/>
              </a:rPr>
              <a:t>It can be used for both regression and classification problems.</a:t>
            </a:r>
          </a:p>
          <a:p>
            <a:pPr algn="l">
              <a:buFont typeface="Arial" panose="020B0604020202020204" pitchFamily="34" charset="0"/>
              <a:buChar char="•"/>
            </a:pPr>
            <a:r>
              <a:rPr lang="en-US" altLang="ko-KR" b="0" i="0" dirty="0">
                <a:solidFill>
                  <a:srgbClr val="000000"/>
                </a:solidFill>
                <a:effectLst/>
              </a:rPr>
              <a:t>Similar algorithms include gradient boosting.</a:t>
            </a:r>
          </a:p>
          <a:p>
            <a:r>
              <a:rPr lang="en-US" altLang="ko-KR" b="0" i="0" dirty="0">
                <a:solidFill>
                  <a:srgbClr val="000000"/>
                </a:solidFill>
                <a:effectLst/>
              </a:rPr>
              <a:t>Random forest uses multiple models called decision trees to increase accuracy than using a single decision tree.</a:t>
            </a:r>
          </a:p>
          <a:p>
            <a:r>
              <a:rPr lang="en-US" altLang="ko-KR" b="0" i="0" dirty="0">
                <a:solidFill>
                  <a:srgbClr val="000000"/>
                </a:solidFill>
                <a:effectLst/>
              </a:rPr>
              <a:t>Random forest is used for both classification and regression problems, but this section exemplifies the classification problem.</a:t>
            </a:r>
            <a:endParaRPr lang="ko-KR" altLang="en-US" dirty="0"/>
          </a:p>
        </p:txBody>
      </p:sp>
      <p:pic>
        <p:nvPicPr>
          <p:cNvPr id="4" name="그림 3">
            <a:extLst>
              <a:ext uri="{FF2B5EF4-FFF2-40B4-BE49-F238E27FC236}">
                <a16:creationId xmlns:a16="http://schemas.microsoft.com/office/drawing/2014/main" id="{6F39F4E8-4893-441D-9248-1751AF29A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796942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315246-B940-4CC1-B4F7-F43558B2F8EC}"/>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5DD90288-C4C2-4FF1-A453-CB0369D1C1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6034" y="1453699"/>
            <a:ext cx="5299932" cy="3332680"/>
          </a:xfrm>
        </p:spPr>
      </p:pic>
      <p:sp>
        <p:nvSpPr>
          <p:cNvPr id="7" name="내용 개체 틀 2">
            <a:extLst>
              <a:ext uri="{FF2B5EF4-FFF2-40B4-BE49-F238E27FC236}">
                <a16:creationId xmlns:a16="http://schemas.microsoft.com/office/drawing/2014/main" id="{520A3CD2-CC43-4FF1-A9F2-9F90B4453969}"/>
              </a:ext>
            </a:extLst>
          </p:cNvPr>
          <p:cNvSpPr txBox="1">
            <a:spLocks/>
          </p:cNvSpPr>
          <p:nvPr/>
        </p:nvSpPr>
        <p:spPr>
          <a:xfrm>
            <a:off x="838200" y="4786416"/>
            <a:ext cx="10515600" cy="1325563"/>
          </a:xfrm>
          <a:prstGeom prst="rect">
            <a:avLst/>
          </a:prstGeom>
        </p:spPr>
        <p:txBody>
          <a:bodyPr vert="horz" lIns="91440" tIns="45720" rIns="91440" bIns="45720" rtlCol="0">
            <a:normAutofit fontScale="925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altLang="ko-KR" b="0" i="0" dirty="0">
                <a:solidFill>
                  <a:srgbClr val="000000"/>
                </a:solidFill>
                <a:effectLst/>
              </a:rPr>
              <a:t>The most predictive results are obtained as the final classification result by collecting the predictive results from each decision tree.</a:t>
            </a:r>
          </a:p>
          <a:p>
            <a:pPr algn="l">
              <a:buFont typeface="Arial" panose="020B0604020202020204" pitchFamily="34" charset="0"/>
              <a:buChar char="•"/>
            </a:pPr>
            <a:r>
              <a:rPr lang="en-US" altLang="ko-KR" b="0" i="0" dirty="0">
                <a:solidFill>
                  <a:srgbClr val="000000"/>
                </a:solidFill>
                <a:effectLst/>
              </a:rPr>
              <a:t>Random forest should be different for each decision tree.</a:t>
            </a:r>
          </a:p>
        </p:txBody>
      </p:sp>
      <p:pic>
        <p:nvPicPr>
          <p:cNvPr id="10" name="그림 9">
            <a:extLst>
              <a:ext uri="{FF2B5EF4-FFF2-40B4-BE49-F238E27FC236}">
                <a16:creationId xmlns:a16="http://schemas.microsoft.com/office/drawing/2014/main" id="{282D9C72-5AED-4FAB-8574-A0677A1B5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232491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When dividing learning data, impurity, which represents the imbalance of data, is digitized and used.</a:t>
                </a:r>
              </a:p>
              <a:p>
                <a:pPr algn="l">
                  <a:buFont typeface="Arial" panose="020B0604020202020204" pitchFamily="34" charset="0"/>
                  <a:buChar char="•"/>
                </a:pPr>
                <a:r>
                  <a:rPr lang="en-US" altLang="ko-KR" b="0" i="0" dirty="0">
                    <a:solidFill>
                      <a:srgbClr val="000000"/>
                    </a:solidFill>
                    <a:effectLst/>
                  </a:rPr>
                  <a:t>The decision tree divides the data so that the impurity is reduced.</a:t>
                </a:r>
              </a:p>
              <a:p>
                <a:pPr algn="l">
                  <a:buFont typeface="Arial" panose="020B0604020202020204" pitchFamily="34" charset="0"/>
                  <a:buChar char="•"/>
                </a:pPr>
                <a:r>
                  <a:rPr lang="en-US" altLang="ko-KR" b="0" i="0" dirty="0">
                    <a:solidFill>
                      <a:srgbClr val="000000"/>
                    </a:solidFill>
                    <a:effectLst/>
                  </a:rPr>
                  <a:t>If there are many of the same labels in the divided group, the impurity decreases.</a:t>
                </a:r>
              </a:p>
              <a:p>
                <a:pPr algn="l">
                  <a:buFont typeface="Arial" panose="020B0604020202020204" pitchFamily="34" charset="0"/>
                  <a:buChar char="•"/>
                </a:pPr>
                <a:r>
                  <a:rPr lang="en-US" altLang="ko-KR" b="0" i="0" dirty="0">
                    <a:solidFill>
                      <a:srgbClr val="000000"/>
                    </a:solidFill>
                    <a:effectLst/>
                  </a:rPr>
                  <a:t>If there are many other labels in the divided group, the impurity increases.</a:t>
                </a:r>
              </a:p>
              <a:p>
                <a:pPr algn="l">
                  <a:buFont typeface="Arial" panose="020B0604020202020204" pitchFamily="34" charset="0"/>
                  <a:buChar char="•"/>
                </a:pPr>
                <a:r>
                  <a:rPr lang="en-US" altLang="ko-KR" b="0" i="0" dirty="0">
                    <a:solidFill>
                      <a:srgbClr val="000000"/>
                    </a:solidFill>
                    <a:effectLst/>
                  </a:rPr>
                  <a:t>There are several indicators of impurities, where Gini index will be used.</a:t>
                </a:r>
              </a:p>
              <a:p>
                <a:pPr algn="l">
                  <a:buFont typeface="Arial" panose="020B0604020202020204" pitchFamily="34" charset="0"/>
                  <a:buChar char="•"/>
                </a:pPr>
                <a:r>
                  <a:rPr lang="en-US" altLang="ko-KR" b="0" i="0" dirty="0">
                    <a:solidFill>
                      <a:srgbClr val="000000"/>
                    </a:solidFill>
                    <a:effectLst/>
                  </a:rPr>
                  <a:t>Gini index: </a:t>
                </a:r>
                <a14:m>
                  <m:oMath xmlns:m="http://schemas.openxmlformats.org/officeDocument/2006/math">
                    <m:r>
                      <a:rPr lang="en-US" altLang="ko-KR" i="1" smtClean="0">
                        <a:latin typeface="Cambria Math" panose="02040503050406030204" pitchFamily="18" charset="0"/>
                      </a:rPr>
                      <m:t>−</m:t>
                    </m:r>
                    <m:nary>
                      <m:naryPr>
                        <m:chr m:val="∑"/>
                        <m:ctrlPr>
                          <a:rPr lang="en-US" altLang="ko-KR" i="1" smtClean="0">
                            <a:latin typeface="Cambria Math" panose="02040503050406030204" pitchFamily="18" charset="0"/>
                          </a:rPr>
                        </m:ctrlPr>
                      </m:naryPr>
                      <m:sub>
                        <m:r>
                          <m:rPr>
                            <m:sty m:val="p"/>
                            <m:brk m:alnAt="23"/>
                          </m:rPr>
                          <a:rPr lang="en-US" altLang="ko-KR" i="1">
                            <a:latin typeface="Cambria Math" panose="02040503050406030204" pitchFamily="18" charset="0"/>
                          </a:rPr>
                          <m:t>i</m:t>
                        </m:r>
                        <m:r>
                          <a:rPr lang="en-US" altLang="ko-KR" i="1">
                            <a:latin typeface="Cambria Math" panose="02040503050406030204" pitchFamily="18" charset="0"/>
                          </a:rPr>
                          <m:t>=1</m:t>
                        </m:r>
                      </m:sub>
                      <m:sup>
                        <m:r>
                          <m:rPr>
                            <m:sty m:val="p"/>
                          </m:rPr>
                          <a:rPr lang="en-US" altLang="ko-KR" i="1">
                            <a:latin typeface="Cambria Math" panose="02040503050406030204" pitchFamily="18" charset="0"/>
                          </a:rPr>
                          <m:t>c</m:t>
                        </m:r>
                      </m:sup>
                      <m:e>
                        <m:sSubSup>
                          <m:sSubSupPr>
                            <m:ctrlPr>
                              <a:rPr lang="en-US" altLang="ko-KR" i="1" smtClean="0">
                                <a:latin typeface="Cambria Math" panose="02040503050406030204" pitchFamily="18" charset="0"/>
                              </a:rPr>
                            </m:ctrlPr>
                          </m:sSubSupPr>
                          <m:e>
                            <m:r>
                              <m:rPr>
                                <m:sty m:val="p"/>
                              </m:rPr>
                              <a:rPr lang="en-US" altLang="ko-KR" i="1">
                                <a:latin typeface="Cambria Math" panose="02040503050406030204" pitchFamily="18" charset="0"/>
                              </a:rPr>
                              <m:t>p</m:t>
                            </m:r>
                          </m:e>
                          <m:sub>
                            <m:r>
                              <m:rPr>
                                <m:sty m:val="p"/>
                              </m:rPr>
                              <a:rPr lang="en-US" altLang="ko-KR" i="1">
                                <a:latin typeface="Cambria Math" panose="02040503050406030204" pitchFamily="18" charset="0"/>
                              </a:rPr>
                              <m:t>i</m:t>
                            </m:r>
                          </m:sub>
                          <m:sup>
                            <m:r>
                              <a:rPr lang="en-US" altLang="ko-KR" i="1">
                                <a:latin typeface="Cambria Math" panose="02040503050406030204" pitchFamily="18" charset="0"/>
                              </a:rPr>
                              <m:t>2</m:t>
                            </m:r>
                          </m:sup>
                        </m:sSubSup>
                      </m:e>
                    </m:nary>
                  </m:oMath>
                </a14:m>
                <a:endParaRPr lang="en-US" altLang="ko-KR" b="0" i="0" dirty="0">
                  <a:solidFill>
                    <a:srgbClr val="000000"/>
                  </a:solidFill>
                  <a:effectLst/>
                </a:endParaRP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928" t="-2101" r="-290" b="-2521"/>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0560137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In this case, </a:t>
                </a:r>
                <a14:m>
                  <m:oMath xmlns:m="http://schemas.openxmlformats.org/officeDocument/2006/math">
                    <m:r>
                      <a:rPr lang="en-US" altLang="ko-KR" b="0" i="1" dirty="0" smtClean="0">
                        <a:solidFill>
                          <a:srgbClr val="000000"/>
                        </a:solidFill>
                        <a:effectLst/>
                        <a:latin typeface="Cambria Math" panose="02040503050406030204" pitchFamily="18" charset="0"/>
                      </a:rPr>
                      <m:t>𝑐</m:t>
                    </m:r>
                  </m:oMath>
                </a14:m>
                <a:r>
                  <a:rPr lang="en-US" altLang="ko-KR" b="0" i="0" dirty="0">
                    <a:solidFill>
                      <a:srgbClr val="000000"/>
                    </a:solidFill>
                    <a:effectLst/>
                  </a:rPr>
                  <a:t> is the number of labels and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𝑝</m:t>
                        </m:r>
                      </m:e>
                      <m:sub>
                        <m:r>
                          <a:rPr lang="en-US" altLang="ko-KR" b="0" i="1" smtClean="0">
                            <a:solidFill>
                              <a:srgbClr val="000000"/>
                            </a:solidFill>
                            <a:effectLst/>
                            <a:latin typeface="Cambria Math" panose="02040503050406030204" pitchFamily="18" charset="0"/>
                          </a:rPr>
                          <m:t>𝑖</m:t>
                        </m:r>
                      </m:sub>
                    </m:sSub>
                  </m:oMath>
                </a14:m>
                <a:r>
                  <a:rPr lang="en-US" altLang="ko-KR" b="0" i="0" dirty="0">
                    <a:solidFill>
                      <a:srgbClr val="000000"/>
                    </a:solidFill>
                    <a:effectLst/>
                  </a:rPr>
                  <a:t> is the number of labels divided by the number of data.</a:t>
                </a:r>
              </a:p>
              <a:p>
                <a:pPr algn="l">
                  <a:buFont typeface="Arial" panose="020B0604020202020204" pitchFamily="34" charset="0"/>
                  <a:buChar char="•"/>
                </a:pPr>
                <a:r>
                  <a:rPr lang="en-US" altLang="ko-KR" b="0" i="0" dirty="0">
                    <a:solidFill>
                      <a:srgbClr val="000000"/>
                    </a:solidFill>
                    <a:effectLst/>
                  </a:rPr>
                  <a:t>The Gini coefficient and the weighted average using it are calculated according to the method of dividing the data.</a:t>
                </a:r>
              </a:p>
              <a:p>
                <a:pPr marL="914400" lvl="1" indent="-457200" algn="l">
                  <a:buFont typeface="+mj-lt"/>
                  <a:buAutoNum type="arabicPeriod"/>
                </a:pPr>
                <a:r>
                  <a:rPr lang="en-US" altLang="ko-KR" b="0" i="0" dirty="0">
                    <a:solidFill>
                      <a:srgbClr val="000000"/>
                    </a:solidFill>
                    <a:effectLst/>
                  </a:rPr>
                  <a:t>Calculate all features of one area and the impurity of the object to be divided</a:t>
                </a:r>
              </a:p>
              <a:p>
                <a:pPr marL="914400" lvl="1" indent="-457200" algn="l">
                  <a:buFont typeface="+mj-lt"/>
                  <a:buAutoNum type="arabicPeriod"/>
                </a:pPr>
                <a:r>
                  <a:rPr lang="en-US" altLang="ko-KR" b="0" i="0" dirty="0">
                    <a:solidFill>
                      <a:srgbClr val="000000"/>
                    </a:solidFill>
                    <a:effectLst/>
                  </a:rPr>
                  <a:t>Divide areas to minimize impurities.</a:t>
                </a:r>
              </a:p>
              <a:p>
                <a:pPr marL="914400" lvl="1" indent="-457200" algn="l">
                  <a:buFont typeface="+mj-lt"/>
                  <a:buAutoNum type="arabicPeriod"/>
                </a:pPr>
                <a:r>
                  <a:rPr lang="en-US" altLang="ko-KR" b="0" i="0" dirty="0">
                    <a:solidFill>
                      <a:srgbClr val="000000"/>
                    </a:solidFill>
                    <a:effectLst/>
                  </a:rPr>
                  <a:t>After dividing, repeat 1~2 steps in each area.</a:t>
                </a: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1043" t="-2381" r="-2029"/>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808283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p:pic>
        <p:nvPicPr>
          <p:cNvPr id="6" name="내용 개체 틀 5">
            <a:extLst>
              <a:ext uri="{FF2B5EF4-FFF2-40B4-BE49-F238E27FC236}">
                <a16:creationId xmlns:a16="http://schemas.microsoft.com/office/drawing/2014/main" id="{A7BA0206-9517-4236-BF57-1D2972BB96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6765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random forest</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Bootstrap: A method of "increasing" learning data by performing random recovery extractions from learning data several times. In one learning data, several learning data with different contents are generated and the learning data placed in each decision tree is different.</a:t>
            </a:r>
          </a:p>
          <a:p>
            <a:pPr algn="l">
              <a:buFont typeface="Arial" panose="020B0604020202020204" pitchFamily="34" charset="0"/>
              <a:buChar char="•"/>
            </a:pPr>
            <a:r>
              <a:rPr lang="en-US" altLang="ko-KR" b="0" i="0" dirty="0">
                <a:solidFill>
                  <a:srgbClr val="000000"/>
                </a:solidFill>
                <a:effectLst/>
              </a:rPr>
              <a:t>Certain optional choices: Choose and use only a few features randomly when learning the decision tree with bootstrap learning data.</a:t>
            </a:r>
          </a:p>
          <a:p>
            <a:pPr algn="l">
              <a:buFont typeface="Arial" panose="020B0604020202020204" pitchFamily="34" charset="0"/>
              <a:buChar char="•"/>
            </a:pPr>
            <a:r>
              <a:rPr lang="en-US" altLang="ko-KR" b="0" i="0" dirty="0">
                <a:solidFill>
                  <a:srgbClr val="000000"/>
                </a:solidFill>
                <a:effectLst/>
              </a:rPr>
              <a:t>Random forest learns to have different classification results using the above method.</a:t>
            </a:r>
          </a:p>
          <a:p>
            <a:pPr algn="l">
              <a:buFont typeface="Arial" panose="020B0604020202020204" pitchFamily="34" charset="0"/>
              <a:buChar char="•"/>
            </a:pPr>
            <a:endParaRPr lang="en-US" altLang="ko-KR" b="0" i="0" dirty="0">
              <a:solidFill>
                <a:srgbClr val="000000"/>
              </a:solidFill>
              <a:effectLst/>
            </a:endParaRP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035688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1EFC03-3DC4-4C42-83C6-3E413EB1A1B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052339E1-D84F-40EE-9143-EC1E1A86EC69}"/>
              </a:ext>
            </a:extLst>
          </p:cNvPr>
          <p:cNvSpPr>
            <a:spLocks noGrp="1"/>
          </p:cNvSpPr>
          <p:nvPr>
            <p:ph sz="half" idx="1"/>
          </p:nvPr>
        </p:nvSpPr>
        <p:spPr/>
        <p:txBody>
          <a:bodyPr/>
          <a:lstStyle/>
          <a:p>
            <a:r>
              <a:rPr lang="en-US" altLang="ko-KR" dirty="0"/>
              <a:t>Import libraries</a:t>
            </a:r>
          </a:p>
          <a:p>
            <a:r>
              <a:rPr lang="en-US" altLang="ko-KR" dirty="0"/>
              <a:t>Make dataset</a:t>
            </a:r>
          </a:p>
          <a:p>
            <a:r>
              <a:rPr lang="en-US" altLang="ko-KR" dirty="0"/>
              <a:t>Set train and test </a:t>
            </a:r>
            <a:r>
              <a:rPr lang="en-US" altLang="ko-KR" dirty="0" err="1"/>
              <a:t>datas</a:t>
            </a:r>
            <a:endParaRPr lang="en-US" altLang="ko-KR" dirty="0"/>
          </a:p>
          <a:p>
            <a:r>
              <a:rPr lang="en-US" altLang="ko-KR" dirty="0"/>
              <a:t>Make Random Forest model</a:t>
            </a:r>
          </a:p>
          <a:p>
            <a:r>
              <a:rPr lang="en-US" altLang="ko-KR" dirty="0"/>
              <a:t>Train data into model</a:t>
            </a:r>
          </a:p>
          <a:p>
            <a:r>
              <a:rPr lang="en-US" altLang="ko-KR" dirty="0"/>
              <a:t>Calculate accuracy</a:t>
            </a:r>
            <a:endParaRPr lang="ko-KR" altLang="en-US" dirty="0"/>
          </a:p>
        </p:txBody>
      </p:sp>
      <p:pic>
        <p:nvPicPr>
          <p:cNvPr id="6" name="내용 개체 틀 5">
            <a:extLst>
              <a:ext uri="{FF2B5EF4-FFF2-40B4-BE49-F238E27FC236}">
                <a16:creationId xmlns:a16="http://schemas.microsoft.com/office/drawing/2014/main" id="{78B7B985-CBC0-4015-9817-561FB486716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95800"/>
          </a:xfrm>
        </p:spPr>
      </p:pic>
      <p:pic>
        <p:nvPicPr>
          <p:cNvPr id="7" name="그림 6">
            <a:extLst>
              <a:ext uri="{FF2B5EF4-FFF2-40B4-BE49-F238E27FC236}">
                <a16:creationId xmlns:a16="http://schemas.microsoft.com/office/drawing/2014/main" id="{0203E297-1E8F-4B85-A386-6D31931DF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E71DB383-DBC2-41FB-A530-55D59C6D1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956362"/>
            <a:ext cx="3878120" cy="511834"/>
          </a:xfrm>
          <a:prstGeom prst="rect">
            <a:avLst/>
          </a:prstGeom>
        </p:spPr>
      </p:pic>
    </p:spTree>
    <p:extLst>
      <p:ext uri="{BB962C8B-B14F-4D97-AF65-F5344CB8AC3E}">
        <p14:creationId xmlns:p14="http://schemas.microsoft.com/office/powerpoint/2010/main" val="39331300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Importance of feature</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r>
              <a:rPr lang="en-US" altLang="ko-KR" dirty="0"/>
              <a:t>Feature of high importance are expected to significantly reduce impurities by using them as criteria for dividing areas.</a:t>
            </a:r>
          </a:p>
          <a:p>
            <a:r>
              <a:rPr lang="en-US" altLang="ko-KR" dirty="0"/>
              <a:t>The feature of low importance is that it is difficult to reduce impurities even when used as a criterion for dividing areas.</a:t>
            </a:r>
          </a:p>
          <a:p>
            <a:r>
              <a:rPr lang="en-US" altLang="ko-KR" dirty="0"/>
              <a:t>In this way, attention should be paid to the importance of features and unnecessary features should be reduced.</a:t>
            </a: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743272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6D9859-7532-4A2F-887F-3702DDE3A64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58FAB8B-9CCF-486C-9125-AFFDA58F761D}"/>
              </a:ext>
            </a:extLst>
          </p:cNvPr>
          <p:cNvSpPr>
            <a:spLocks noGrp="1"/>
          </p:cNvSpPr>
          <p:nvPr>
            <p:ph type="subTitle" idx="1"/>
          </p:nvPr>
        </p:nvSpPr>
        <p:spPr/>
        <p:txBody>
          <a:bodyPr/>
          <a:lstStyle/>
          <a:p>
            <a:r>
              <a:rPr lang="en-US" altLang="ko-KR" dirty="0"/>
              <a:t>Neural Network</a:t>
            </a:r>
            <a:endParaRPr lang="ko-KR" altLang="en-US" dirty="0"/>
          </a:p>
        </p:txBody>
      </p:sp>
      <p:pic>
        <p:nvPicPr>
          <p:cNvPr id="4" name="그림 3">
            <a:extLst>
              <a:ext uri="{FF2B5EF4-FFF2-40B4-BE49-F238E27FC236}">
                <a16:creationId xmlns:a16="http://schemas.microsoft.com/office/drawing/2014/main" id="{F6A93EF0-7698-456F-B9CE-E271E40D6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38E9609F-8850-4846-B340-88021973DA3F}"/>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4176530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4BEC0F-973A-4441-A5D4-56E11BA90E7A}"/>
              </a:ext>
            </a:extLst>
          </p:cNvPr>
          <p:cNvSpPr>
            <a:spLocks noGrp="1"/>
          </p:cNvSpPr>
          <p:nvPr>
            <p:ph type="title"/>
          </p:nvPr>
        </p:nvSpPr>
        <p:spPr>
          <a:xfrm>
            <a:off x="839788" y="338137"/>
            <a:ext cx="10512424" cy="1600200"/>
          </a:xfrm>
        </p:spPr>
        <p:txBody>
          <a:bodyPr>
            <a:normAutofit/>
          </a:bodyPr>
          <a:lstStyle/>
          <a:p>
            <a:r>
              <a:rPr lang="en-US" altLang="ko-KR" sz="4400" dirty="0"/>
              <a:t>Fundamental Concept</a:t>
            </a:r>
            <a:endParaRPr lang="ko-KR" altLang="en-US" sz="4400" dirty="0"/>
          </a:p>
        </p:txBody>
      </p:sp>
      <p:sp>
        <p:nvSpPr>
          <p:cNvPr id="4" name="텍스트 개체 틀 3">
            <a:extLst>
              <a:ext uri="{FF2B5EF4-FFF2-40B4-BE49-F238E27FC236}">
                <a16:creationId xmlns:a16="http://schemas.microsoft.com/office/drawing/2014/main" id="{FE6AD481-92D6-44CA-89E4-64BDF5A315AF}"/>
              </a:ext>
            </a:extLst>
          </p:cNvPr>
          <p:cNvSpPr>
            <a:spLocks noGrp="1"/>
          </p:cNvSpPr>
          <p:nvPr>
            <p:ph type="body" sz="half" idx="2"/>
          </p:nvPr>
        </p:nvSpPr>
        <p:spPr>
          <a:xfrm>
            <a:off x="839788" y="2312515"/>
            <a:ext cx="3932237" cy="3811588"/>
          </a:xfrm>
        </p:spPr>
        <p:txBody>
          <a:bodyPr/>
          <a:lstStyle/>
          <a:p>
            <a:pPr marL="285750" indent="-285750">
              <a:buFont typeface="Arial" panose="020B0604020202020204" pitchFamily="34" charset="0"/>
              <a:buChar char="•"/>
            </a:pPr>
            <a:r>
              <a:rPr lang="en-US" altLang="ko-KR" sz="1800" b="0" i="0" dirty="0">
                <a:solidFill>
                  <a:srgbClr val="000000"/>
                </a:solidFill>
                <a:effectLst/>
                <a:latin typeface="Helvetica Neue"/>
              </a:rPr>
              <a:t>A neural network is a model that learns complex decision lines by defining a hidden layer between the input layer and the output layer</a:t>
            </a:r>
          </a:p>
          <a:p>
            <a:pPr marL="285750" indent="-285750">
              <a:buFont typeface="Arial" panose="020B0604020202020204" pitchFamily="34" charset="0"/>
              <a:buChar char="•"/>
            </a:pPr>
            <a:r>
              <a:rPr lang="en-US" altLang="ko-KR" sz="1800" b="0" i="0" dirty="0">
                <a:solidFill>
                  <a:srgbClr val="000000"/>
                </a:solidFill>
                <a:effectLst/>
                <a:latin typeface="Helvetica Neue"/>
              </a:rPr>
              <a:t>It can be applied to both regression and classification, but it is mainly applied to classification problems.</a:t>
            </a:r>
          </a:p>
          <a:p>
            <a:pPr marL="285750" indent="-285750">
              <a:buFont typeface="Arial" panose="020B0604020202020204" pitchFamily="34" charset="0"/>
              <a:buChar char="•"/>
            </a:pPr>
            <a:r>
              <a:rPr lang="en-US" altLang="ko-KR" sz="1800" b="0" i="0" dirty="0">
                <a:solidFill>
                  <a:srgbClr val="000000"/>
                </a:solidFill>
                <a:effectLst/>
                <a:latin typeface="Helvetica Neue"/>
              </a:rPr>
              <a:t>The above figure is a neural network in which the input layer is 2D, the hidden layer is 2D, and the output layer is 1D.</a:t>
            </a:r>
          </a:p>
          <a:p>
            <a:pPr marL="285750" indent="-285750">
              <a:buFont typeface="Arial" panose="020B0604020202020204" pitchFamily="34" charset="0"/>
              <a:buChar char="•"/>
            </a:pPr>
            <a:endParaRPr lang="en-US" altLang="ko-KR" b="0" i="0" dirty="0">
              <a:solidFill>
                <a:srgbClr val="000000"/>
              </a:solidFill>
              <a:effectLst/>
              <a:latin typeface="Helvetica Neue"/>
            </a:endParaRPr>
          </a:p>
          <a:p>
            <a:pPr marL="285750" indent="-285750">
              <a:buFont typeface="Arial" panose="020B0604020202020204" pitchFamily="34" charset="0"/>
              <a:buChar char="•"/>
            </a:pPr>
            <a:endParaRPr lang="ko-KR" altLang="en-US" dirty="0"/>
          </a:p>
        </p:txBody>
      </p:sp>
      <p:pic>
        <p:nvPicPr>
          <p:cNvPr id="5" name="그림 4">
            <a:extLst>
              <a:ext uri="{FF2B5EF4-FFF2-40B4-BE49-F238E27FC236}">
                <a16:creationId xmlns:a16="http://schemas.microsoft.com/office/drawing/2014/main" id="{F12E10E0-8461-4189-9521-30A4AC04F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1A5CF627-F397-4AA6-8794-71B460283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297" y="2312515"/>
            <a:ext cx="6558915" cy="2981325"/>
          </a:xfrm>
          <a:prstGeom prst="rect">
            <a:avLst/>
          </a:prstGeom>
        </p:spPr>
      </p:pic>
    </p:spTree>
    <p:extLst>
      <p:ext uri="{BB962C8B-B14F-4D97-AF65-F5344CB8AC3E}">
        <p14:creationId xmlns:p14="http://schemas.microsoft.com/office/powerpoint/2010/main" val="1287287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962202F7-D087-48B5-AEF4-D296A2C98C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485151" cy="4351338"/>
          </a:xfrm>
        </p:spPr>
      </p:pic>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31450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altLang="ko-KR" b="0" i="0" dirty="0">
                <a:solidFill>
                  <a:srgbClr val="000000"/>
                </a:solidFill>
                <a:effectLst/>
              </a:rPr>
              <a:t>After applying a neural network to classifying NIST, a dataset composed of cursive letters, we will check the classification results.</a:t>
            </a:r>
          </a:p>
          <a:p>
            <a:pPr algn="l">
              <a:buFont typeface="Arial" panose="020B0604020202020204" pitchFamily="34" charset="0"/>
              <a:buChar char="•"/>
            </a:pPr>
            <a:r>
              <a:rPr lang="en-US" altLang="ko-KR" b="0" i="0" dirty="0">
                <a:solidFill>
                  <a:srgbClr val="000000"/>
                </a:solidFill>
                <a:effectLst/>
              </a:rPr>
              <a:t>NIST has 10 cursive letters ranging from 0 to 9.</a:t>
            </a:r>
          </a:p>
          <a:p>
            <a:pPr algn="l">
              <a:buFont typeface="Arial" panose="020B0604020202020204" pitchFamily="34" charset="0"/>
              <a:buChar char="•"/>
            </a:pPr>
            <a:r>
              <a:rPr lang="en-US" altLang="ko-KR" b="0" i="0" dirty="0">
                <a:solidFill>
                  <a:srgbClr val="000000"/>
                </a:solidFill>
                <a:effectLst/>
              </a:rPr>
              <a:t>The input layer represents the input cursive numeric image itself.</a:t>
            </a:r>
          </a:p>
          <a:p>
            <a:pPr algn="l">
              <a:buFont typeface="Arial" panose="020B0604020202020204" pitchFamily="34" charset="0"/>
              <a:buChar char="•"/>
            </a:pPr>
            <a:r>
              <a:rPr lang="en-US" altLang="ko-KR" b="0" i="0" dirty="0">
                <a:solidFill>
                  <a:srgbClr val="000000"/>
                </a:solidFill>
                <a:effectLst/>
              </a:rPr>
              <a:t>The pixel values of each point are stored in a 1D column vector.</a:t>
            </a:r>
          </a:p>
          <a:p>
            <a:pPr algn="l">
              <a:buFont typeface="Arial" panose="020B0604020202020204" pitchFamily="34" charset="0"/>
              <a:buChar char="•"/>
            </a:pPr>
            <a:r>
              <a:rPr lang="en-US" altLang="ko-KR" b="0" i="0" dirty="0">
                <a:solidFill>
                  <a:srgbClr val="000000"/>
                </a:solidFill>
                <a:effectLst/>
              </a:rPr>
              <a:t>The hidden layer calculates a value received from the input layer with a nonlinear function such as a sigmoid function.</a:t>
            </a:r>
          </a:p>
          <a:p>
            <a:pPr algn="l">
              <a:buFont typeface="Arial" panose="020B0604020202020204" pitchFamily="34" charset="0"/>
              <a:buChar char="•"/>
            </a:pPr>
            <a:r>
              <a:rPr lang="en-US" altLang="ko-KR" b="0" i="0" dirty="0">
                <a:solidFill>
                  <a:srgbClr val="000000"/>
                </a:solidFill>
                <a:effectLst/>
              </a:rPr>
              <a:t>The larger the hyperparameters, the more complex decision lines are learned, but overfitting is likely to occur.</a:t>
            </a:r>
          </a:p>
          <a:p>
            <a:pPr algn="l">
              <a:buFont typeface="Arial" panose="020B0604020202020204" pitchFamily="34" charset="0"/>
              <a:buChar char="•"/>
            </a:pPr>
            <a:r>
              <a:rPr lang="en-US" altLang="ko-KR" b="0" i="0" dirty="0">
                <a:solidFill>
                  <a:srgbClr val="000000"/>
                </a:solidFill>
                <a:effectLst/>
              </a:rPr>
              <a:t>The output layer also calculates the value received from the hidden layer as a nonlinear function.</a:t>
            </a:r>
          </a:p>
          <a:p>
            <a:pPr algn="l">
              <a:buFont typeface="Arial" panose="020B0604020202020204" pitchFamily="34" charset="0"/>
              <a:buChar char="•"/>
            </a:pPr>
            <a:r>
              <a:rPr lang="en-US" altLang="ko-KR" b="0" i="0" dirty="0">
                <a:solidFill>
                  <a:srgbClr val="000000"/>
                </a:solidFill>
                <a:effectLst/>
              </a:rPr>
              <a:t>The output layer outputs 10 probabilities that the input cursive numerical image belongs to one of 0 to 9.</a:t>
            </a:r>
          </a:p>
          <a:p>
            <a:endParaRPr lang="ko-KR" altLang="en-US" dirty="0"/>
          </a:p>
        </p:txBody>
      </p:sp>
    </p:spTree>
    <p:extLst>
      <p:ext uri="{BB962C8B-B14F-4D97-AF65-F5344CB8AC3E}">
        <p14:creationId xmlns:p14="http://schemas.microsoft.com/office/powerpoint/2010/main" val="1813841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A fault perceptron is a model that identifies data by applying a nonlinear function to a result obtained by multiplying a feature by a weight.</a:t>
                </a:r>
              </a:p>
              <a:p>
                <a:pPr algn="l">
                  <a:buFont typeface="Arial" panose="020B0604020202020204" pitchFamily="34" charset="0"/>
                  <a:buChar char="•"/>
                </a:pPr>
                <a:r>
                  <a:rPr lang="en-US" altLang="ko-KR" b="0" i="0" dirty="0">
                    <a:solidFill>
                      <a:srgbClr val="000000"/>
                    </a:solidFill>
                    <a:effectLst/>
                  </a:rPr>
                  <a:t>For example, if feature is 2D, input feature is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a:t>
                </a:r>
              </a:p>
              <a:p>
                <a:pPr algn="l">
                  <a:buFont typeface="Arial" panose="020B0604020202020204" pitchFamily="34" charset="0"/>
                  <a:buChar char="•"/>
                </a:pP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r>
                      <a:rPr lang="en-US" altLang="ko-KR" b="0" i="1" smtClean="0">
                        <a:solidFill>
                          <a:srgbClr val="000000"/>
                        </a:solidFill>
                        <a:effectLst/>
                        <a:latin typeface="Cambria Math" panose="02040503050406030204" pitchFamily="18" charset="0"/>
                      </a:rPr>
                      <m:t>𝑓</m:t>
                    </m:r>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r>
                      <a:rPr lang="en-US" altLang="ko-KR" b="0" i="1" smtClean="0">
                        <a:solidFill>
                          <a:srgbClr val="000000"/>
                        </a:solidFill>
                        <a:effectLst/>
                        <a:latin typeface="Cambria Math" panose="02040503050406030204" pitchFamily="18" charset="0"/>
                      </a:rPr>
                      <m:t>)</m:t>
                    </m:r>
                  </m:oMath>
                </a14:m>
                <a:endParaRPr lang="en-US" altLang="ko-KR" b="0" i="0" dirty="0">
                  <a:solidFill>
                    <a:srgbClr val="000000"/>
                  </a:solidFill>
                  <a:effectLst/>
                </a:endParaRPr>
              </a:p>
              <a:p>
                <a:pPr algn="l">
                  <a:buFont typeface="Arial" panose="020B0604020202020204" pitchFamily="34" charset="0"/>
                  <a:buChar char="•"/>
                </a:pPr>
                <a:r>
                  <a:rPr lang="en-US" altLang="ko-KR" b="0" i="0" dirty="0">
                    <a:solidFill>
                      <a:srgbClr val="000000"/>
                    </a:solidFill>
                    <a:effectLst/>
                  </a:rPr>
                  <a:t>we call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 as a weight,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oMath>
                </a14:m>
                <a:r>
                  <a:rPr lang="en-US" altLang="ko-KR" b="0" i="0" dirty="0">
                    <a:solidFill>
                      <a:srgbClr val="000000"/>
                    </a:solidFill>
                    <a:effectLst/>
                  </a:rPr>
                  <a:t> as a bias.</a:t>
                </a:r>
              </a:p>
              <a:p>
                <a:pPr algn="l">
                  <a:buFont typeface="Arial" panose="020B0604020202020204" pitchFamily="34" charset="0"/>
                  <a:buChar char="•"/>
                </a:pPr>
                <a:r>
                  <a:rPr lang="en-US" altLang="ko-KR" b="0" i="0" dirty="0">
                    <a:solidFill>
                      <a:srgbClr val="000000"/>
                    </a:solidFill>
                    <a:effectLst/>
                  </a:rPr>
                  <a:t>Weight and bias are parameters used for learning.</a:t>
                </a:r>
              </a:p>
              <a:p>
                <a:pPr algn="l">
                  <a:buFont typeface="Arial" panose="020B0604020202020204" pitchFamily="34" charset="0"/>
                  <a:buChar char="•"/>
                </a:pPr>
                <a:r>
                  <a:rPr lang="en-US" altLang="ko-KR" b="0" i="0" dirty="0">
                    <a:solidFill>
                      <a:srgbClr val="000000"/>
                    </a:solidFill>
                    <a:effectLst/>
                  </a:rPr>
                  <a:t>non-linear function f is called activation function</a:t>
                </a:r>
              </a:p>
              <a:p>
                <a:pPr algn="l">
                  <a:buFont typeface="Arial" panose="020B0604020202020204" pitchFamily="34" charset="0"/>
                  <a:buChar char="•"/>
                </a:pPr>
                <a:r>
                  <a:rPr lang="en-US" altLang="ko-KR" b="0" i="0" dirty="0">
                    <a:solidFill>
                      <a:srgbClr val="000000"/>
                    </a:solidFill>
                    <a:effectLst/>
                  </a:rPr>
                  <a:t>The probability y is calculated using the sum of the weights and features. In this case, the activation function uses a sigmoid function or the like.</a:t>
                </a:r>
              </a:p>
              <a:p>
                <a:pPr algn="l">
                  <a:buFont typeface="Arial" panose="020B0604020202020204" pitchFamily="34" charset="0"/>
                  <a:buChar char="•"/>
                </a:pPr>
                <a:endParaRPr lang="en-US" altLang="ko-KR" b="0" i="0" dirty="0">
                  <a:solidFill>
                    <a:srgbClr val="000000"/>
                  </a:solidFill>
                  <a:effectLst/>
                  <a:latin typeface="Helvetica Neue"/>
                </a:endParaRPr>
              </a:p>
              <a:p>
                <a:endParaRPr lang="ko-KR" altLang="en-US" dirty="0"/>
              </a:p>
            </p:txBody>
          </p:sp>
        </mc:Choice>
        <mc:Fallback xmlns="">
          <p:sp>
            <p:nvSpPr>
              <p:cNvPr id="4" name="내용 개체 틀 3">
                <a:extLst>
                  <a:ext uri="{FF2B5EF4-FFF2-40B4-BE49-F238E27FC236}">
                    <a16:creationId xmlns:a16="http://schemas.microsoft.com/office/drawing/2014/main" id="{BDF59CF8-6800-4F7A-B9AC-FB90E46F8B9F}"/>
                  </a:ext>
                </a:extLst>
              </p:cNvPr>
              <p:cNvSpPr>
                <a:spLocks noGrp="1" noRot="1" noChangeAspect="1" noMove="1" noResize="1" noEditPoints="1" noAdjustHandles="1" noChangeArrowheads="1" noChangeShapeType="1" noTextEdit="1"/>
              </p:cNvSpPr>
              <p:nvPr>
                <p:ph idx="1"/>
              </p:nvPr>
            </p:nvSpPr>
            <p:spPr>
              <a:blipFill>
                <a:blip r:embed="rId3"/>
                <a:stretch>
                  <a:fillRect l="-928" t="-3081" r="-1275" b="-336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58979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469FEBB-948C-4522-8A25-FEE1868447D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0031" y="1825625"/>
            <a:ext cx="8591938" cy="4351338"/>
          </a:xfrm>
        </p:spPr>
      </p:pic>
    </p:spTree>
    <p:extLst>
      <p:ext uri="{BB962C8B-B14F-4D97-AF65-F5344CB8AC3E}">
        <p14:creationId xmlns:p14="http://schemas.microsoft.com/office/powerpoint/2010/main" val="38221256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개체 틀 5">
            <a:extLst>
              <a:ext uri="{FF2B5EF4-FFF2-40B4-BE49-F238E27FC236}">
                <a16:creationId xmlns:a16="http://schemas.microsoft.com/office/drawing/2014/main" id="{32C1BADC-93F0-4BEC-ACDC-028B7337C9E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336" b="336"/>
          <a:stretch>
            <a:fillRect/>
          </a:stretch>
        </p:blipFill>
        <p:spPr>
          <a:xfrm>
            <a:off x="6521044" y="1751842"/>
            <a:ext cx="4834343" cy="3817241"/>
          </a:xfrm>
        </p:spPr>
      </p:pic>
      <mc:AlternateContent xmlns:mc="http://schemas.openxmlformats.org/markup-compatibility/2006" xmlns:a14="http://schemas.microsoft.com/office/drawing/2010/main">
        <mc:Choice Requires="a14">
          <p:sp>
            <p:nvSpPr>
              <p:cNvPr id="4" name="텍스트 개체 틀 3">
                <a:extLst>
                  <a:ext uri="{FF2B5EF4-FFF2-40B4-BE49-F238E27FC236}">
                    <a16:creationId xmlns:a16="http://schemas.microsoft.com/office/drawing/2014/main" id="{E9A2AB6C-DF30-4F90-892E-16A9BF1531E1}"/>
                  </a:ext>
                </a:extLst>
              </p:cNvPr>
              <p:cNvSpPr>
                <a:spLocks noGrp="1"/>
              </p:cNvSpPr>
              <p:nvPr>
                <p:ph type="body" sz="half" idx="2"/>
              </p:nvPr>
            </p:nvSpPr>
            <p:spPr>
              <a:xfrm>
                <a:off x="839788" y="2057400"/>
                <a:ext cx="4831170" cy="3811588"/>
              </a:xfrm>
            </p:spPr>
            <p:txBody>
              <a:bodyPr>
                <a:normAutofit/>
              </a:bodyPr>
              <a:lstStyle/>
              <a:p>
                <a:pPr marL="457200" indent="-457200">
                  <a:buFont typeface="Arial" panose="020B0604020202020204" pitchFamily="34" charset="0"/>
                  <a:buChar char="•"/>
                </a:pPr>
                <a:r>
                  <a:rPr lang="en-US" altLang="ko-KR" sz="2400" b="0" i="0" dirty="0">
                    <a:solidFill>
                      <a:srgbClr val="000000"/>
                    </a:solidFill>
                    <a:effectLst/>
                  </a:rPr>
                  <a:t>It also simply shows only the input and output parts.</a:t>
                </a:r>
              </a:p>
              <a:p>
                <a:pPr marL="457200" indent="-457200">
                  <a:buFont typeface="Arial" panose="020B0604020202020204" pitchFamily="34" charset="0"/>
                  <a:buChar char="•"/>
                </a:pPr>
                <a:r>
                  <a:rPr lang="en-US" altLang="ko-KR" sz="2400" dirty="0"/>
                  <a:t>Fault perceptron have similar characteristics to logistic regression.</a:t>
                </a:r>
              </a:p>
              <a:p>
                <a:pPr marL="457200" indent="-457200">
                  <a:buFont typeface="Arial" panose="020B0604020202020204" pitchFamily="34" charset="0"/>
                  <a:buChar char="•"/>
                </a:pPr>
                <a:r>
                  <a:rPr lang="en-US" altLang="ko-KR" sz="2400" dirty="0"/>
                  <a:t>If activation function </a:t>
                </a:r>
                <a14:m>
                  <m:oMath xmlns:m="http://schemas.openxmlformats.org/officeDocument/2006/math">
                    <m:r>
                      <a:rPr lang="en-US" altLang="ko-KR" sz="2400" b="0" i="1" dirty="0" smtClean="0">
                        <a:latin typeface="Cambria Math" panose="02040503050406030204" pitchFamily="18" charset="0"/>
                      </a:rPr>
                      <m:t>𝑓</m:t>
                    </m:r>
                  </m:oMath>
                </a14:m>
                <a:r>
                  <a:rPr lang="en-US" altLang="ko-KR" sz="2400" dirty="0"/>
                  <a:t> is only sigmoid function, fault perception is same as logistic regression</a:t>
                </a:r>
                <a:endParaRPr lang="ko-KR" altLang="en-US" sz="2400" dirty="0"/>
              </a:p>
            </p:txBody>
          </p:sp>
        </mc:Choice>
        <mc:Fallback xmlns="">
          <p:sp>
            <p:nvSpPr>
              <p:cNvPr id="4" name="텍스트 개체 틀 3">
                <a:extLst>
                  <a:ext uri="{FF2B5EF4-FFF2-40B4-BE49-F238E27FC236}">
                    <a16:creationId xmlns:a16="http://schemas.microsoft.com/office/drawing/2014/main" id="{E9A2AB6C-DF30-4F90-892E-16A9BF1531E1}"/>
                  </a:ext>
                </a:extLst>
              </p:cNvPr>
              <p:cNvSpPr>
                <a:spLocks noGrp="1" noRot="1" noChangeAspect="1" noMove="1" noResize="1" noEditPoints="1" noAdjustHandles="1" noChangeArrowheads="1" noChangeShapeType="1" noTextEdit="1"/>
              </p:cNvSpPr>
              <p:nvPr>
                <p:ph type="body" sz="half" idx="2"/>
              </p:nvPr>
            </p:nvSpPr>
            <p:spPr>
              <a:xfrm>
                <a:off x="839788" y="2057400"/>
                <a:ext cx="4831170" cy="3811588"/>
              </a:xfrm>
              <a:blipFill>
                <a:blip r:embed="rId3"/>
                <a:stretch>
                  <a:fillRect l="-1768" t="-2240" r="-3157"/>
                </a:stretch>
              </a:blipFill>
            </p:spPr>
            <p:txBody>
              <a:bodyPr/>
              <a:lstStyle/>
              <a:p>
                <a:r>
                  <a:rPr lang="ko-KR" altLang="en-US">
                    <a:noFill/>
                  </a:rPr>
                  <a:t> </a:t>
                </a:r>
              </a:p>
            </p:txBody>
          </p:sp>
        </mc:Fallback>
      </mc:AlternateContent>
      <p:pic>
        <p:nvPicPr>
          <p:cNvPr id="7" name="그림 6">
            <a:extLst>
              <a:ext uri="{FF2B5EF4-FFF2-40B4-BE49-F238E27FC236}">
                <a16:creationId xmlns:a16="http://schemas.microsoft.com/office/drawing/2014/main" id="{DEA1C74C-B669-412B-8B25-D30754F0C9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2" name="제목 1">
            <a:extLst>
              <a:ext uri="{FF2B5EF4-FFF2-40B4-BE49-F238E27FC236}">
                <a16:creationId xmlns:a16="http://schemas.microsoft.com/office/drawing/2014/main" id="{851CE6B8-C88A-48D6-860A-7EB880CD8ECF}"/>
              </a:ext>
            </a:extLst>
          </p:cNvPr>
          <p:cNvSpPr>
            <a:spLocks noGrp="1"/>
          </p:cNvSpPr>
          <p:nvPr>
            <p:ph type="title"/>
          </p:nvPr>
        </p:nvSpPr>
        <p:spPr>
          <a:xfrm>
            <a:off x="839787" y="457200"/>
            <a:ext cx="5795905" cy="1600200"/>
          </a:xfrm>
        </p:spPr>
        <p:txBody>
          <a:bodyPr>
            <a:normAutofit/>
          </a:bodyPr>
          <a:lstStyle/>
          <a:p>
            <a:r>
              <a:rPr lang="en-US" altLang="ko-KR" sz="4400" dirty="0"/>
              <a:t>Algorithm</a:t>
            </a:r>
            <a:br>
              <a:rPr lang="en-US" altLang="ko-KR" sz="4400" dirty="0"/>
            </a:br>
            <a:r>
              <a:rPr lang="en-US" altLang="ko-KR" sz="2400" dirty="0"/>
              <a:t>fault perceptron</a:t>
            </a:r>
            <a:endParaRPr lang="ko-KR" altLang="en-US" sz="2400" dirty="0"/>
          </a:p>
        </p:txBody>
      </p:sp>
    </p:spTree>
    <p:extLst>
      <p:ext uri="{BB962C8B-B14F-4D97-AF65-F5344CB8AC3E}">
        <p14:creationId xmlns:p14="http://schemas.microsoft.com/office/powerpoint/2010/main" val="22496490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Neural Network</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A neural network is a model that defines several fault perceptron to represent complex decision line.</a:t>
            </a:r>
          </a:p>
          <a:p>
            <a:pPr algn="l">
              <a:buFont typeface="Arial" panose="020B0604020202020204" pitchFamily="34" charset="0"/>
              <a:buChar char="•"/>
            </a:pPr>
            <a:r>
              <a:rPr lang="en-US" altLang="ko-KR" b="0" i="0" dirty="0">
                <a:solidFill>
                  <a:srgbClr val="000000"/>
                </a:solidFill>
                <a:effectLst/>
              </a:rPr>
              <a:t>fault perceptron can't learn decision line correctly.</a:t>
            </a:r>
          </a:p>
          <a:p>
            <a:pPr algn="l">
              <a:buFont typeface="Arial" panose="020B0604020202020204" pitchFamily="34" charset="0"/>
              <a:buChar char="•"/>
            </a:pPr>
            <a:endParaRPr lang="en-US" altLang="ko-KR" b="0" i="0" dirty="0">
              <a:solidFill>
                <a:srgbClr val="000000"/>
              </a:solidFill>
              <a:effectLst/>
            </a:endParaRPr>
          </a:p>
          <a:p>
            <a:pPr marL="514350" indent="-514350" algn="l">
              <a:buFont typeface="+mj-lt"/>
              <a:buAutoNum type="arabicPeriod"/>
            </a:pPr>
            <a:endParaRPr lang="en-US" altLang="ko-KR" b="0" i="0" dirty="0">
              <a:solidFill>
                <a:srgbClr val="000000"/>
              </a:solidFill>
              <a:effectLst/>
            </a:endParaRPr>
          </a:p>
          <a:p>
            <a:pPr marL="514350" indent="-514350">
              <a:buFont typeface="+mj-lt"/>
              <a:buAutoNum type="arabicPeriod"/>
            </a:pPr>
            <a:r>
              <a:rPr lang="en-US" altLang="ko-KR" b="0" i="0" dirty="0">
                <a:solidFill>
                  <a:srgbClr val="000000"/>
                </a:solidFill>
                <a:effectLst/>
              </a:rPr>
              <a:t>Set a hidden layer between the input and output.</a:t>
            </a:r>
          </a:p>
          <a:p>
            <a:pPr marL="514350" indent="-514350">
              <a:buFont typeface="+mj-lt"/>
              <a:buAutoNum type="arabicPeriod"/>
            </a:pPr>
            <a:r>
              <a:rPr lang="en-US" altLang="ko-KR" b="0" i="0" dirty="0">
                <a:solidFill>
                  <a:srgbClr val="000000"/>
                </a:solidFill>
                <a:effectLst/>
              </a:rPr>
              <a:t>Set the decision to make the final decision by combining the output results of the two layers.</a:t>
            </a:r>
          </a:p>
          <a:p>
            <a:endParaRPr lang="ko-KR" altLang="en-US" dirty="0"/>
          </a:p>
        </p:txBody>
      </p:sp>
    </p:spTree>
    <p:extLst>
      <p:ext uri="{BB962C8B-B14F-4D97-AF65-F5344CB8AC3E}">
        <p14:creationId xmlns:p14="http://schemas.microsoft.com/office/powerpoint/2010/main" val="15584451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lstStyle/>
          <a:p>
            <a:r>
              <a:rPr lang="en-US" altLang="ko-KR" dirty="0"/>
              <a:t>Import libraries</a:t>
            </a:r>
          </a:p>
          <a:p>
            <a:r>
              <a:rPr lang="en-US" altLang="ko-KR" dirty="0"/>
              <a:t>Load data</a:t>
            </a:r>
          </a:p>
          <a:p>
            <a:r>
              <a:rPr lang="en-US" altLang="ko-KR" dirty="0"/>
              <a:t>Reshape images</a:t>
            </a:r>
          </a:p>
          <a:p>
            <a:r>
              <a:rPr lang="en-US" altLang="ko-KR" dirty="0"/>
              <a:t>Set label data</a:t>
            </a:r>
          </a:p>
          <a:p>
            <a:r>
              <a:rPr lang="en-US" altLang="ko-KR" dirty="0"/>
              <a:t>Set training, test data</a:t>
            </a:r>
          </a:p>
          <a:p>
            <a:r>
              <a:rPr lang="en-US" altLang="ko-KR" dirty="0"/>
              <a:t>put training data to model</a:t>
            </a:r>
          </a:p>
          <a:p>
            <a:r>
              <a:rPr lang="en-US" altLang="ko-KR" dirty="0"/>
              <a:t>Predict result</a:t>
            </a:r>
          </a:p>
          <a:p>
            <a:r>
              <a:rPr lang="en-US" altLang="ko-KR" dirty="0"/>
              <a:t>Check accuracy</a:t>
            </a:r>
          </a:p>
        </p:txBody>
      </p:sp>
      <p:pic>
        <p:nvPicPr>
          <p:cNvPr id="7" name="내용 개체 틀 6">
            <a:extLst>
              <a:ext uri="{FF2B5EF4-FFF2-40B4-BE49-F238E27FC236}">
                <a16:creationId xmlns:a16="http://schemas.microsoft.com/office/drawing/2014/main" id="{0E852992-D2B2-45D2-8EFC-C9223CEF535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320956"/>
            <a:ext cx="5181600" cy="3360675"/>
          </a:xfrm>
        </p:spPr>
      </p:pic>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0660303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Early stopping</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Some of the learning data is further divided into evaluation data used during learning.</a:t>
            </a:r>
          </a:p>
          <a:p>
            <a:pPr algn="l">
              <a:buFont typeface="Arial" panose="020B0604020202020204" pitchFamily="34" charset="0"/>
              <a:buChar char="•"/>
            </a:pPr>
            <a:r>
              <a:rPr lang="en-US" altLang="ko-KR" b="0" i="0" dirty="0">
                <a:solidFill>
                  <a:srgbClr val="000000"/>
                </a:solidFill>
                <a:effectLst/>
              </a:rPr>
              <a:t>It stores evaluation indicators such as loss in order with evaluation data used during learning so that the degree of learning progress can be known.</a:t>
            </a:r>
          </a:p>
          <a:p>
            <a:pPr algn="l">
              <a:buFont typeface="Arial" panose="020B0604020202020204" pitchFamily="34" charset="0"/>
              <a:buChar char="•"/>
            </a:pPr>
            <a:r>
              <a:rPr lang="en-US" altLang="ko-KR" b="0" i="0" dirty="0">
                <a:solidFill>
                  <a:srgbClr val="000000"/>
                </a:solidFill>
                <a:effectLst/>
              </a:rPr>
              <a:t>If there are signs of overfitting during learning, the learning is terminated in the middle.</a:t>
            </a:r>
          </a:p>
          <a:p>
            <a:endParaRPr lang="en-US" altLang="ko-KR" dirty="0"/>
          </a:p>
        </p:txBody>
      </p:sp>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E8875F3-42B0-4593-A556-217FB1380FE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43969"/>
            <a:ext cx="5181600" cy="2914649"/>
          </a:xfrm>
        </p:spPr>
      </p:pic>
    </p:spTree>
    <p:extLst>
      <p:ext uri="{BB962C8B-B14F-4D97-AF65-F5344CB8AC3E}">
        <p14:creationId xmlns:p14="http://schemas.microsoft.com/office/powerpoint/2010/main" val="33214816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04F05-7682-4A8A-82FF-710E695DFCB4}"/>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3DABBFB7-A486-4CA9-9CF5-0F2B5CF9A5F2}"/>
              </a:ext>
            </a:extLst>
          </p:cNvPr>
          <p:cNvSpPr>
            <a:spLocks noGrp="1"/>
          </p:cNvSpPr>
          <p:nvPr>
            <p:ph type="subTitle" idx="1"/>
          </p:nvPr>
        </p:nvSpPr>
        <p:spPr/>
        <p:txBody>
          <a:bodyPr/>
          <a:lstStyle/>
          <a:p>
            <a:r>
              <a:rPr lang="en-US" altLang="ko-KR" dirty="0" err="1"/>
              <a:t>kNN</a:t>
            </a:r>
            <a:r>
              <a:rPr lang="en-US" altLang="ko-KR" dirty="0"/>
              <a:t> (k-Nearest Neighbors Algorithm)</a:t>
            </a:r>
            <a:endParaRPr lang="ko-KR" altLang="en-US" dirty="0"/>
          </a:p>
        </p:txBody>
      </p:sp>
      <p:pic>
        <p:nvPicPr>
          <p:cNvPr id="8" name="그림 7">
            <a:extLst>
              <a:ext uri="{FF2B5EF4-FFF2-40B4-BE49-F238E27FC236}">
                <a16:creationId xmlns:a16="http://schemas.microsoft.com/office/drawing/2014/main" id="{FFFABD94-4398-4103-8E2C-6C39A52CA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7EE127C3-ED3D-474E-9592-D6BC05C329A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36730391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pPr algn="l">
              <a:buFont typeface="Arial" panose="020B0604020202020204" pitchFamily="34" charset="0"/>
              <a:buChar char="•"/>
            </a:pPr>
            <a:r>
              <a:rPr lang="en-US" altLang="ko-KR" b="0" i="0" dirty="0" err="1">
                <a:solidFill>
                  <a:srgbClr val="000000"/>
                </a:solidFill>
                <a:effectLst/>
              </a:rPr>
              <a:t>kNN</a:t>
            </a:r>
            <a:r>
              <a:rPr lang="en-US" altLang="ko-KR" b="0" i="0" dirty="0">
                <a:solidFill>
                  <a:srgbClr val="000000"/>
                </a:solidFill>
                <a:effectLst/>
              </a:rPr>
              <a:t> can be applied to both classification and regression problems.</a:t>
            </a:r>
          </a:p>
          <a:p>
            <a:pPr algn="l">
              <a:buFont typeface="Arial" panose="020B0604020202020204" pitchFamily="34" charset="0"/>
              <a:buChar char="•"/>
            </a:pPr>
            <a:r>
              <a:rPr lang="en-US" altLang="ko-KR" b="0" i="0" dirty="0">
                <a:solidFill>
                  <a:srgbClr val="000000"/>
                </a:solidFill>
                <a:effectLst/>
              </a:rPr>
              <a:t>When classifying unknown data, the distance to the learning data is calculated to determine how the data is classified up to k points nearby, and then the data is classified by majority vote 2.</a:t>
            </a:r>
          </a:p>
          <a:p>
            <a:endParaRPr lang="ko-KR" altLang="en-US" dirty="0"/>
          </a:p>
        </p:txBody>
      </p:sp>
      <p:pic>
        <p:nvPicPr>
          <p:cNvPr id="7" name="내용 개체 틀 6">
            <a:extLst>
              <a:ext uri="{FF2B5EF4-FFF2-40B4-BE49-F238E27FC236}">
                <a16:creationId xmlns:a16="http://schemas.microsoft.com/office/drawing/2014/main" id="{4E93FADD-047D-4F1B-8860-AE927D3765E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1153" y="1825625"/>
            <a:ext cx="4152551" cy="4025060"/>
          </a:xfrm>
        </p:spPr>
      </p:pic>
      <p:pic>
        <p:nvPicPr>
          <p:cNvPr id="10" name="그림 9">
            <a:extLst>
              <a:ext uri="{FF2B5EF4-FFF2-40B4-BE49-F238E27FC236}">
                <a16:creationId xmlns:a16="http://schemas.microsoft.com/office/drawing/2014/main" id="{9288458E-7EBA-42E1-8CCF-D0B185F50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85373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mj-lt"/>
              <a:buAutoNum type="arabicPeriod"/>
            </a:pPr>
            <a:r>
              <a:rPr lang="en-US" altLang="ko-KR" b="0" i="0" dirty="0">
                <a:solidFill>
                  <a:srgbClr val="000000"/>
                </a:solidFill>
                <a:effectLst/>
              </a:rPr>
              <a:t>calculating the distance of learning data from input data</a:t>
            </a:r>
          </a:p>
          <a:p>
            <a:pPr algn="l">
              <a:buFont typeface="+mj-lt"/>
              <a:buAutoNum type="arabicPeriod"/>
            </a:pPr>
            <a:r>
              <a:rPr lang="en-US" altLang="ko-KR" b="0" i="0" dirty="0">
                <a:solidFill>
                  <a:srgbClr val="000000"/>
                </a:solidFill>
                <a:effectLst/>
              </a:rPr>
              <a:t>Search for k learning data close to input data</a:t>
            </a:r>
          </a:p>
          <a:p>
            <a:pPr algn="l">
              <a:buFont typeface="+mj-lt"/>
              <a:buAutoNum type="arabicPeriod"/>
            </a:pPr>
            <a:r>
              <a:rPr lang="en-US" altLang="ko-KR" b="0" i="0" dirty="0">
                <a:solidFill>
                  <a:srgbClr val="000000"/>
                </a:solidFill>
                <a:effectLst/>
              </a:rPr>
              <a:t>Categorize input data that is not known by majority vote in the label of learning data.</a:t>
            </a:r>
          </a:p>
        </p:txBody>
      </p:sp>
      <p:pic>
        <p:nvPicPr>
          <p:cNvPr id="7" name="그림 6">
            <a:extLst>
              <a:ext uri="{FF2B5EF4-FFF2-40B4-BE49-F238E27FC236}">
                <a16:creationId xmlns:a16="http://schemas.microsoft.com/office/drawing/2014/main" id="{E70ADA05-4527-4531-92B6-AFCBDCD41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9829688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r>
              <a:rPr lang="en-US" altLang="ko-KR" dirty="0"/>
              <a:t>Import libraries</a:t>
            </a:r>
          </a:p>
          <a:p>
            <a:r>
              <a:rPr lang="en-US" altLang="ko-KR" dirty="0"/>
              <a:t>Make sample data</a:t>
            </a:r>
          </a:p>
          <a:p>
            <a:r>
              <a:rPr lang="en-US" altLang="ko-KR" dirty="0"/>
              <a:t>Set training, test data</a:t>
            </a:r>
          </a:p>
          <a:p>
            <a:r>
              <a:rPr lang="en-US" altLang="ko-KR" dirty="0"/>
              <a:t>Train data</a:t>
            </a:r>
          </a:p>
          <a:p>
            <a:r>
              <a:rPr lang="en-US" altLang="ko-KR" dirty="0"/>
              <a:t>Predict result</a:t>
            </a:r>
          </a:p>
          <a:p>
            <a:r>
              <a:rPr lang="en-US" altLang="ko-KR" dirty="0"/>
              <a:t>Calculate accuracy</a:t>
            </a:r>
            <a:endParaRPr lang="ko-KR" altLang="en-US" dirty="0"/>
          </a:p>
        </p:txBody>
      </p:sp>
      <p:pic>
        <p:nvPicPr>
          <p:cNvPr id="9" name="내용 개체 틀 8">
            <a:extLst>
              <a:ext uri="{FF2B5EF4-FFF2-40B4-BE49-F238E27FC236}">
                <a16:creationId xmlns:a16="http://schemas.microsoft.com/office/drawing/2014/main" id="{4912C668-D12F-4A84-BDDC-481BB66AB5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3387018"/>
          </a:xfrm>
        </p:spPr>
      </p:pic>
      <p:pic>
        <p:nvPicPr>
          <p:cNvPr id="13" name="그림 12">
            <a:extLst>
              <a:ext uri="{FF2B5EF4-FFF2-40B4-BE49-F238E27FC236}">
                <a16:creationId xmlns:a16="http://schemas.microsoft.com/office/drawing/2014/main" id="{E7B58E3F-C996-49CC-BE79-02D352F9D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2" y="5212643"/>
            <a:ext cx="2405523" cy="279430"/>
          </a:xfrm>
          <a:prstGeom prst="rect">
            <a:avLst/>
          </a:prstGeom>
        </p:spPr>
      </p:pic>
      <p:pic>
        <p:nvPicPr>
          <p:cNvPr id="8" name="그림 7">
            <a:extLst>
              <a:ext uri="{FF2B5EF4-FFF2-40B4-BE49-F238E27FC236}">
                <a16:creationId xmlns:a16="http://schemas.microsoft.com/office/drawing/2014/main" id="{977F3ED2-240B-4401-9573-95512D218D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707698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Difference in decision boundary</a:t>
            </a:r>
            <a:br>
              <a:rPr lang="en-US" altLang="ko-KR" dirty="0"/>
            </a:br>
            <a:r>
              <a:rPr lang="en-US" altLang="ko-KR" dirty="0"/>
              <a:t>according to k value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smaller the k value, the more likely over-fitting occurs.</a:t>
            </a:r>
          </a:p>
          <a:p>
            <a:pPr algn="l">
              <a:buFont typeface="Arial" panose="020B0604020202020204" pitchFamily="34" charset="0"/>
              <a:buChar char="•"/>
            </a:pPr>
            <a:r>
              <a:rPr lang="en-US" altLang="ko-KR" b="0" i="0" dirty="0">
                <a:solidFill>
                  <a:srgbClr val="000000"/>
                </a:solidFill>
                <a:effectLst/>
              </a:rPr>
              <a:t>Conversely, if the value of k is too large, the decision boundary cannot be accurately learned.</a:t>
            </a:r>
          </a:p>
        </p:txBody>
      </p:sp>
      <p:pic>
        <p:nvPicPr>
          <p:cNvPr id="6" name="그림 5">
            <a:extLst>
              <a:ext uri="{FF2B5EF4-FFF2-40B4-BE49-F238E27FC236}">
                <a16:creationId xmlns:a16="http://schemas.microsoft.com/office/drawing/2014/main" id="{9DFF2B57-85FE-4593-9AFA-ABC0360CB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109715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Points to note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a:t>
            </a:r>
            <a:r>
              <a:rPr lang="en-US" altLang="ko-KR" b="0" i="0" dirty="0" err="1">
                <a:solidFill>
                  <a:srgbClr val="000000"/>
                </a:solidFill>
                <a:effectLst/>
              </a:rPr>
              <a:t>kNN</a:t>
            </a:r>
            <a:r>
              <a:rPr lang="en-US" altLang="ko-KR" b="0" i="0" dirty="0">
                <a:solidFill>
                  <a:srgbClr val="000000"/>
                </a:solidFill>
                <a:effectLst/>
              </a:rPr>
              <a:t> is basically not suitable for large amounts of data processing.</a:t>
            </a:r>
          </a:p>
          <a:p>
            <a:pPr algn="l">
              <a:buFont typeface="Arial" panose="020B0604020202020204" pitchFamily="34" charset="0"/>
              <a:buChar char="•"/>
            </a:pPr>
            <a:r>
              <a:rPr lang="en-US" altLang="ko-KR" b="0" i="0" dirty="0">
                <a:solidFill>
                  <a:srgbClr val="000000"/>
                </a:solidFill>
                <a:effectLst/>
              </a:rPr>
              <a:t>High-level data is difficult to learn. This is because asymptotic assumptions of the </a:t>
            </a:r>
            <a:r>
              <a:rPr lang="en-US" altLang="ko-KR" b="0" i="0" dirty="0" err="1">
                <a:solidFill>
                  <a:srgbClr val="000000"/>
                </a:solidFill>
                <a:effectLst/>
              </a:rPr>
              <a:t>kNN</a:t>
            </a:r>
            <a:r>
              <a:rPr lang="en-US" altLang="ko-KR" b="0" i="0" dirty="0">
                <a:solidFill>
                  <a:srgbClr val="000000"/>
                </a:solidFill>
                <a:effectLst/>
              </a:rPr>
              <a:t> algorithm are not necessarily established in high-dimensional data.</a:t>
            </a:r>
          </a:p>
        </p:txBody>
      </p:sp>
      <p:pic>
        <p:nvPicPr>
          <p:cNvPr id="7" name="그림 6">
            <a:extLst>
              <a:ext uri="{FF2B5EF4-FFF2-40B4-BE49-F238E27FC236}">
                <a16:creationId xmlns:a16="http://schemas.microsoft.com/office/drawing/2014/main" id="{7D1E254C-55BA-4D5F-A24A-95D49C91F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073383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3644</Words>
  <Application>Microsoft Office PowerPoint</Application>
  <PresentationFormat>와이드스크린</PresentationFormat>
  <Paragraphs>535</Paragraphs>
  <Slides>80</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80</vt:i4>
      </vt:variant>
    </vt:vector>
  </HeadingPairs>
  <TitlesOfParts>
    <vt:vector size="86" baseType="lpstr">
      <vt:lpstr>Helvetica Neue</vt:lpstr>
      <vt:lpstr>noto</vt:lpstr>
      <vt:lpstr>맑은 고딕</vt:lpstr>
      <vt:lpstr>Arial</vt:lpstr>
      <vt:lpstr>Cambria Math</vt:lpstr>
      <vt:lpstr>Office 테마</vt:lpstr>
      <vt:lpstr>Supervised Learning</vt:lpstr>
      <vt:lpstr>Table of contents</vt:lpstr>
      <vt:lpstr>Supervised Learning</vt:lpstr>
      <vt:lpstr>Fundamental concept</vt:lpstr>
      <vt:lpstr>Algorithm</vt:lpstr>
      <vt:lpstr>Algorithm</vt:lpstr>
      <vt:lpstr>Sample code</vt:lpstr>
      <vt:lpstr>Output</vt:lpstr>
      <vt:lpstr>Method of minimizing mean square error</vt:lpstr>
      <vt:lpstr>Type of linear regression</vt:lpstr>
      <vt:lpstr>Nonlinear regression</vt:lpstr>
      <vt:lpstr>Supervised Learning</vt:lpstr>
      <vt:lpstr>Fundamental concept</vt:lpstr>
      <vt:lpstr>Fundamental concept making practice data</vt:lpstr>
      <vt:lpstr>Learning errors and test errors by order</vt:lpstr>
      <vt:lpstr>Consequences of using normalization for linear regression</vt:lpstr>
      <vt:lpstr>Algorithm only linear regression</vt:lpstr>
      <vt:lpstr>Algorithm linear regression with normalization</vt:lpstr>
      <vt:lpstr>Algorithm loss function and penalty term</vt:lpstr>
      <vt:lpstr>Sample code</vt:lpstr>
      <vt:lpstr>Sample code</vt:lpstr>
      <vt:lpstr>Adjust normalization strength with α</vt:lpstr>
      <vt:lpstr>LASSO regression</vt:lpstr>
      <vt:lpstr>LASSO regression</vt:lpstr>
      <vt:lpstr>Supervised Learning</vt:lpstr>
      <vt:lpstr>Fundamental Concept</vt:lpstr>
      <vt:lpstr>Fundamental Concept</vt:lpstr>
      <vt:lpstr>Algorithm</vt:lpstr>
      <vt:lpstr>Algorithm sigmoid function graph</vt:lpstr>
      <vt:lpstr>Algorithm</vt:lpstr>
      <vt:lpstr>Sample Code</vt:lpstr>
      <vt:lpstr>Determination boundary</vt:lpstr>
      <vt:lpstr>Supervised Learning</vt:lpstr>
      <vt:lpstr>Fundamental Concept</vt:lpstr>
      <vt:lpstr>Algorithm</vt:lpstr>
      <vt:lpstr>Sample Code</vt:lpstr>
      <vt:lpstr>Margin and Support vector</vt:lpstr>
      <vt:lpstr>Hard margin and Soft margin</vt:lpstr>
      <vt:lpstr>Supervised Learning</vt:lpstr>
      <vt:lpstr>Fundamental Concept</vt:lpstr>
      <vt:lpstr>Algorithm</vt:lpstr>
      <vt:lpstr>Algorithm</vt:lpstr>
      <vt:lpstr>Sample Code</vt:lpstr>
      <vt:lpstr>Difference in learning outcomes using kernel functions</vt:lpstr>
      <vt:lpstr>Points to note</vt:lpstr>
      <vt:lpstr>Supervised Learning</vt:lpstr>
      <vt:lpstr>Fundamental Concept</vt:lpstr>
      <vt:lpstr>Fundamental Concept</vt:lpstr>
      <vt:lpstr>Fundamental Concept</vt:lpstr>
      <vt:lpstr>Algorithm Data Preprocessing</vt:lpstr>
      <vt:lpstr>Algorithm Data Preprocessing</vt:lpstr>
      <vt:lpstr>Algorithm Data Preprocessing</vt:lpstr>
      <vt:lpstr>Algorithm Data Preprocessing</vt:lpstr>
      <vt:lpstr>Algorithm Calculate Probability</vt:lpstr>
      <vt:lpstr>Sample Code</vt:lpstr>
      <vt:lpstr>Supervised Learning</vt:lpstr>
      <vt:lpstr>Fundamental Concept</vt:lpstr>
      <vt:lpstr>Fundamental Concept</vt:lpstr>
      <vt:lpstr>Algorithm Decision Tree</vt:lpstr>
      <vt:lpstr>Algorithm Decision Tree</vt:lpstr>
      <vt:lpstr>Algorithm Decision Tree</vt:lpstr>
      <vt:lpstr>Algorithm random forest</vt:lpstr>
      <vt:lpstr>Sample Code</vt:lpstr>
      <vt:lpstr>Importance of feature</vt:lpstr>
      <vt:lpstr>Supervised Learning</vt:lpstr>
      <vt:lpstr>Fundamental Concept</vt:lpstr>
      <vt:lpstr>Fundamental Concept</vt:lpstr>
      <vt:lpstr>Algorithm fault perceptron</vt:lpstr>
      <vt:lpstr>Algorithm fault perceptron</vt:lpstr>
      <vt:lpstr>Algorithm fault perceptron</vt:lpstr>
      <vt:lpstr>Algorithm fault perceptron</vt:lpstr>
      <vt:lpstr>Algorithm Neural Network</vt:lpstr>
      <vt:lpstr>Sample Code</vt:lpstr>
      <vt:lpstr>Early stopping</vt:lpstr>
      <vt:lpstr>Supervised Learning</vt:lpstr>
      <vt:lpstr>Fundamental Concept</vt:lpstr>
      <vt:lpstr>Algorithm</vt:lpstr>
      <vt:lpstr>Sample Code</vt:lpstr>
      <vt:lpstr>Difference in decision boundary according to k value</vt:lpstr>
      <vt:lpstr>Points to 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13</cp:revision>
  <dcterms:created xsi:type="dcterms:W3CDTF">2022-04-09T05:37:43Z</dcterms:created>
  <dcterms:modified xsi:type="dcterms:W3CDTF">2022-04-13T05:07:33Z</dcterms:modified>
</cp:coreProperties>
</file>