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3" r:id="rId27"/>
    <p:sldId id="284" r:id="rId28"/>
    <p:sldId id="285" r:id="rId29"/>
    <p:sldId id="286" r:id="rId3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F5F321-209E-47B4-AB5C-FAE4551C9C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1D48AC0-F50A-4F55-8715-32E1A1B41E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754953-4B00-4A64-98C5-AC3C6D699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C2F1-C126-40F8-9B3B-E304D5D9B0E1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4702C8-5DED-49FC-A384-C99FCDE7F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3D5649-7C6D-4586-B985-63FBA246B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3F2DF-5B93-4333-ADEB-8CBB561BB4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0699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F6FE90-C323-4B33-BB00-5A8FA435F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21AE79-25B1-4C45-A6ED-57E52618F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116F33-F008-4F17-A01B-50F318366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C2F1-C126-40F8-9B3B-E304D5D9B0E1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153EFC-00EB-4037-9260-EA871CB3A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5E837E-B43C-497F-B3A8-AE334BE2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3F2DF-5B93-4333-ADEB-8CBB561BB4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8209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6C8143-EC98-4C21-AE77-7D5D9F8A3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4985AE-8126-4252-A47C-78F4F7724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98CF22-6E80-4602-8F9A-1FAD60928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C2F1-C126-40F8-9B3B-E304D5D9B0E1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9D6CFB-2E6F-41B2-84F9-73FA084C8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3EC00A-08D4-4961-92DE-13541D516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3F2DF-5B93-4333-ADEB-8CBB561BB4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298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43739B-CDA4-42D7-845D-4E7093991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7E2F89-7A59-40B1-97E0-9C50055832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3AE6195-FA62-4C85-86AA-30352D2A7E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4F288DA-C9DE-4D79-8D3B-E3BE9BAE4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C2F1-C126-40F8-9B3B-E304D5D9B0E1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8EBB043-E2A2-4D41-A170-04C6FCF48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74DFF4B-0403-4987-9468-49B1655D6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3F2DF-5B93-4333-ADEB-8CBB561BB4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315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495133-822B-4FF8-BB80-25957C376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179D25-64C1-48B5-8DDC-6E460A263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EDD1457-F8EC-47B7-966A-EF3D0B63DD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E87856-64E4-4A08-A44C-2927CA5A5C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DE042FF-FB60-4EDB-AEDA-9109AEC915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7E59FFF-9FEB-4535-A792-0D1D4692C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C2F1-C126-40F8-9B3B-E304D5D9B0E1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9B2AFD6-A2C9-40A9-9583-8B3A4B6AD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C960304-BD1B-40A8-94E6-375A32A8F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3F2DF-5B93-4333-ADEB-8CBB561BB4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1918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89E69F-DD4D-4A02-9BB4-E6E12A546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ACB9033-484C-42C8-BE62-FBE500B2F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C2F1-C126-40F8-9B3B-E304D5D9B0E1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18C87FA-F896-4391-AA53-C29776FB2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E3E0853-4F2B-4B6F-95EC-B7FBC3EB0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3F2DF-5B93-4333-ADEB-8CBB561BB4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1600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FB7A321-3907-4B58-AABF-EB5945AC4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C2F1-C126-40F8-9B3B-E304D5D9B0E1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7048883-4F11-4A85-A9BB-A2231CF2E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32BC1D-DD41-4A8D-9FC6-3BD825B69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3F2DF-5B93-4333-ADEB-8CBB561BB4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1545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50A97B-4CE2-4158-B533-3AD23D23A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F1C4FB-F146-460D-840C-B13AC8936C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F363CEE-F875-49A0-BC2F-5846907AB0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D145F9A-5FEF-4379-AEE4-A5FED8DF1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C2F1-C126-40F8-9B3B-E304D5D9B0E1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E54BDA-049A-46EB-8C57-CA7B859BE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C48874-A2B1-4116-B3F1-70323216F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3F2DF-5B93-4333-ADEB-8CBB561BB4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8159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615975-DBA8-408E-8FBA-BFFFD3684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8B63FC7-D2EB-4A39-B3D4-5AA2600E23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2FE891-47F5-4BEA-BF52-8C5F23EC86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CC5A0CC-7E9E-4D0D-87E6-0DE915711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C2F1-C126-40F8-9B3B-E304D5D9B0E1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74A4374-84F2-48FE-BE96-C9F7DE8B8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DD071F-528E-4207-B070-5F62CB7A4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3F2DF-5B93-4333-ADEB-8CBB561BB4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7480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D8257D-9B87-4D6F-A15D-DDA5A5EA4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E8F2F02-2204-46F4-A9B6-2EEED18835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3B2AEC-FD17-48A9-AC88-C9BE42688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C2F1-C126-40F8-9B3B-E304D5D9B0E1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AD8440-46B3-405A-9259-C13E5AF01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CEA60D-1265-4C38-BBE1-B6D8A9BA6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3F2DF-5B93-4333-ADEB-8CBB561BB4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8960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797CB67-9990-4C61-B8E7-8226CA03E1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1B51494-AA5A-490E-98CC-DF4574003E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713C61-E626-4DAB-891B-C4DA5A5E8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C2F1-C126-40F8-9B3B-E304D5D9B0E1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5678AC-66EA-4F30-A79B-5D9338A1D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EFAFA9-E392-4C20-A4D2-26F252BB7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3F2DF-5B93-4333-ADEB-8CBB561BB4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380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678E1F6-C7D1-4F06-94AD-D5CBC34D9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027182-E1E8-4189-8F79-5F5C505AFA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670C0E-ED92-4B45-9FFA-12AB764242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36C2F1-C126-40F8-9B3B-E304D5D9B0E1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5D3DB2-270B-4EDB-967F-8762A2CAFF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CFC7E3-3792-473E-8823-03C5910235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A3F2DF-5B93-4333-ADEB-8CBB561BB4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575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1D1A5A-4ABC-4E15-8463-66756A3FB4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Preparing</a:t>
            </a:r>
            <a:br>
              <a:rPr lang="en-US" altLang="ko-KR" dirty="0"/>
            </a:br>
            <a:r>
              <a:rPr lang="en-US" altLang="ko-KR" dirty="0"/>
              <a:t>Machine Learning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68CFC98-FDDB-468C-9813-8B1E4BA1D4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Data Preprocessing</a:t>
            </a:r>
          </a:p>
          <a:p>
            <a:r>
              <a:rPr lang="en-US" altLang="ko-KR" dirty="0"/>
              <a:t>Using pandas, matplotlib, scikit-learn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ABFBF09-1422-4ECE-83E1-2840C1FC58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F182DE2-2AE2-49F2-AF1E-8FE46243B7B4}"/>
              </a:ext>
            </a:extLst>
          </p:cNvPr>
          <p:cNvSpPr txBox="1"/>
          <p:nvPr/>
        </p:nvSpPr>
        <p:spPr>
          <a:xfrm>
            <a:off x="0" y="6211669"/>
            <a:ext cx="28055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경희대학교 컴퓨터공학과</a:t>
            </a:r>
            <a:endParaRPr lang="en-US" altLang="ko-KR" dirty="0"/>
          </a:p>
          <a:p>
            <a:r>
              <a:rPr lang="en-US" altLang="ko-KR" dirty="0"/>
              <a:t>2019102191 </a:t>
            </a:r>
            <a:r>
              <a:rPr lang="ko-KR" altLang="en-US" dirty="0"/>
              <a:t>신주영</a:t>
            </a:r>
          </a:p>
        </p:txBody>
      </p:sp>
    </p:spTree>
    <p:extLst>
      <p:ext uri="{BB962C8B-B14F-4D97-AF65-F5344CB8AC3E}">
        <p14:creationId xmlns:p14="http://schemas.microsoft.com/office/powerpoint/2010/main" val="2029509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1D5505-6926-4764-85CE-F9EB79E15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Importance of</a:t>
            </a:r>
            <a:br>
              <a:rPr lang="en-US" altLang="ko-KR" dirty="0"/>
            </a:br>
            <a:r>
              <a:rPr lang="en-US" altLang="ko-KR" dirty="0"/>
              <a:t>Collecting and Preparing Data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1BBA06-7E7F-49DA-B376-FD9A67A892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To solve real problems with machine learning, data must be collected.</a:t>
            </a:r>
          </a:p>
          <a:p>
            <a:r>
              <a:rPr lang="en-US" altLang="ko-KR" dirty="0"/>
              <a:t>After collecting data, data preprocessing is required, such as setting the correct answer, modifying it in a form that is easy to learn, deleting unnecessary data, or adding other data.</a:t>
            </a:r>
          </a:p>
          <a:p>
            <a:r>
              <a:rPr lang="en-US" altLang="ko-KR" dirty="0"/>
              <a:t>Data preprocessing is such an important task that it accounts for 80% of the entire machine learning process.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AD4DB14-A2B8-4E10-A4FF-C22E38531E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69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AA4CC3-4B4A-4356-831D-1B81BB882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Dependent variable and</a:t>
            </a:r>
            <a:br>
              <a:rPr lang="en-US" altLang="ko-KR" dirty="0"/>
            </a:br>
            <a:r>
              <a:rPr lang="en-US" altLang="ko-KR" dirty="0"/>
              <a:t>Independent variable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B065DE-B275-49FF-8103-E7B80F1AD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Independent variable: The data based on prediction</a:t>
            </a:r>
          </a:p>
          <a:p>
            <a:r>
              <a:rPr lang="en-US" altLang="ko-KR" dirty="0"/>
              <a:t>Dependent variable: The data to be predicted</a:t>
            </a:r>
          </a:p>
          <a:p>
            <a:r>
              <a:rPr lang="en-US" altLang="ko-KR" dirty="0"/>
              <a:t>Independent variables are also called feature or input variable</a:t>
            </a:r>
          </a:p>
          <a:p>
            <a:r>
              <a:rPr lang="en-US" altLang="ko-KR" dirty="0"/>
              <a:t>Dependent variables are also called label or class label data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92AC917-DBFE-4BB0-A971-8734F37E36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1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Looking for scikit-</a:t>
            </a:r>
            <a:r>
              <a:rPr lang="en-US" altLang="ko-KR" dirty="0" err="1"/>
              <a:t>learn’s</a:t>
            </a:r>
            <a:r>
              <a:rPr lang="en-US" altLang="ko-KR" dirty="0"/>
              <a:t> sample data</a:t>
            </a:r>
            <a:br>
              <a:rPr lang="en-US" altLang="ko-KR" dirty="0"/>
            </a:br>
            <a:r>
              <a:rPr lang="en-US" altLang="ko-KR" sz="2400" dirty="0"/>
              <a:t>get iris data set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7691DA-4713-4360-89AD-E39C1757A9D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Import pandas</a:t>
            </a:r>
          </a:p>
          <a:p>
            <a:r>
              <a:rPr lang="en-US" altLang="ko-KR" dirty="0"/>
              <a:t>Get iris datasets</a:t>
            </a:r>
          </a:p>
          <a:p>
            <a:r>
              <a:rPr lang="en-US" altLang="ko-KR" dirty="0"/>
              <a:t>Make data frame using pandas</a:t>
            </a:r>
          </a:p>
          <a:p>
            <a:r>
              <a:rPr lang="en-US" altLang="ko-KR" dirty="0"/>
              <a:t>Combine target data and feature data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23110F5F-ACB3-4218-89D3-A93934227ED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2" y="1825625"/>
            <a:ext cx="5181600" cy="3054762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38C3447-7693-4559-BBF7-74F3E288AC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880387"/>
            <a:ext cx="4944165" cy="155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003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Example of supervised learning</a:t>
            </a:r>
            <a:br>
              <a:rPr lang="en-US" altLang="ko-KR" dirty="0"/>
            </a:br>
            <a:r>
              <a:rPr lang="en-US" altLang="ko-KR" sz="2400" dirty="0"/>
              <a:t>looking for example (breast cancer diagnosis data set, data preprocessing)</a:t>
            </a:r>
            <a:endParaRPr lang="ko-KR" altLang="en-US" dirty="0"/>
          </a:p>
        </p:txBody>
      </p:sp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5BFA6895-5217-4608-8588-34E9E5F71E1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1" y="1799195"/>
            <a:ext cx="5181600" cy="3179186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6875EE6-0E4A-413A-875D-B97F0D296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1" y="1799195"/>
            <a:ext cx="5181600" cy="4351338"/>
          </a:xfrm>
        </p:spPr>
        <p:txBody>
          <a:bodyPr/>
          <a:lstStyle/>
          <a:p>
            <a:r>
              <a:rPr lang="en-US" altLang="ko-KR" dirty="0"/>
              <a:t>Import scikit-learn datasets</a:t>
            </a:r>
          </a:p>
          <a:p>
            <a:r>
              <a:rPr lang="en-US" altLang="ko-KR" dirty="0"/>
              <a:t>Get data from datasets</a:t>
            </a:r>
          </a:p>
          <a:p>
            <a:r>
              <a:rPr lang="en-US" altLang="ko-KR" dirty="0"/>
              <a:t>Set dependent variable and independent variable</a:t>
            </a:r>
          </a:p>
          <a:p>
            <a:r>
              <a:rPr lang="en-US" altLang="ko-KR" dirty="0"/>
              <a:t>Get only the data we want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1707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Example of supervised learning</a:t>
            </a:r>
            <a:br>
              <a:rPr lang="en-US" altLang="ko-KR" dirty="0"/>
            </a:br>
            <a:r>
              <a:rPr lang="en-US" altLang="ko-KR" sz="2400" dirty="0"/>
              <a:t>logistic regression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6875EE6-0E4A-413A-875D-B97F0D296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1" y="1799195"/>
            <a:ext cx="5181600" cy="4351338"/>
          </a:xfrm>
        </p:spPr>
        <p:txBody>
          <a:bodyPr>
            <a:normAutofit lnSpcReduction="10000"/>
          </a:bodyPr>
          <a:lstStyle/>
          <a:p>
            <a:r>
              <a:rPr lang="en-US" altLang="ko-KR" dirty="0"/>
              <a:t>Import logistic regression from scikit-learn</a:t>
            </a:r>
          </a:p>
          <a:p>
            <a:r>
              <a:rPr lang="en-US" altLang="ko-KR" dirty="0"/>
              <a:t>Make instance of logistic regression class</a:t>
            </a:r>
          </a:p>
          <a:p>
            <a:r>
              <a:rPr lang="en-US" altLang="ko-KR" dirty="0"/>
              <a:t>Learn by executing the fit method in the model variable</a:t>
            </a:r>
          </a:p>
          <a:p>
            <a:r>
              <a:rPr lang="en-US" altLang="ko-KR" dirty="0"/>
              <a:t>The prediction is made by executing the predict method on the learned model</a:t>
            </a:r>
            <a:endParaRPr lang="ko-KR" altLang="en-US" dirty="0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91636F59-BC5B-49C7-8247-7F09CA6EB15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1" y="1799195"/>
            <a:ext cx="5181600" cy="2823078"/>
          </a:xfrm>
        </p:spPr>
      </p:pic>
    </p:spTree>
    <p:extLst>
      <p:ext uri="{BB962C8B-B14F-4D97-AF65-F5344CB8AC3E}">
        <p14:creationId xmlns:p14="http://schemas.microsoft.com/office/powerpoint/2010/main" val="1488625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Accuracy evaluation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6875EE6-0E4A-413A-875D-B97F0D296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772765"/>
            <a:ext cx="5181600" cy="4351338"/>
          </a:xfrm>
        </p:spPr>
        <p:txBody>
          <a:bodyPr>
            <a:normAutofit/>
          </a:bodyPr>
          <a:lstStyle/>
          <a:p>
            <a:r>
              <a:rPr lang="en-US" altLang="ko-KR" dirty="0"/>
              <a:t>To calculate accuracy, use the scikit-</a:t>
            </a:r>
            <a:r>
              <a:rPr lang="en-US" altLang="ko-KR" dirty="0" err="1"/>
              <a:t>learn’s</a:t>
            </a:r>
            <a:r>
              <a:rPr lang="en-US" altLang="ko-KR" dirty="0"/>
              <a:t> </a:t>
            </a:r>
            <a:r>
              <a:rPr lang="en-US" altLang="ko-KR" dirty="0" err="1"/>
              <a:t>accuracy_score</a:t>
            </a:r>
            <a:r>
              <a:rPr lang="en-US" altLang="ko-KR" dirty="0"/>
              <a:t> function</a:t>
            </a:r>
          </a:p>
          <a:p>
            <a:r>
              <a:rPr lang="en-US" altLang="ko-KR" dirty="0"/>
              <a:t>The accuracy is output by entering the dependent variable y and the </a:t>
            </a:r>
            <a:r>
              <a:rPr lang="en-US" altLang="ko-KR" dirty="0" err="1"/>
              <a:t>y_pred</a:t>
            </a:r>
            <a:r>
              <a:rPr lang="en-US" altLang="ko-KR" dirty="0"/>
              <a:t> in the </a:t>
            </a:r>
            <a:r>
              <a:rPr lang="en-US" altLang="ko-KR" dirty="0" err="1"/>
              <a:t>accuracy_score</a:t>
            </a:r>
            <a:r>
              <a:rPr lang="en-US" altLang="ko-KR" dirty="0"/>
              <a:t> function</a:t>
            </a:r>
            <a:endParaRPr lang="ko-KR" altLang="en-US" dirty="0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0E225377-F278-4EBC-B327-A08CA9341C7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2" y="1772765"/>
            <a:ext cx="5181600" cy="2487990"/>
          </a:xfr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68E9148-8562-496B-9D5A-C62EA0BC53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2" y="4349124"/>
            <a:ext cx="2783334" cy="36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291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Example of unsupervised learning</a:t>
            </a:r>
            <a:br>
              <a:rPr lang="en-US" altLang="ko-KR" dirty="0"/>
            </a:br>
            <a:r>
              <a:rPr lang="en-US" altLang="ko-KR" sz="2400" dirty="0"/>
              <a:t>looking for example (wine data set, data preprocessing)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6875EE6-0E4A-413A-875D-B97F0D296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799195"/>
            <a:ext cx="5181600" cy="4351338"/>
          </a:xfrm>
        </p:spPr>
        <p:txBody>
          <a:bodyPr/>
          <a:lstStyle/>
          <a:p>
            <a:r>
              <a:rPr lang="en-US" altLang="ko-KR" dirty="0"/>
              <a:t>Import scikit-learn datasets</a:t>
            </a:r>
          </a:p>
          <a:p>
            <a:r>
              <a:rPr lang="en-US" altLang="ko-KR" dirty="0"/>
              <a:t>Get data from datasets</a:t>
            </a:r>
          </a:p>
          <a:p>
            <a:r>
              <a:rPr lang="en-US" altLang="ko-KR" dirty="0"/>
              <a:t>Set only dependent variable</a:t>
            </a:r>
          </a:p>
          <a:p>
            <a:r>
              <a:rPr lang="en-US" altLang="ko-KR" dirty="0"/>
              <a:t>Get only the data we want</a:t>
            </a:r>
            <a:endParaRPr lang="ko-KR" altLang="en-US" dirty="0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B220ED42-3767-49AD-AA97-CDB96A5A5C7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799195"/>
            <a:ext cx="5181600" cy="3069355"/>
          </a:xfrm>
        </p:spPr>
      </p:pic>
    </p:spTree>
    <p:extLst>
      <p:ext uri="{BB962C8B-B14F-4D97-AF65-F5344CB8AC3E}">
        <p14:creationId xmlns:p14="http://schemas.microsoft.com/office/powerpoint/2010/main" val="911058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Example of unsupervised learning</a:t>
            </a:r>
            <a:br>
              <a:rPr lang="en-US" altLang="ko-KR" dirty="0"/>
            </a:br>
            <a:r>
              <a:rPr lang="en-US" altLang="ko-KR" sz="2400" dirty="0" err="1"/>
              <a:t>KMeans</a:t>
            </a:r>
            <a:r>
              <a:rPr lang="en-US" altLang="ko-KR" sz="2400" dirty="0"/>
              <a:t> algorithm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6875EE6-0E4A-413A-875D-B97F0D296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799195"/>
            <a:ext cx="5181600" cy="4351338"/>
          </a:xfrm>
        </p:spPr>
        <p:txBody>
          <a:bodyPr>
            <a:normAutofit/>
          </a:bodyPr>
          <a:lstStyle/>
          <a:p>
            <a:r>
              <a:rPr lang="en-US" altLang="ko-KR" dirty="0"/>
              <a:t>Import </a:t>
            </a:r>
            <a:r>
              <a:rPr lang="en-US" altLang="ko-KR" dirty="0" err="1"/>
              <a:t>KMeans</a:t>
            </a:r>
            <a:r>
              <a:rPr lang="en-US" altLang="ko-KR" dirty="0"/>
              <a:t> algorithm from scikit-learn</a:t>
            </a:r>
          </a:p>
          <a:p>
            <a:r>
              <a:rPr lang="en-US" altLang="ko-KR" dirty="0"/>
              <a:t>We will divide the data into three groups.(</a:t>
            </a:r>
            <a:r>
              <a:rPr lang="en-US" altLang="ko-KR" dirty="0" err="1"/>
              <a:t>n_cluster</a:t>
            </a:r>
            <a:r>
              <a:rPr lang="en-US" altLang="ko-KR" dirty="0"/>
              <a:t> = 3)</a:t>
            </a:r>
          </a:p>
          <a:p>
            <a:r>
              <a:rPr lang="en-US" altLang="ko-KR" dirty="0"/>
              <a:t>By using </a:t>
            </a:r>
            <a:r>
              <a:rPr lang="en-US" altLang="ko-KR" dirty="0" err="1"/>
              <a:t>fit_predict</a:t>
            </a:r>
            <a:r>
              <a:rPr lang="en-US" altLang="ko-KR" dirty="0"/>
              <a:t> method, we can do learning and prediction.	</a:t>
            </a:r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7E75B160-F655-4829-8DC5-2038F5A02A8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799195"/>
            <a:ext cx="5181600" cy="3278379"/>
          </a:xfrm>
        </p:spPr>
      </p:pic>
    </p:spTree>
    <p:extLst>
      <p:ext uri="{BB962C8B-B14F-4D97-AF65-F5344CB8AC3E}">
        <p14:creationId xmlns:p14="http://schemas.microsoft.com/office/powerpoint/2010/main" val="2076822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Confirmation of learning output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6875EE6-0E4A-413A-875D-B97F0D296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7791" y="1758350"/>
            <a:ext cx="5181600" cy="4351338"/>
          </a:xfrm>
        </p:spPr>
        <p:txBody>
          <a:bodyPr>
            <a:normAutofit/>
          </a:bodyPr>
          <a:lstStyle/>
          <a:p>
            <a:r>
              <a:rPr lang="en-US" altLang="ko-KR" dirty="0"/>
              <a:t>By using visualization, we’re going to confirm clustering results.</a:t>
            </a:r>
            <a:endParaRPr lang="ko-KR" altLang="en-US" dirty="0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CB819B27-8F27-4B91-9073-9EBC35B33F4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4938" y="1797607"/>
            <a:ext cx="6789272" cy="3772683"/>
          </a:xfr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0649E3A-9F2A-49A8-A1ED-EBDC96ABB6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591" y="3106658"/>
            <a:ext cx="4800000" cy="3149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72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1D5505-6926-4764-85CE-F9EB79E15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Visualization</a:t>
            </a:r>
            <a:br>
              <a:rPr lang="en-US" altLang="ko-KR" dirty="0"/>
            </a:br>
            <a:r>
              <a:rPr lang="en-US" altLang="ko-KR" sz="2400" dirty="0"/>
              <a:t>using python (pandas, matplotlib, seaborn)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1BBA06-7E7F-49DA-B376-FD9A67A892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We’re</a:t>
            </a:r>
            <a:r>
              <a:rPr lang="ko-KR" altLang="en-US" dirty="0"/>
              <a:t> </a:t>
            </a:r>
            <a:r>
              <a:rPr lang="en-US" altLang="ko-KR" dirty="0"/>
              <a:t>going</a:t>
            </a:r>
            <a:r>
              <a:rPr lang="ko-KR" altLang="en-US" dirty="0"/>
              <a:t> </a:t>
            </a:r>
            <a:r>
              <a:rPr lang="en-US" altLang="ko-KR" dirty="0"/>
              <a:t>to</a:t>
            </a:r>
            <a:r>
              <a:rPr lang="ko-KR" altLang="en-US" dirty="0"/>
              <a:t> </a:t>
            </a:r>
            <a:r>
              <a:rPr lang="en-US" altLang="ko-KR" dirty="0"/>
              <a:t>use</a:t>
            </a:r>
            <a:r>
              <a:rPr lang="ko-KR" altLang="en-US" dirty="0"/>
              <a:t> </a:t>
            </a:r>
            <a:r>
              <a:rPr lang="en-US" altLang="ko-KR" dirty="0"/>
              <a:t>visualization</a:t>
            </a:r>
            <a:r>
              <a:rPr lang="ko-KR" altLang="en-US" dirty="0"/>
              <a:t> </a:t>
            </a:r>
            <a:r>
              <a:rPr lang="en-US" altLang="ko-KR" dirty="0"/>
              <a:t>tool</a:t>
            </a:r>
            <a:r>
              <a:rPr lang="ko-KR" altLang="en-US" dirty="0"/>
              <a:t> </a:t>
            </a:r>
            <a:r>
              <a:rPr lang="en-US" altLang="ko-KR" dirty="0"/>
              <a:t>as</a:t>
            </a:r>
            <a:r>
              <a:rPr lang="ko-KR" altLang="en-US" dirty="0"/>
              <a:t> </a:t>
            </a:r>
            <a:r>
              <a:rPr lang="en-US" altLang="ko-KR" dirty="0"/>
              <a:t>a</a:t>
            </a:r>
            <a:r>
              <a:rPr lang="ko-KR" altLang="en-US" dirty="0"/>
              <a:t> </a:t>
            </a:r>
            <a:r>
              <a:rPr lang="en-US" altLang="ko-KR" dirty="0"/>
              <a:t>matplotlib</a:t>
            </a:r>
            <a:r>
              <a:rPr lang="ko-KR" altLang="en-US" dirty="0"/>
              <a:t> </a:t>
            </a:r>
            <a:r>
              <a:rPr lang="en-US" altLang="ko-KR" dirty="0"/>
              <a:t>mainly</a:t>
            </a:r>
          </a:p>
          <a:p>
            <a:r>
              <a:rPr lang="en-US" altLang="ko-KR" dirty="0"/>
              <a:t>This library can print beautifully axis, label, deployment, color, </a:t>
            </a:r>
            <a:r>
              <a:rPr lang="en-US" altLang="ko-KR" dirty="0" err="1"/>
              <a:t>etc</a:t>
            </a:r>
            <a:r>
              <a:rPr lang="en-US" altLang="ko-KR" dirty="0"/>
              <a:t>…</a:t>
            </a:r>
          </a:p>
          <a:p>
            <a:r>
              <a:rPr lang="en-US" altLang="ko-KR" dirty="0"/>
              <a:t>We’re going to use IDE as a </a:t>
            </a:r>
            <a:r>
              <a:rPr lang="en-US" altLang="ko-KR" dirty="0" err="1"/>
              <a:t>Jupyter</a:t>
            </a:r>
            <a:r>
              <a:rPr lang="en-US" altLang="ko-KR" dirty="0"/>
              <a:t> Notebook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AD4DB14-A2B8-4E10-A4FF-C22E38531E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294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Graph output using matplotlib</a:t>
            </a:r>
            <a:br>
              <a:rPr lang="en-US" altLang="ko-KR" dirty="0"/>
            </a:br>
            <a:r>
              <a:rPr lang="en-US" altLang="ko-KR" sz="2400" dirty="0" err="1"/>
              <a:t>plt.plot</a:t>
            </a:r>
            <a:r>
              <a:rPr lang="en-US" altLang="ko-KR" sz="2400" dirty="0"/>
              <a:t>(x1, y1)</a:t>
            </a:r>
            <a:endParaRPr lang="ko-KR" altLang="en-US" sz="24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7691DA-4713-4360-89AD-E39C1757A9D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Import </a:t>
            </a:r>
            <a:r>
              <a:rPr lang="en-US" altLang="ko-KR" dirty="0" err="1"/>
              <a:t>numpy</a:t>
            </a:r>
            <a:r>
              <a:rPr lang="en-US" altLang="ko-KR" dirty="0"/>
              <a:t> to make data set</a:t>
            </a:r>
          </a:p>
          <a:p>
            <a:r>
              <a:rPr lang="en-US" altLang="ko-KR" dirty="0"/>
              <a:t>Import matplotlib to make graph</a:t>
            </a:r>
          </a:p>
          <a:p>
            <a:r>
              <a:rPr lang="en-US" altLang="ko-KR" dirty="0"/>
              <a:t>We set the range from -5 to 5 to x1 to output a graph of the sin function in a specific range.</a:t>
            </a:r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E95AB63A-7BDE-41CA-BD71-27CA8C14CA3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5289" y="1473287"/>
            <a:ext cx="4944280" cy="4246548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CD2AF41-C452-4D33-AD39-619E09E2CD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4437" y="4776123"/>
            <a:ext cx="3228254" cy="207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670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Graph output using matplotlib</a:t>
            </a:r>
            <a:br>
              <a:rPr lang="en-US" altLang="ko-KR" dirty="0"/>
            </a:br>
            <a:r>
              <a:rPr lang="en-US" altLang="ko-KR" sz="2400" dirty="0" err="1"/>
              <a:t>ax.plot</a:t>
            </a:r>
            <a:r>
              <a:rPr lang="en-US" altLang="ko-KR" sz="2400" dirty="0"/>
              <a:t>(x1, y1)</a:t>
            </a:r>
            <a:endParaRPr lang="ko-KR" altLang="en-US" sz="24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7691DA-4713-4360-89AD-E39C1757A9D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fig is an object of the Figure class that generates a canvas, which is the entire area of the graph</a:t>
            </a:r>
          </a:p>
          <a:p>
            <a:r>
              <a:rPr lang="en-US" altLang="ko-KR" dirty="0"/>
              <a:t>ax is an object of the Axes class that generates a coordinate plane.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CC0E944A-5125-4E00-A767-878EBF0260B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825625"/>
            <a:ext cx="5181600" cy="3295684"/>
          </a:xfr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3AA081C-9FD4-4FBE-BE45-AD32A3DB52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2945" y="4471333"/>
            <a:ext cx="3313863" cy="2386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962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Output various graphs</a:t>
            </a:r>
            <a:br>
              <a:rPr lang="en-US" altLang="ko-KR" dirty="0"/>
            </a:br>
            <a:r>
              <a:rPr lang="en-US" altLang="ko-KR" sz="2400" dirty="0"/>
              <a:t>Preparing Data</a:t>
            </a:r>
            <a:endParaRPr lang="ko-KR" altLang="en-US" sz="24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7691DA-4713-4360-89AD-E39C1757A9D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x2 stores an array from 0 to 99 as a number array function.</a:t>
            </a:r>
          </a:p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y2 stores the result obtained by multiplying an array of 100 random numbers from 0 to 1 by x2.</a:t>
            </a: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EAA3DB53-AF3E-48C6-9674-CD3F2238D87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825625"/>
            <a:ext cx="5181600" cy="2925308"/>
          </a:xfrm>
        </p:spPr>
      </p:pic>
    </p:spTree>
    <p:extLst>
      <p:ext uri="{BB962C8B-B14F-4D97-AF65-F5344CB8AC3E}">
        <p14:creationId xmlns:p14="http://schemas.microsoft.com/office/powerpoint/2010/main" val="783339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Output various graphs</a:t>
            </a:r>
            <a:br>
              <a:rPr lang="en-US" altLang="ko-KR" dirty="0"/>
            </a:br>
            <a:r>
              <a:rPr lang="en-US" altLang="ko-KR" sz="2400" dirty="0"/>
              <a:t>scatter</a:t>
            </a:r>
            <a:endParaRPr lang="ko-KR" altLang="en-US" sz="2400" dirty="0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AF11F1CE-C35A-4003-B330-A9F2DD5B367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492" y="2426691"/>
            <a:ext cx="4673016" cy="3149206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293BACBF-5E8B-48A9-BFF5-347DF3BD994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288023"/>
            <a:ext cx="5181600" cy="3426541"/>
          </a:xfrm>
        </p:spPr>
      </p:pic>
    </p:spTree>
    <p:extLst>
      <p:ext uri="{BB962C8B-B14F-4D97-AF65-F5344CB8AC3E}">
        <p14:creationId xmlns:p14="http://schemas.microsoft.com/office/powerpoint/2010/main" val="3623865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Output various graphs</a:t>
            </a:r>
            <a:br>
              <a:rPr lang="en-US" altLang="ko-KR" dirty="0"/>
            </a:br>
            <a:r>
              <a:rPr lang="en-US" altLang="ko-KR" sz="2400" dirty="0"/>
              <a:t>histogram</a:t>
            </a:r>
            <a:endParaRPr lang="ko-KR" altLang="en-US" sz="2400" dirty="0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78C8C0B5-E113-42F7-B94F-52FC8BF20F8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492" y="2426691"/>
            <a:ext cx="4673016" cy="3149206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35C3ED70-B785-4BCE-8D10-8A3516802A2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415879"/>
            <a:ext cx="5181600" cy="3170829"/>
          </a:xfrm>
        </p:spPr>
      </p:pic>
    </p:spTree>
    <p:extLst>
      <p:ext uri="{BB962C8B-B14F-4D97-AF65-F5344CB8AC3E}">
        <p14:creationId xmlns:p14="http://schemas.microsoft.com/office/powerpoint/2010/main" val="20946655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Output various graphs</a:t>
            </a:r>
            <a:br>
              <a:rPr lang="en-US" altLang="ko-KR" dirty="0"/>
            </a:br>
            <a:r>
              <a:rPr lang="en-US" altLang="ko-KR" sz="2400" dirty="0"/>
              <a:t>bar graph</a:t>
            </a:r>
            <a:endParaRPr lang="ko-KR" altLang="en-US" sz="2400" dirty="0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3027BC25-78FE-4A37-A174-77FD49CC2CF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492" y="2426691"/>
            <a:ext cx="4673016" cy="3149206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B3B120B7-076A-41D5-9710-A2601A634BB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083915"/>
            <a:ext cx="5181600" cy="3834758"/>
          </a:xfrm>
        </p:spPr>
      </p:pic>
    </p:spTree>
    <p:extLst>
      <p:ext uri="{BB962C8B-B14F-4D97-AF65-F5344CB8AC3E}">
        <p14:creationId xmlns:p14="http://schemas.microsoft.com/office/powerpoint/2010/main" val="16373894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Output various graphs</a:t>
            </a:r>
            <a:br>
              <a:rPr lang="en-US" altLang="ko-KR" dirty="0"/>
            </a:br>
            <a:r>
              <a:rPr lang="en-US" altLang="ko-KR" sz="2400" dirty="0"/>
              <a:t>line graph</a:t>
            </a:r>
            <a:endParaRPr lang="ko-KR" altLang="en-US" sz="2400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D5B64777-5DC2-4B08-9C9A-07F1998A1A2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492" y="2426691"/>
            <a:ext cx="4673016" cy="3149206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E5D51080-D1D5-485A-AE2A-489E636499F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137736"/>
            <a:ext cx="5181600" cy="3727115"/>
          </a:xfrm>
        </p:spPr>
      </p:pic>
    </p:spTree>
    <p:extLst>
      <p:ext uri="{BB962C8B-B14F-4D97-AF65-F5344CB8AC3E}">
        <p14:creationId xmlns:p14="http://schemas.microsoft.com/office/powerpoint/2010/main" val="24103266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Output various graphs</a:t>
            </a:r>
            <a:br>
              <a:rPr lang="en-US" altLang="ko-KR" dirty="0"/>
            </a:br>
            <a:r>
              <a:rPr lang="en-US" altLang="ko-KR" sz="2400" dirty="0"/>
              <a:t>box plot</a:t>
            </a:r>
            <a:endParaRPr lang="ko-KR" altLang="en-US" sz="2400" dirty="0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449B4253-8A61-4BC1-A58A-C5A57FB8C47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492" y="2426691"/>
            <a:ext cx="4673016" cy="3149206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7424173D-3B23-4588-8E68-86A2A835C89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083915"/>
            <a:ext cx="5181600" cy="3834758"/>
          </a:xfrm>
        </p:spPr>
      </p:pic>
    </p:spTree>
    <p:extLst>
      <p:ext uri="{BB962C8B-B14F-4D97-AF65-F5344CB8AC3E}">
        <p14:creationId xmlns:p14="http://schemas.microsoft.com/office/powerpoint/2010/main" val="9490811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Visualization of wine data set</a:t>
            </a:r>
            <a:br>
              <a:rPr lang="en-US" altLang="ko-KR" dirty="0"/>
            </a:br>
            <a:r>
              <a:rPr lang="en-US" altLang="ko-KR" sz="2400" dirty="0"/>
              <a:t>data preprocessing</a:t>
            </a:r>
            <a:endParaRPr lang="ko-KR" altLang="en-US" sz="2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6D325680-510C-4DF4-8E9A-F43C057DA48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Import wine data set</a:t>
            </a:r>
          </a:p>
          <a:p>
            <a:r>
              <a:rPr lang="en-US" altLang="ko-KR" dirty="0"/>
              <a:t>Get only the data we want</a:t>
            </a:r>
            <a:endParaRPr lang="ko-KR" altLang="en-US" dirty="0"/>
          </a:p>
        </p:txBody>
      </p:sp>
      <p:pic>
        <p:nvPicPr>
          <p:cNvPr id="15" name="내용 개체 틀 14">
            <a:extLst>
              <a:ext uri="{FF2B5EF4-FFF2-40B4-BE49-F238E27FC236}">
                <a16:creationId xmlns:a16="http://schemas.microsoft.com/office/drawing/2014/main" id="{759A99A0-F5E3-46FC-A533-746544BC60C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362104"/>
            <a:ext cx="5181600" cy="3278379"/>
          </a:xfrm>
        </p:spPr>
      </p:pic>
    </p:spTree>
    <p:extLst>
      <p:ext uri="{BB962C8B-B14F-4D97-AF65-F5344CB8AC3E}">
        <p14:creationId xmlns:p14="http://schemas.microsoft.com/office/powerpoint/2010/main" val="26500493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Visualization of wine data set</a:t>
            </a:r>
            <a:br>
              <a:rPr lang="en-US" altLang="ko-KR" dirty="0"/>
            </a:br>
            <a:r>
              <a:rPr lang="en-US" altLang="ko-KR" sz="2400" dirty="0"/>
              <a:t>scatter</a:t>
            </a:r>
            <a:endParaRPr lang="ko-KR" altLang="en-US" sz="2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32D7A1F3-596D-4D39-92E4-8D5762F1A08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000" y="2426691"/>
            <a:ext cx="4800000" cy="3149206"/>
          </a:xfrm>
        </p:spPr>
      </p:pic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88A42619-C1D1-44EB-BEC7-2D39671F946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288023"/>
            <a:ext cx="5181600" cy="3426541"/>
          </a:xfrm>
        </p:spPr>
      </p:pic>
    </p:spTree>
    <p:extLst>
      <p:ext uri="{BB962C8B-B14F-4D97-AF65-F5344CB8AC3E}">
        <p14:creationId xmlns:p14="http://schemas.microsoft.com/office/powerpoint/2010/main" val="18423122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Visualization of wine data set</a:t>
            </a:r>
            <a:br>
              <a:rPr lang="en-US" altLang="ko-KR" dirty="0"/>
            </a:br>
            <a:r>
              <a:rPr lang="en-US" altLang="ko-KR" sz="2400" dirty="0"/>
              <a:t>histogram</a:t>
            </a:r>
            <a:endParaRPr lang="ko-KR" altLang="en-US" sz="2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13" name="내용 개체 틀 12">
            <a:extLst>
              <a:ext uri="{FF2B5EF4-FFF2-40B4-BE49-F238E27FC236}">
                <a16:creationId xmlns:a16="http://schemas.microsoft.com/office/drawing/2014/main" id="{6C7D5210-C3A4-467B-B656-BFEF2AC0437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492" y="2426691"/>
            <a:ext cx="4673016" cy="3149206"/>
          </a:xfrm>
        </p:spPr>
      </p:pic>
      <p:pic>
        <p:nvPicPr>
          <p:cNvPr id="11" name="내용 개체 틀 10">
            <a:extLst>
              <a:ext uri="{FF2B5EF4-FFF2-40B4-BE49-F238E27FC236}">
                <a16:creationId xmlns:a16="http://schemas.microsoft.com/office/drawing/2014/main" id="{48537008-CAAA-46BD-94EB-9AD9F0579F6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415879"/>
            <a:ext cx="5181600" cy="3170829"/>
          </a:xfrm>
        </p:spPr>
      </p:pic>
    </p:spTree>
    <p:extLst>
      <p:ext uri="{BB962C8B-B14F-4D97-AF65-F5344CB8AC3E}">
        <p14:creationId xmlns:p14="http://schemas.microsoft.com/office/powerpoint/2010/main" val="17318236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Use pandas to understand</a:t>
            </a:r>
            <a:br>
              <a:rPr lang="en-US" altLang="ko-KR" dirty="0"/>
            </a:br>
            <a:r>
              <a:rPr lang="en-US" altLang="ko-KR" dirty="0"/>
              <a:t>and handle data</a:t>
            </a:r>
            <a:endParaRPr lang="ko-KR" altLang="en-US" sz="2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7E6B543-97D4-4EEB-8D83-E6948CB07F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Import pandas</a:t>
            </a:r>
          </a:p>
          <a:p>
            <a:r>
              <a:rPr lang="en-US" altLang="ko-KR" dirty="0"/>
              <a:t>Get wine datasets</a:t>
            </a:r>
          </a:p>
          <a:p>
            <a:r>
              <a:rPr lang="en-US" altLang="ko-KR" dirty="0"/>
              <a:t>Make data frame using pandas</a:t>
            </a:r>
          </a:p>
          <a:p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Output a part of the dataset using the head method</a:t>
            </a:r>
            <a:endParaRPr lang="en-US" altLang="ko-KR" dirty="0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EE8FB316-4EAC-4320-B9C1-7A38C9B0B8E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3845" y="1825625"/>
            <a:ext cx="5749953" cy="2936333"/>
          </a:xfrm>
        </p:spPr>
      </p:pic>
    </p:spTree>
    <p:extLst>
      <p:ext uri="{BB962C8B-B14F-4D97-AF65-F5344CB8AC3E}">
        <p14:creationId xmlns:p14="http://schemas.microsoft.com/office/powerpoint/2010/main" val="39334835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Use pandas to understand</a:t>
            </a:r>
            <a:br>
              <a:rPr lang="en-US" altLang="ko-KR" dirty="0"/>
            </a:br>
            <a:r>
              <a:rPr lang="en-US" altLang="ko-KR" dirty="0"/>
              <a:t>and handle data</a:t>
            </a:r>
            <a:endParaRPr lang="ko-KR" altLang="en-US" sz="2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7E6B543-97D4-4EEB-8D83-E6948CB07F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Set column label as a ‘kind(target)’</a:t>
            </a:r>
          </a:p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Output a part of the dataset using the head method</a:t>
            </a:r>
            <a:endParaRPr lang="en-US" altLang="ko-KR" dirty="0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E93A4C5E-D027-4AE4-A142-63E0DD29F10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9406" y="1825624"/>
            <a:ext cx="5414396" cy="2117201"/>
          </a:xfrm>
        </p:spPr>
      </p:pic>
    </p:spTree>
    <p:extLst>
      <p:ext uri="{BB962C8B-B14F-4D97-AF65-F5344CB8AC3E}">
        <p14:creationId xmlns:p14="http://schemas.microsoft.com/office/powerpoint/2010/main" val="39139723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Use pandas to understand</a:t>
            </a:r>
            <a:br>
              <a:rPr lang="en-US" altLang="ko-KR" dirty="0"/>
            </a:br>
            <a:r>
              <a:rPr lang="en-US" altLang="ko-KR" dirty="0"/>
              <a:t>and handle data</a:t>
            </a:r>
            <a:endParaRPr lang="ko-KR" altLang="en-US" sz="2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7E6B543-97D4-4EEB-8D83-E6948CB07F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>
                <a:ea typeface="+mj-ea"/>
              </a:rPr>
              <a:t>Combine target data and feature data</a:t>
            </a:r>
          </a:p>
          <a:p>
            <a:r>
              <a:rPr lang="en-US" altLang="ko-KR" b="0" i="0" dirty="0">
                <a:solidFill>
                  <a:srgbClr val="000000"/>
                </a:solidFill>
                <a:effectLst/>
                <a:ea typeface="+mj-ea"/>
              </a:rPr>
              <a:t>Output a part of the dataset using the head method</a:t>
            </a:r>
            <a:endParaRPr lang="en-US" altLang="ko-KR" dirty="0">
              <a:ea typeface="+mj-ea"/>
            </a:endParaRPr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3E341955-9D2C-4D00-A936-F8517581976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825625"/>
            <a:ext cx="5181600" cy="2662308"/>
          </a:xfrm>
        </p:spPr>
      </p:pic>
    </p:spTree>
    <p:extLst>
      <p:ext uri="{BB962C8B-B14F-4D97-AF65-F5344CB8AC3E}">
        <p14:creationId xmlns:p14="http://schemas.microsoft.com/office/powerpoint/2010/main" val="19364051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Use pandas to understand</a:t>
            </a:r>
            <a:br>
              <a:rPr lang="en-US" altLang="ko-KR" dirty="0"/>
            </a:br>
            <a:r>
              <a:rPr lang="en-US" altLang="ko-KR" dirty="0"/>
              <a:t>and handle data</a:t>
            </a:r>
            <a:endParaRPr lang="ko-KR" altLang="en-US" sz="2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7E6B543-97D4-4EEB-8D83-E6948CB07F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 err="1"/>
              <a:t>corr</a:t>
            </a:r>
            <a:r>
              <a:rPr lang="en-US" altLang="ko-KR" dirty="0"/>
              <a:t>() function outputs correlation coefficient</a:t>
            </a:r>
          </a:p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The correlation coefficient is a positive correlation as it approaches 1, and a negative correlation as it approaches -1, it is negative.</a:t>
            </a:r>
          </a:p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If it is close to 0, there is no correlation between the data.</a:t>
            </a:r>
            <a:endParaRPr lang="en-US" altLang="ko-KR" dirty="0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E4746C81-91B9-42F5-8261-A26D6C4BF40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0350" y="2048669"/>
            <a:ext cx="4305300" cy="3905250"/>
          </a:xfrm>
        </p:spPr>
      </p:pic>
    </p:spTree>
    <p:extLst>
      <p:ext uri="{BB962C8B-B14F-4D97-AF65-F5344CB8AC3E}">
        <p14:creationId xmlns:p14="http://schemas.microsoft.com/office/powerpoint/2010/main" val="2214882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Use pandas to understand</a:t>
            </a:r>
            <a:br>
              <a:rPr lang="en-US" altLang="ko-KR" dirty="0"/>
            </a:br>
            <a:r>
              <a:rPr lang="en-US" altLang="ko-KR" dirty="0"/>
              <a:t>and handle data</a:t>
            </a:r>
            <a:endParaRPr lang="ko-KR" altLang="en-US" sz="2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7E6B543-97D4-4EEB-8D83-E6948CB07F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</a:rPr>
              <a:t>describe() function</a:t>
            </a:r>
            <a:r>
              <a:rPr lang="en-US" altLang="ko-KR" b="0" i="0" dirty="0">
                <a:solidFill>
                  <a:srgbClr val="000000"/>
                </a:solidFill>
                <a:effectLst/>
              </a:rPr>
              <a:t> outputs eight pieces of statistical information.</a:t>
            </a:r>
          </a:p>
          <a:p>
            <a:r>
              <a:rPr lang="en-US" altLang="ko-KR" dirty="0">
                <a:solidFill>
                  <a:srgbClr val="000000"/>
                </a:solidFill>
              </a:rPr>
              <a:t>count, mean, std, min, 25%, 50%, 75%, max</a:t>
            </a:r>
            <a:endParaRPr lang="en-US" altLang="ko-KR" dirty="0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61F5E875-51FC-4F1D-AFD3-2D8CDAF8576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0" y="2048669"/>
            <a:ext cx="4953000" cy="3905250"/>
          </a:xfrm>
        </p:spPr>
      </p:pic>
    </p:spTree>
    <p:extLst>
      <p:ext uri="{BB962C8B-B14F-4D97-AF65-F5344CB8AC3E}">
        <p14:creationId xmlns:p14="http://schemas.microsoft.com/office/powerpoint/2010/main" val="31014658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Use pandas to understand</a:t>
            </a:r>
            <a:br>
              <a:rPr lang="en-US" altLang="ko-KR" dirty="0"/>
            </a:br>
            <a:r>
              <a:rPr lang="en-US" altLang="ko-KR" dirty="0"/>
              <a:t>and handle data</a:t>
            </a:r>
            <a:endParaRPr lang="ko-KR" altLang="en-US" sz="2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2DE2140B-C9D1-4428-95D2-96491478820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81" y="1825625"/>
            <a:ext cx="4471237" cy="4351338"/>
          </a:xfrm>
        </p:spPr>
      </p:pic>
      <p:pic>
        <p:nvPicPr>
          <p:cNvPr id="11" name="내용 개체 틀 10">
            <a:extLst>
              <a:ext uri="{FF2B5EF4-FFF2-40B4-BE49-F238E27FC236}">
                <a16:creationId xmlns:a16="http://schemas.microsoft.com/office/drawing/2014/main" id="{93E4AF4E-0D20-4C1D-9465-77620D505B2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759762"/>
            <a:ext cx="5181600" cy="2483063"/>
          </a:xfrm>
        </p:spPr>
      </p:pic>
    </p:spTree>
    <p:extLst>
      <p:ext uri="{BB962C8B-B14F-4D97-AF65-F5344CB8AC3E}">
        <p14:creationId xmlns:p14="http://schemas.microsoft.com/office/powerpoint/2010/main" val="13392280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Use pandas to understand</a:t>
            </a:r>
            <a:br>
              <a:rPr lang="en-US" altLang="ko-KR" dirty="0"/>
            </a:br>
            <a:r>
              <a:rPr lang="en-US" altLang="ko-KR" dirty="0"/>
              <a:t>and handle data</a:t>
            </a:r>
            <a:endParaRPr lang="ko-KR" altLang="en-US" sz="2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F203B0FD-E07F-4488-BB2E-EDFDFE092E3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254" y="2331453"/>
            <a:ext cx="4863492" cy="3339682"/>
          </a:xfrm>
        </p:spPr>
      </p:pic>
      <p:pic>
        <p:nvPicPr>
          <p:cNvPr id="13" name="내용 개체 틀 12">
            <a:extLst>
              <a:ext uri="{FF2B5EF4-FFF2-40B4-BE49-F238E27FC236}">
                <a16:creationId xmlns:a16="http://schemas.microsoft.com/office/drawing/2014/main" id="{3C40A2FD-49F8-48B8-8AD7-8F46A23F2BA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949583"/>
            <a:ext cx="5181600" cy="2103421"/>
          </a:xfrm>
        </p:spPr>
      </p:pic>
    </p:spTree>
    <p:extLst>
      <p:ext uri="{BB962C8B-B14F-4D97-AF65-F5344CB8AC3E}">
        <p14:creationId xmlns:p14="http://schemas.microsoft.com/office/powerpoint/2010/main" val="772552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786</Words>
  <Application>Microsoft Office PowerPoint</Application>
  <PresentationFormat>와이드스크린</PresentationFormat>
  <Paragraphs>87</Paragraphs>
  <Slides>29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3" baseType="lpstr">
      <vt:lpstr>noto</vt:lpstr>
      <vt:lpstr>맑은 고딕</vt:lpstr>
      <vt:lpstr>Arial</vt:lpstr>
      <vt:lpstr>Office 테마</vt:lpstr>
      <vt:lpstr>Preparing Machine Learning</vt:lpstr>
      <vt:lpstr>Importance of Collecting and Preparing Data</vt:lpstr>
      <vt:lpstr>Dependent variable and Independent variable</vt:lpstr>
      <vt:lpstr>Looking for scikit-learn’s sample data get iris data set</vt:lpstr>
      <vt:lpstr>Example of supervised learning looking for example (breast cancer diagnosis data set, data preprocessing)</vt:lpstr>
      <vt:lpstr>Example of supervised learning logistic regression</vt:lpstr>
      <vt:lpstr>Accuracy evaluation</vt:lpstr>
      <vt:lpstr>Example of unsupervised learning looking for example (wine data set, data preprocessing)</vt:lpstr>
      <vt:lpstr>Example of unsupervised learning KMeans algorithm</vt:lpstr>
      <vt:lpstr>Confirmation of learning output</vt:lpstr>
      <vt:lpstr>Visualization using python (pandas, matplotlib, seaborn)</vt:lpstr>
      <vt:lpstr>Graph output using matplotlib plt.plot(x1, y1)</vt:lpstr>
      <vt:lpstr>Graph output using matplotlib ax.plot(x1, y1)</vt:lpstr>
      <vt:lpstr>Output various graphs Preparing Data</vt:lpstr>
      <vt:lpstr>Output various graphs scatter</vt:lpstr>
      <vt:lpstr>Output various graphs histogram</vt:lpstr>
      <vt:lpstr>Output various graphs bar graph</vt:lpstr>
      <vt:lpstr>Output various graphs line graph</vt:lpstr>
      <vt:lpstr>Output various graphs box plot</vt:lpstr>
      <vt:lpstr>Visualization of wine data set data preprocessing</vt:lpstr>
      <vt:lpstr>Visualization of wine data set scatter</vt:lpstr>
      <vt:lpstr>Visualization of wine data set histogram</vt:lpstr>
      <vt:lpstr>Use pandas to understand and handle data</vt:lpstr>
      <vt:lpstr>Use pandas to understand and handle data</vt:lpstr>
      <vt:lpstr>Use pandas to understand and handle data</vt:lpstr>
      <vt:lpstr>Use pandas to understand and handle data</vt:lpstr>
      <vt:lpstr>Use pandas to understand and handle data</vt:lpstr>
      <vt:lpstr>Use pandas to understand and handle data</vt:lpstr>
      <vt:lpstr>Use pandas to understand and handle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신 주영</dc:creator>
  <cp:lastModifiedBy>신 주영</cp:lastModifiedBy>
  <cp:revision>78</cp:revision>
  <dcterms:created xsi:type="dcterms:W3CDTF">2022-03-29T06:47:50Z</dcterms:created>
  <dcterms:modified xsi:type="dcterms:W3CDTF">2022-04-12T13:06:18Z</dcterms:modified>
</cp:coreProperties>
</file>