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6"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2B0299-41B4-43F4-A878-D682E2001172}"/>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4D85D861-9023-42F1-8990-7AB960A4E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1C99C0EA-9304-4304-A07A-D68AB604B969}"/>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880E3DFC-5EF6-443D-B091-ABB0504A5BF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BD147CE-6EB9-4D98-8507-6D093BF71128}"/>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51018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7C6B661-05FE-4344-AD31-5A7E43C2258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277C8E6-0CBC-49B0-A060-94D7AD9C18A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3AF4E4E-D1D2-43D9-9DCD-052A029A76DA}"/>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7E69121F-0BAE-4135-9D5B-B3193D083DA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B04622A-4864-41D9-BF47-25424520B7DA}"/>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24924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1AB13C-7D10-476A-8376-07E6B716FB9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4BF9049-2AE1-4192-9846-1DCD8BB274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2FF9E19-AD88-4D05-949D-77D5780F50A4}"/>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B7D28CA2-9964-4EC3-8003-3C8B4E4E3C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B4D972F-FDB8-47F1-A09F-9B646BB85D7C}"/>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91086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817BE4-050F-47E6-961C-494AC9A871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26F233D-16CE-42C2-9D97-F539F9E5FAF0}"/>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1C6A4E4-02CA-4642-8A2C-F33A4A79B2A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255BE14-423F-499F-991F-6A71833C2376}"/>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A764807A-C9F1-4D39-B867-710796F1CA0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E02612F-43D8-4DC9-83AA-CEAD5106A8C2}"/>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4063999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66C5DAE-04E5-4C3F-A48A-61E10E2509E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EFE6F72-24B5-462C-B7AE-F3DDE2675E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96535F8-D9AF-49AD-AC17-A175775F815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6CB64CF-A535-4F54-B222-BDF2F5151E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1B0CCE5-5EFD-457A-9D26-397AE8E2F2E2}"/>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531D7BF-9C84-4EEC-82F9-996241CA8DBD}"/>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8" name="바닥글 개체 틀 7">
            <a:extLst>
              <a:ext uri="{FF2B5EF4-FFF2-40B4-BE49-F238E27FC236}">
                <a16:creationId xmlns:a16="http://schemas.microsoft.com/office/drawing/2014/main" id="{F9F3832D-4C26-4DA4-A6BB-B194922667F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913EB3BF-851E-4A1B-9742-02B7CB47FAB3}"/>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259576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879C43-FF60-4FBB-A537-0428D494469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84BF4170-1604-4258-9DD2-03CF7C3B65F5}"/>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4" name="바닥글 개체 틀 3">
            <a:extLst>
              <a:ext uri="{FF2B5EF4-FFF2-40B4-BE49-F238E27FC236}">
                <a16:creationId xmlns:a16="http://schemas.microsoft.com/office/drawing/2014/main" id="{98B4673E-2FE2-4BA9-9C36-A656EB17F78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F5C50F75-9D2B-4B73-8EE8-31FB9ED9F4EC}"/>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2883179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7D1E743-D0EB-4B2A-B5CB-B7FEF4D8FA2F}"/>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3" name="바닥글 개체 틀 2">
            <a:extLst>
              <a:ext uri="{FF2B5EF4-FFF2-40B4-BE49-F238E27FC236}">
                <a16:creationId xmlns:a16="http://schemas.microsoft.com/office/drawing/2014/main" id="{70E26E2D-D12C-4F81-8526-ECCD428EC96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81BB53C-FA60-4080-8FF3-73909E71F25A}"/>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971206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6AA9D9-FBD0-4DD6-BFFA-125EEE06734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84CA33EB-92FA-48A8-928E-00AC0F8290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E27CDF-2543-46FC-9B45-096FA0A2C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224FECB-1040-4689-A70F-39A22CA1BCF3}"/>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EB285A90-BB8C-46DC-9A38-59318E8A193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324461F-49D3-4E0C-81A7-56FB436BD944}"/>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740336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30A87FD-7B2E-46D0-BD1A-E6A92C18A01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21893189-9F9E-4CC5-ABE8-FF2783263C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DAB78E4-C193-430B-A25F-D907C12E1C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2836781-A912-4A4D-B746-1021862C1A02}"/>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7BB6F419-F380-418B-BEE3-C8D3F8F36EE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0244E4B-F0F7-4B45-8312-04B21DA7B713}"/>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2043771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94D339-A9B7-4FC6-BC17-0660B4552432}"/>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D190CED4-229B-4235-AF45-8DAF98FC08B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4FDC045-C870-419F-9491-F29D737C3B36}"/>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4E9A3E23-AD63-4F08-A554-EFA2DA35DC8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8A8D43D-9298-4808-9DD6-7B287BA0DD84}"/>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55600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572F74C-51EC-4A3C-B82C-F5080C43DFD3}"/>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B74A0CAE-3CEB-466A-A9CF-8E936751D93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495267D-32CB-45A8-8169-16CAB9BE8669}"/>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E254217E-BF50-4862-8F33-F65F9271FEB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044166-15DD-4C75-A4CA-7CF8FDDF90C6}"/>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675526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6E76D545-A5B2-442E-A18B-0C3BCFFE30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2B5FF3A-FAFA-49B2-A629-35854D5632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101A638-3363-41BF-973A-306012EDC8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939E9392-A72E-4367-AAB2-90918A394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DDB2BB9A-8537-4481-9D35-AC1C3A27E1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422035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1.jpg"/></Relationships>
</file>

<file path=ppt/slides/_rels/slide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Evaluation Method</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5033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B73C716-58F8-4A26-8E24-A00ED547D4CD}"/>
              </a:ext>
            </a:extLst>
          </p:cNvPr>
          <p:cNvSpPr>
            <a:spLocks noGrp="1"/>
          </p:cNvSpPr>
          <p:nvPr>
            <p:ph type="title"/>
          </p:nvPr>
        </p:nvSpPr>
        <p:spPr/>
        <p:txBody>
          <a:bodyPr/>
          <a:lstStyle/>
          <a:p>
            <a:r>
              <a:rPr lang="en-US" altLang="ko-KR" dirty="0"/>
              <a:t>Table</a:t>
            </a:r>
            <a:r>
              <a:rPr lang="ko-KR" altLang="en-US" dirty="0"/>
              <a:t> </a:t>
            </a:r>
            <a:r>
              <a:rPr lang="en-US" altLang="ko-KR" dirty="0"/>
              <a:t>of</a:t>
            </a:r>
            <a:r>
              <a:rPr lang="ko-KR" altLang="en-US" dirty="0"/>
              <a:t> </a:t>
            </a:r>
            <a:r>
              <a:rPr lang="en-US" altLang="ko-KR" dirty="0"/>
              <a:t>Contents</a:t>
            </a:r>
            <a:endParaRPr lang="ko-KR" altLang="en-US" dirty="0"/>
          </a:p>
        </p:txBody>
      </p:sp>
      <p:sp>
        <p:nvSpPr>
          <p:cNvPr id="3" name="내용 개체 틀 2">
            <a:extLst>
              <a:ext uri="{FF2B5EF4-FFF2-40B4-BE49-F238E27FC236}">
                <a16:creationId xmlns:a16="http://schemas.microsoft.com/office/drawing/2014/main" id="{9822B993-CB6C-4464-AB5D-A550398A3251}"/>
              </a:ext>
            </a:extLst>
          </p:cNvPr>
          <p:cNvSpPr>
            <a:spLocks noGrp="1"/>
          </p:cNvSpPr>
          <p:nvPr>
            <p:ph idx="1"/>
          </p:nvPr>
        </p:nvSpPr>
        <p:spPr/>
        <p:txBody>
          <a:bodyPr/>
          <a:lstStyle/>
          <a:p>
            <a:pPr marL="514350" indent="-514350">
              <a:buFont typeface="+mj-lt"/>
              <a:buAutoNum type="arabicPeriod"/>
            </a:pPr>
            <a:r>
              <a:rPr lang="en-US" altLang="ko-KR" dirty="0"/>
              <a:t>Evaluation Method</a:t>
            </a:r>
          </a:p>
          <a:p>
            <a:pPr marL="514350" indent="-514350">
              <a:buFont typeface="+mj-lt"/>
              <a:buAutoNum type="arabicPeriod"/>
            </a:pPr>
            <a:r>
              <a:rPr lang="en-US" altLang="ko-KR" dirty="0"/>
              <a:t>Preprocessing of Documents</a:t>
            </a:r>
          </a:p>
          <a:p>
            <a:pPr marL="514350" indent="-514350">
              <a:buFont typeface="+mj-lt"/>
              <a:buAutoNum type="arabicPeriod"/>
            </a:pPr>
            <a:r>
              <a:rPr lang="en-US" altLang="ko-KR" dirty="0"/>
              <a:t>Converting Image Data</a:t>
            </a:r>
            <a:endParaRPr lang="ko-KR" altLang="en-US" dirty="0"/>
          </a:p>
        </p:txBody>
      </p:sp>
      <p:pic>
        <p:nvPicPr>
          <p:cNvPr id="4" name="그림 3">
            <a:extLst>
              <a:ext uri="{FF2B5EF4-FFF2-40B4-BE49-F238E27FC236}">
                <a16:creationId xmlns:a16="http://schemas.microsoft.com/office/drawing/2014/main" id="{8AE01F6C-1C16-438D-BD59-2B445D093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17306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23AC0C-4462-4424-A97E-170E6E77DD30}"/>
              </a:ext>
            </a:extLst>
          </p:cNvPr>
          <p:cNvSpPr>
            <a:spLocks noGrp="1"/>
          </p:cNvSpPr>
          <p:nvPr>
            <p:ph type="title"/>
          </p:nvPr>
        </p:nvSpPr>
        <p:spPr/>
        <p:txBody>
          <a:bodyPr/>
          <a:lstStyle/>
          <a:p>
            <a:r>
              <a:rPr lang="en-US" altLang="ko-KR" dirty="0"/>
              <a:t>Ways to evaluate supervised learning</a:t>
            </a:r>
            <a:endParaRPr lang="ko-KR" altLang="en-US" dirty="0"/>
          </a:p>
        </p:txBody>
      </p:sp>
      <p:sp>
        <p:nvSpPr>
          <p:cNvPr id="3" name="내용 개체 틀 2">
            <a:extLst>
              <a:ext uri="{FF2B5EF4-FFF2-40B4-BE49-F238E27FC236}">
                <a16:creationId xmlns:a16="http://schemas.microsoft.com/office/drawing/2014/main" id="{6153F251-3EEC-430F-A2FD-11DF51BFA4FF}"/>
              </a:ext>
            </a:extLst>
          </p:cNvPr>
          <p:cNvSpPr>
            <a:spLocks noGrp="1"/>
          </p:cNvSpPr>
          <p:nvPr>
            <p:ph sz="half" idx="1"/>
          </p:nvPr>
        </p:nvSpPr>
        <p:spPr/>
        <p:txBody>
          <a:bodyPr>
            <a:normAutofit lnSpcReduction="10000"/>
          </a:bodyPr>
          <a:lstStyle/>
          <a:p>
            <a:r>
              <a:rPr lang="en-US" altLang="ko-KR" b="0" i="0" dirty="0">
                <a:solidFill>
                  <a:srgbClr val="000000"/>
                </a:solidFill>
                <a:effectLst/>
                <a:latin typeface="Helvetica Neue"/>
              </a:rPr>
              <a:t>The evaluation method of supervised learning varies depending on whether it is a classification problem or a regression problem.</a:t>
            </a:r>
          </a:p>
          <a:p>
            <a:r>
              <a:rPr lang="en-US" altLang="ko-KR" b="0" i="0" dirty="0">
                <a:solidFill>
                  <a:srgbClr val="000000"/>
                </a:solidFill>
                <a:effectLst/>
                <a:latin typeface="Helvetica Neue"/>
              </a:rPr>
              <a:t>Even if evaluation indicators are appropriately selected, a good model cannot be created if they are overfitting the learning data. This should be noted.</a:t>
            </a:r>
          </a:p>
        </p:txBody>
      </p:sp>
      <p:graphicFrame>
        <p:nvGraphicFramePr>
          <p:cNvPr id="6" name="표 6">
            <a:extLst>
              <a:ext uri="{FF2B5EF4-FFF2-40B4-BE49-F238E27FC236}">
                <a16:creationId xmlns:a16="http://schemas.microsoft.com/office/drawing/2014/main" id="{7664D411-41A9-4C42-AAA3-8FC055D83190}"/>
              </a:ext>
            </a:extLst>
          </p:cNvPr>
          <p:cNvGraphicFramePr>
            <a:graphicFrameLocks noGrp="1"/>
          </p:cNvGraphicFramePr>
          <p:nvPr>
            <p:ph sz="half" idx="2"/>
          </p:nvPr>
        </p:nvGraphicFramePr>
        <p:xfrm>
          <a:off x="6172200" y="1825625"/>
          <a:ext cx="5181600" cy="340868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165195647"/>
                    </a:ext>
                  </a:extLst>
                </a:gridCol>
                <a:gridCol w="2590800">
                  <a:extLst>
                    <a:ext uri="{9D8B030D-6E8A-4147-A177-3AD203B41FA5}">
                      <a16:colId xmlns:a16="http://schemas.microsoft.com/office/drawing/2014/main" val="2250791926"/>
                    </a:ext>
                  </a:extLst>
                </a:gridCol>
              </a:tblGrid>
              <a:tr h="370840">
                <a:tc>
                  <a:txBody>
                    <a:bodyPr/>
                    <a:lstStyle/>
                    <a:p>
                      <a:pPr algn="ctr" latinLnBrk="1"/>
                      <a:r>
                        <a:rPr lang="ko-KR" altLang="en-US" dirty="0"/>
                        <a:t>분류 문제</a:t>
                      </a:r>
                    </a:p>
                  </a:txBody>
                  <a:tcPr/>
                </a:tc>
                <a:tc>
                  <a:txBody>
                    <a:bodyPr/>
                    <a:lstStyle/>
                    <a:p>
                      <a:pPr algn="ctr" latinLnBrk="1"/>
                      <a:r>
                        <a:rPr lang="ko-KR" altLang="en-US" dirty="0"/>
                        <a:t>회귀 문제</a:t>
                      </a:r>
                    </a:p>
                  </a:txBody>
                  <a:tcPr/>
                </a:tc>
                <a:extLst>
                  <a:ext uri="{0D108BD9-81ED-4DB2-BD59-A6C34878D82A}">
                    <a16:rowId xmlns:a16="http://schemas.microsoft.com/office/drawing/2014/main" val="479046221"/>
                  </a:ext>
                </a:extLst>
              </a:tr>
              <a:tr h="370840">
                <a:tc>
                  <a:txBody>
                    <a:bodyPr/>
                    <a:lstStyle/>
                    <a:p>
                      <a:pPr algn="ctr" latinLnBrk="1"/>
                      <a:r>
                        <a:rPr lang="ko-KR" altLang="en-US" dirty="0"/>
                        <a:t>혼동 행렬</a:t>
                      </a:r>
                      <a:endParaRPr lang="en-US" altLang="ko-KR" dirty="0"/>
                    </a:p>
                    <a:p>
                      <a:pPr algn="ctr" latinLnBrk="1"/>
                      <a:r>
                        <a:rPr lang="en-US" altLang="ko-KR" dirty="0"/>
                        <a:t>(confusion matrix)</a:t>
                      </a:r>
                      <a:endParaRPr lang="ko-KR" altLang="en-US" dirty="0"/>
                    </a:p>
                  </a:txBody>
                  <a:tcPr/>
                </a:tc>
                <a:tc>
                  <a:txBody>
                    <a:bodyPr/>
                    <a:lstStyle/>
                    <a:p>
                      <a:pPr algn="ctr" latinLnBrk="1"/>
                      <a:r>
                        <a:rPr lang="ko-KR" altLang="en-US" dirty="0" err="1"/>
                        <a:t>평균제곱오차</a:t>
                      </a:r>
                      <a:endParaRPr lang="en-US" altLang="ko-KR" dirty="0"/>
                    </a:p>
                    <a:p>
                      <a:pPr algn="ctr" latinLnBrk="1"/>
                      <a:r>
                        <a:rPr lang="en-US" altLang="ko-KR" dirty="0"/>
                        <a:t>(mean</a:t>
                      </a:r>
                      <a:r>
                        <a:rPr lang="ko-KR" altLang="en-US" dirty="0"/>
                        <a:t> </a:t>
                      </a:r>
                      <a:r>
                        <a:rPr lang="en-US" altLang="ko-KR" dirty="0"/>
                        <a:t>square</a:t>
                      </a:r>
                      <a:r>
                        <a:rPr lang="ko-KR" altLang="en-US" dirty="0"/>
                        <a:t> </a:t>
                      </a:r>
                      <a:r>
                        <a:rPr lang="en-US" altLang="ko-KR" dirty="0"/>
                        <a:t>error)</a:t>
                      </a:r>
                    </a:p>
                  </a:txBody>
                  <a:tcPr/>
                </a:tc>
                <a:extLst>
                  <a:ext uri="{0D108BD9-81ED-4DB2-BD59-A6C34878D82A}">
                    <a16:rowId xmlns:a16="http://schemas.microsoft.com/office/drawing/2014/main" val="2321941253"/>
                  </a:ext>
                </a:extLst>
              </a:tr>
              <a:tr h="370840">
                <a:tc>
                  <a:txBody>
                    <a:bodyPr/>
                    <a:lstStyle/>
                    <a:p>
                      <a:pPr algn="ctr" latinLnBrk="1"/>
                      <a:r>
                        <a:rPr lang="ko-KR" altLang="en-US" dirty="0"/>
                        <a:t>정확도</a:t>
                      </a:r>
                      <a:r>
                        <a:rPr lang="en-US" altLang="ko-KR" dirty="0"/>
                        <a:t> (accuracy)</a:t>
                      </a:r>
                      <a:endParaRPr lang="ko-KR" altLang="en-US" dirty="0"/>
                    </a:p>
                  </a:txBody>
                  <a:tcPr/>
                </a:tc>
                <a:tc>
                  <a:txBody>
                    <a:bodyPr/>
                    <a:lstStyle/>
                    <a:p>
                      <a:pPr algn="ctr" latinLnBrk="1"/>
                      <a:r>
                        <a:rPr lang="ko-KR" altLang="en-US" dirty="0"/>
                        <a:t>결정계수</a:t>
                      </a:r>
                      <a:endParaRPr lang="en-US" altLang="ko-KR" dirty="0"/>
                    </a:p>
                    <a:p>
                      <a:pPr algn="ctr" latinLnBrk="1"/>
                      <a:r>
                        <a:rPr lang="en-US" altLang="ko-KR" dirty="0"/>
                        <a:t>(coefficient of determination)</a:t>
                      </a:r>
                    </a:p>
                  </a:txBody>
                  <a:tcPr/>
                </a:tc>
                <a:extLst>
                  <a:ext uri="{0D108BD9-81ED-4DB2-BD59-A6C34878D82A}">
                    <a16:rowId xmlns:a16="http://schemas.microsoft.com/office/drawing/2014/main" val="1367688113"/>
                  </a:ext>
                </a:extLst>
              </a:tr>
              <a:tr h="370840">
                <a:tc>
                  <a:txBody>
                    <a:bodyPr/>
                    <a:lstStyle/>
                    <a:p>
                      <a:pPr algn="ctr" latinLnBrk="1"/>
                      <a:r>
                        <a:rPr lang="ko-KR" altLang="en-US" dirty="0"/>
                        <a:t>정밀도</a:t>
                      </a:r>
                      <a:r>
                        <a:rPr lang="en-US" altLang="ko-KR" dirty="0"/>
                        <a:t> (precision)</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2863189031"/>
                  </a:ext>
                </a:extLst>
              </a:tr>
              <a:tr h="370840">
                <a:tc>
                  <a:txBody>
                    <a:bodyPr/>
                    <a:lstStyle/>
                    <a:p>
                      <a:pPr algn="ctr" latinLnBrk="1"/>
                      <a:r>
                        <a:rPr lang="ko-KR" altLang="en-US" dirty="0" err="1"/>
                        <a:t>재현율</a:t>
                      </a:r>
                      <a:r>
                        <a:rPr lang="en-US" altLang="ko-KR" dirty="0"/>
                        <a:t> (recall)</a:t>
                      </a:r>
                    </a:p>
                  </a:txBody>
                  <a:tcPr/>
                </a:tc>
                <a:tc>
                  <a:txBody>
                    <a:bodyPr/>
                    <a:lstStyle/>
                    <a:p>
                      <a:pPr algn="ctr" latinLnBrk="1"/>
                      <a:endParaRPr lang="ko-KR" altLang="en-US" dirty="0"/>
                    </a:p>
                  </a:txBody>
                  <a:tcPr/>
                </a:tc>
                <a:extLst>
                  <a:ext uri="{0D108BD9-81ED-4DB2-BD59-A6C34878D82A}">
                    <a16:rowId xmlns:a16="http://schemas.microsoft.com/office/drawing/2014/main" val="4251115759"/>
                  </a:ext>
                </a:extLst>
              </a:tr>
              <a:tr h="370840">
                <a:tc>
                  <a:txBody>
                    <a:bodyPr/>
                    <a:lstStyle/>
                    <a:p>
                      <a:pPr algn="ctr" latinLnBrk="1"/>
                      <a:r>
                        <a:rPr lang="en-US" altLang="ko-KR" dirty="0"/>
                        <a:t>F</a:t>
                      </a:r>
                      <a:r>
                        <a:rPr lang="ko-KR" altLang="en-US" dirty="0"/>
                        <a:t>값</a:t>
                      </a:r>
                      <a:r>
                        <a:rPr lang="en-US" altLang="ko-KR" dirty="0"/>
                        <a:t> (F1-score)</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4273885648"/>
                  </a:ext>
                </a:extLst>
              </a:tr>
              <a:tr h="370840">
                <a:tc>
                  <a:txBody>
                    <a:bodyPr/>
                    <a:lstStyle/>
                    <a:p>
                      <a:pPr algn="ctr" latinLnBrk="1"/>
                      <a:r>
                        <a:rPr lang="ko-KR" altLang="en-US" dirty="0" err="1"/>
                        <a:t>곡선아래면적</a:t>
                      </a:r>
                      <a:r>
                        <a:rPr lang="ko-KR" altLang="en-US" dirty="0"/>
                        <a:t> </a:t>
                      </a:r>
                      <a:r>
                        <a:rPr lang="en-US" altLang="ko-KR" dirty="0"/>
                        <a:t>(AUC)</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2542989271"/>
                  </a:ext>
                </a:extLst>
              </a:tr>
            </a:tbl>
          </a:graphicData>
        </a:graphic>
      </p:graphicFrame>
      <p:pic>
        <p:nvPicPr>
          <p:cNvPr id="5" name="그림 4">
            <a:extLst>
              <a:ext uri="{FF2B5EF4-FFF2-40B4-BE49-F238E27FC236}">
                <a16:creationId xmlns:a16="http://schemas.microsoft.com/office/drawing/2014/main" id="{F806474C-95E3-4D44-8955-816EA0B1C6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59091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8421BF4-35E1-40FC-8683-C33A0C34FCEA}"/>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73696B1-131B-46DF-B9C4-6FAD7BEAD72C}"/>
              </a:ext>
            </a:extLst>
          </p:cNvPr>
          <p:cNvSpPr>
            <a:spLocks noGrp="1"/>
          </p:cNvSpPr>
          <p:nvPr>
            <p:ph sz="half" idx="1"/>
          </p:nvPr>
        </p:nvSpPr>
        <p:spPr/>
        <p:txBody>
          <a:bodyPr/>
          <a:lstStyle/>
          <a:p>
            <a:r>
              <a:rPr lang="en-US" altLang="ko-KR" dirty="0"/>
              <a:t>We’re going to use dataset as a breast cancer diagnosis data</a:t>
            </a:r>
            <a:endParaRPr lang="ko-KR" altLang="en-US" dirty="0"/>
          </a:p>
        </p:txBody>
      </p:sp>
      <p:pic>
        <p:nvPicPr>
          <p:cNvPr id="7" name="내용 개체 틀 6">
            <a:extLst>
              <a:ext uri="{FF2B5EF4-FFF2-40B4-BE49-F238E27FC236}">
                <a16:creationId xmlns:a16="http://schemas.microsoft.com/office/drawing/2014/main" id="{6AA2192C-79CF-42A8-89E0-AC8D3F7CD6C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39316"/>
            <a:ext cx="5181600" cy="4128347"/>
          </a:xfrm>
        </p:spPr>
      </p:pic>
      <p:pic>
        <p:nvPicPr>
          <p:cNvPr id="5" name="그림 4">
            <a:extLst>
              <a:ext uri="{FF2B5EF4-FFF2-40B4-BE49-F238E27FC236}">
                <a16:creationId xmlns:a16="http://schemas.microsoft.com/office/drawing/2014/main" id="{93850485-A7AA-4A90-890F-A58D0094A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42316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Confusion Matrix</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TN: Properly predict real negative data as negative</a:t>
            </a:r>
          </a:p>
          <a:p>
            <a:pPr algn="l">
              <a:buFont typeface="Arial" panose="020B0604020202020204" pitchFamily="34" charset="0"/>
              <a:buChar char="•"/>
            </a:pPr>
            <a:r>
              <a:rPr lang="en-US" altLang="ko-KR" b="0" i="0" dirty="0">
                <a:solidFill>
                  <a:srgbClr val="000000"/>
                </a:solidFill>
                <a:effectLst/>
              </a:rPr>
              <a:t>FP: Misleading prediction of real negative data as positive</a:t>
            </a:r>
          </a:p>
          <a:p>
            <a:pPr algn="l">
              <a:buFont typeface="Arial" panose="020B0604020202020204" pitchFamily="34" charset="0"/>
              <a:buChar char="•"/>
            </a:pPr>
            <a:r>
              <a:rPr lang="en-US" altLang="ko-KR" b="0" i="0" dirty="0">
                <a:solidFill>
                  <a:srgbClr val="000000"/>
                </a:solidFill>
                <a:effectLst/>
              </a:rPr>
              <a:t>FN: Misleading prediction of real positive data as negative</a:t>
            </a:r>
          </a:p>
          <a:p>
            <a:pPr algn="l">
              <a:buFont typeface="Arial" panose="020B0604020202020204" pitchFamily="34" charset="0"/>
              <a:buChar char="•"/>
            </a:pPr>
            <a:r>
              <a:rPr lang="en-US" altLang="ko-KR" b="0" i="0" dirty="0">
                <a:solidFill>
                  <a:srgbClr val="000000"/>
                </a:solidFill>
                <a:effectLst/>
              </a:rPr>
              <a:t>TP: Real Positive Data Predicts Positive</a:t>
            </a:r>
          </a:p>
        </p:txBody>
      </p:sp>
      <p:pic>
        <p:nvPicPr>
          <p:cNvPr id="7" name="내용 개체 틀 6">
            <a:extLst>
              <a:ext uri="{FF2B5EF4-FFF2-40B4-BE49-F238E27FC236}">
                <a16:creationId xmlns:a16="http://schemas.microsoft.com/office/drawing/2014/main" id="{3224A2CE-194F-40E1-9C3E-D72983C2843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2774791"/>
          </a:xfrm>
        </p:spPr>
      </p:pic>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그림 10">
            <a:extLst>
              <a:ext uri="{FF2B5EF4-FFF2-40B4-BE49-F238E27FC236}">
                <a16:creationId xmlns:a16="http://schemas.microsoft.com/office/drawing/2014/main" id="{28BC105F-4A99-484D-888A-5F963F5BEF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2" y="4735353"/>
            <a:ext cx="1495238" cy="1479499"/>
          </a:xfrm>
          <a:prstGeom prst="rect">
            <a:avLst/>
          </a:prstGeom>
        </p:spPr>
      </p:pic>
    </p:spTree>
    <p:extLst>
      <p:ext uri="{BB962C8B-B14F-4D97-AF65-F5344CB8AC3E}">
        <p14:creationId xmlns:p14="http://schemas.microsoft.com/office/powerpoint/2010/main" val="4174022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accuracy</a:t>
            </a:r>
            <a:endParaRPr lang="ko-KR" altLang="en-US" dirty="0"/>
          </a:p>
        </p:txBody>
      </p:sp>
      <p:pic>
        <p:nvPicPr>
          <p:cNvPr id="5" name="내용 개체 틀 4">
            <a:extLst>
              <a:ext uri="{FF2B5EF4-FFF2-40B4-BE49-F238E27FC236}">
                <a16:creationId xmlns:a16="http://schemas.microsoft.com/office/drawing/2014/main" id="{FFCD7EC9-5651-4F54-B1BD-F31D8EDF3C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460" y="3244614"/>
            <a:ext cx="5333080" cy="1325562"/>
          </a:xfrm>
        </p:spPr>
      </p:pic>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41523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precision</a:t>
            </a:r>
            <a:endParaRPr lang="ko-KR" altLang="en-US" dirty="0"/>
          </a:p>
        </p:txBody>
      </p:sp>
      <p:pic>
        <p:nvPicPr>
          <p:cNvPr id="5" name="내용 개체 틀 4">
            <a:extLst>
              <a:ext uri="{FF2B5EF4-FFF2-40B4-BE49-F238E27FC236}">
                <a16:creationId xmlns:a16="http://schemas.microsoft.com/office/drawing/2014/main" id="{FFCD7EC9-5651-4F54-B1BD-F31D8EDF3C7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86038" y="3244614"/>
            <a:ext cx="2419923" cy="1325562"/>
          </a:xfrm>
        </p:spPr>
      </p:pic>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29729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recall</a:t>
            </a:r>
            <a:endParaRPr lang="ko-KR" altLang="en-US" dirty="0"/>
          </a:p>
        </p:txBody>
      </p:sp>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4">
            <a:extLst>
              <a:ext uri="{FF2B5EF4-FFF2-40B4-BE49-F238E27FC236}">
                <a16:creationId xmlns:a16="http://schemas.microsoft.com/office/drawing/2014/main" id="{D655C874-B91B-4022-9D79-2A4549A7DF0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86039" y="3244614"/>
            <a:ext cx="2419921" cy="1325561"/>
          </a:xfrm>
          <a:prstGeom prst="rect">
            <a:avLst/>
          </a:prstGeom>
        </p:spPr>
      </p:pic>
    </p:spTree>
    <p:extLst>
      <p:ext uri="{BB962C8B-B14F-4D97-AF65-F5344CB8AC3E}">
        <p14:creationId xmlns:p14="http://schemas.microsoft.com/office/powerpoint/2010/main" val="1717573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F1-score</a:t>
            </a:r>
            <a:endParaRPr lang="ko-KR" altLang="en-US" dirty="0"/>
          </a:p>
        </p:txBody>
      </p:sp>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4">
            <a:extLst>
              <a:ext uri="{FF2B5EF4-FFF2-40B4-BE49-F238E27FC236}">
                <a16:creationId xmlns:a16="http://schemas.microsoft.com/office/drawing/2014/main" id="{DDAA11C4-2E50-4435-B1EB-4193ACB747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07035" y="2872732"/>
            <a:ext cx="4177929" cy="1112536"/>
          </a:xfrm>
          <a:prstGeom prst="rect">
            <a:avLst/>
          </a:prstGeom>
        </p:spPr>
      </p:pic>
    </p:spTree>
    <p:extLst>
      <p:ext uri="{BB962C8B-B14F-4D97-AF65-F5344CB8AC3E}">
        <p14:creationId xmlns:p14="http://schemas.microsoft.com/office/powerpoint/2010/main" val="430969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accuracy</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latin typeface="Helvetica Neue"/>
              </a:rPr>
              <a:t>Percentage of total forecast results correctly predicted</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2FDA40B0-B6B6-48E1-B770-4FBB076D801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57299"/>
            <a:ext cx="5181600" cy="2487990"/>
          </a:xfrm>
        </p:spPr>
      </p:pic>
    </p:spTree>
    <p:extLst>
      <p:ext uri="{BB962C8B-B14F-4D97-AF65-F5344CB8AC3E}">
        <p14:creationId xmlns:p14="http://schemas.microsoft.com/office/powerpoint/2010/main" val="3944147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precision</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latin typeface="Helvetica Neue"/>
              </a:rPr>
              <a:t>The percentage of the actual positive results that you predicted was really positive</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AFA2FA8F-E60D-45D2-B4CE-69C7AF9BEA7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79123"/>
            <a:ext cx="5181600" cy="2444341"/>
          </a:xfrm>
        </p:spPr>
      </p:pic>
    </p:spTree>
    <p:extLst>
      <p:ext uri="{BB962C8B-B14F-4D97-AF65-F5344CB8AC3E}">
        <p14:creationId xmlns:p14="http://schemas.microsoft.com/office/powerpoint/2010/main" val="2738653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recall</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rPr>
              <a:t>Percentage correctly predicted as positive as actual positive</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F7D6F59C-8103-4F35-8421-6B7CBFEF976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13874"/>
            <a:ext cx="5181600" cy="2574840"/>
          </a:xfrm>
        </p:spPr>
      </p:pic>
    </p:spTree>
    <p:extLst>
      <p:ext uri="{BB962C8B-B14F-4D97-AF65-F5344CB8AC3E}">
        <p14:creationId xmlns:p14="http://schemas.microsoft.com/office/powerpoint/2010/main" val="810979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F1-score</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rPr>
              <a:t>reflecting both precision and recall</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59594DBA-DE04-4C0C-A86E-C543357044A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617246"/>
            <a:ext cx="5181600" cy="2768095"/>
          </a:xfrm>
        </p:spPr>
      </p:pic>
    </p:spTree>
    <p:extLst>
      <p:ext uri="{BB962C8B-B14F-4D97-AF65-F5344CB8AC3E}">
        <p14:creationId xmlns:p14="http://schemas.microsoft.com/office/powerpoint/2010/main" val="3967208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4D1673-F84F-45BC-8EF4-A52FA29B778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prediction probability</a:t>
            </a:r>
            <a:endParaRPr lang="ko-KR" altLang="en-US" dirty="0"/>
          </a:p>
        </p:txBody>
      </p:sp>
      <p:sp>
        <p:nvSpPr>
          <p:cNvPr id="3" name="내용 개체 틀 2">
            <a:extLst>
              <a:ext uri="{FF2B5EF4-FFF2-40B4-BE49-F238E27FC236}">
                <a16:creationId xmlns:a16="http://schemas.microsoft.com/office/drawing/2014/main" id="{46466C1E-8825-44A6-A39B-8C545A528D67}"/>
              </a:ext>
            </a:extLst>
          </p:cNvPr>
          <p:cNvSpPr>
            <a:spLocks noGrp="1"/>
          </p:cNvSpPr>
          <p:nvPr>
            <p:ph sz="half" idx="1"/>
          </p:nvPr>
        </p:nvSpPr>
        <p:spPr/>
        <p:txBody>
          <a:bodyPr/>
          <a:lstStyle/>
          <a:p>
            <a:r>
              <a:rPr lang="en-US" altLang="ko-KR" b="0" i="0" dirty="0">
                <a:solidFill>
                  <a:srgbClr val="000000"/>
                </a:solidFill>
                <a:effectLst/>
              </a:rPr>
              <a:t>Calculate the probability of being classified as 0 and the probability of being classified as 1 respectively</a:t>
            </a:r>
            <a:endParaRPr lang="ko-KR" altLang="en-US" dirty="0"/>
          </a:p>
        </p:txBody>
      </p:sp>
      <p:pic>
        <p:nvPicPr>
          <p:cNvPr id="7" name="내용 개체 틀 6">
            <a:extLst>
              <a:ext uri="{FF2B5EF4-FFF2-40B4-BE49-F238E27FC236}">
                <a16:creationId xmlns:a16="http://schemas.microsoft.com/office/drawing/2014/main" id="{B7D19F58-ED67-4F2D-8623-A17576C5F6C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2878666"/>
          </a:xfrm>
        </p:spPr>
      </p:pic>
      <p:pic>
        <p:nvPicPr>
          <p:cNvPr id="5" name="그림 4">
            <a:extLst>
              <a:ext uri="{FF2B5EF4-FFF2-40B4-BE49-F238E27FC236}">
                <a16:creationId xmlns:a16="http://schemas.microsoft.com/office/drawing/2014/main" id="{98B9BF24-026E-44CD-A83E-6101DD448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44830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ratio of FP is set to the horizontal axis and the ratio of TP is set to the vertical axis and displayed as a graph.</a:t>
            </a:r>
          </a:p>
          <a:p>
            <a:pPr algn="l">
              <a:buFont typeface="Arial" panose="020B0604020202020204" pitchFamily="34" charset="0"/>
              <a:buChar char="•"/>
            </a:pPr>
            <a:r>
              <a:rPr lang="en-US" altLang="ko-KR" b="0" i="0" dirty="0">
                <a:solidFill>
                  <a:srgbClr val="000000"/>
                </a:solidFill>
                <a:effectLst/>
              </a:rPr>
              <a:t>The change in the relationship between FP and TP can be seen graphically when the threshold is slightly lowered from 1 to be treated positive among the predicted probabilities.</a:t>
            </a:r>
          </a:p>
          <a:p>
            <a:pPr algn="l">
              <a:buFont typeface="Arial" panose="020B0604020202020204" pitchFamily="34" charset="0"/>
              <a:buChar char="•"/>
            </a:pPr>
            <a:r>
              <a:rPr lang="en-US" altLang="ko-KR" b="0" i="0" dirty="0">
                <a:solidFill>
                  <a:srgbClr val="000000"/>
                </a:solidFill>
                <a:effectLst/>
              </a:rPr>
              <a:t>If the area is up to 1 and the area under the curve is close to 1, the precision is high. On the other hand, around 0.5 is not well predicted.</a:t>
            </a:r>
          </a:p>
          <a:p>
            <a:pPr algn="l">
              <a:buFont typeface="Arial" panose="020B0604020202020204" pitchFamily="34" charset="0"/>
              <a:buChar char="•"/>
            </a:pPr>
            <a:r>
              <a:rPr lang="en-US" altLang="ko-KR" b="1" i="0" dirty="0">
                <a:solidFill>
                  <a:srgbClr val="000000"/>
                </a:solidFill>
                <a:effectLst/>
              </a:rPr>
              <a:t>The use of ROC is recommended when dealing with unbalanced data.</a:t>
            </a:r>
            <a:endParaRPr lang="en-US" altLang="ko-KR" b="0" i="0" dirty="0">
              <a:solidFill>
                <a:srgbClr val="000000"/>
              </a:solidFill>
              <a:effectLst/>
            </a:endParaRP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732112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6" name="내용 개체 틀 5">
            <a:extLst>
              <a:ext uri="{FF2B5EF4-FFF2-40B4-BE49-F238E27FC236}">
                <a16:creationId xmlns:a16="http://schemas.microsoft.com/office/drawing/2014/main" id="{E3AF0A9C-34B6-4975-9239-55FCBEBA08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0882" y="1927911"/>
            <a:ext cx="5310235" cy="3958969"/>
          </a:xfrm>
        </p:spPr>
      </p:pic>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6D583F-AAF6-49F6-9767-31A85114A2B6}"/>
                  </a:ext>
                </a:extLst>
              </p:cNvPr>
              <p:cNvSpPr txBox="1"/>
              <p:nvPr/>
            </p:nvSpPr>
            <p:spPr>
              <a:xfrm>
                <a:off x="838200" y="2905843"/>
                <a:ext cx="1697964" cy="523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𝐹𝑃𝑅</m:t>
                      </m:r>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𝐹𝑃</m:t>
                          </m:r>
                        </m:num>
                        <m:den>
                          <m:r>
                            <a:rPr lang="en-US" altLang="ko-KR" b="0" i="1" smtClean="0">
                              <a:latin typeface="Cambria Math" panose="02040503050406030204" pitchFamily="18" charset="0"/>
                            </a:rPr>
                            <m:t>𝐹𝑃</m:t>
                          </m:r>
                          <m:r>
                            <a:rPr lang="en-US" altLang="ko-KR" b="0" i="1" smtClean="0">
                              <a:latin typeface="Cambria Math" panose="02040503050406030204" pitchFamily="18" charset="0"/>
                            </a:rPr>
                            <m:t>+</m:t>
                          </m:r>
                          <m:r>
                            <a:rPr lang="en-US" altLang="ko-KR" b="0" i="1" smtClean="0">
                              <a:latin typeface="Cambria Math" panose="02040503050406030204" pitchFamily="18" charset="0"/>
                            </a:rPr>
                            <m:t>𝑇𝑁</m:t>
                          </m:r>
                        </m:den>
                      </m:f>
                    </m:oMath>
                  </m:oMathPara>
                </a14:m>
                <a:endParaRPr lang="ko-KR" altLang="en-US" dirty="0"/>
              </a:p>
            </p:txBody>
          </p:sp>
        </mc:Choice>
        <mc:Fallback xmlns="">
          <p:sp>
            <p:nvSpPr>
              <p:cNvPr id="9" name="TextBox 8">
                <a:extLst>
                  <a:ext uri="{FF2B5EF4-FFF2-40B4-BE49-F238E27FC236}">
                    <a16:creationId xmlns:a16="http://schemas.microsoft.com/office/drawing/2014/main" id="{866D583F-AAF6-49F6-9767-31A85114A2B6}"/>
                  </a:ext>
                </a:extLst>
              </p:cNvPr>
              <p:cNvSpPr txBox="1">
                <a:spLocks noRot="1" noChangeAspect="1" noMove="1" noResize="1" noEditPoints="1" noAdjustHandles="1" noChangeArrowheads="1" noChangeShapeType="1" noTextEdit="1"/>
              </p:cNvSpPr>
              <p:nvPr/>
            </p:nvSpPr>
            <p:spPr>
              <a:xfrm>
                <a:off x="838200" y="2905843"/>
                <a:ext cx="1697964" cy="523157"/>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5634D79-E003-462A-AEA4-1897985FBAD5}"/>
                  </a:ext>
                </a:extLst>
              </p:cNvPr>
              <p:cNvSpPr txBox="1"/>
              <p:nvPr/>
            </p:nvSpPr>
            <p:spPr>
              <a:xfrm>
                <a:off x="839195" y="4047903"/>
                <a:ext cx="1694759" cy="523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𝑇𝑃𝑅</m:t>
                      </m:r>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𝑇𝑃</m:t>
                          </m:r>
                        </m:num>
                        <m:den>
                          <m:r>
                            <a:rPr lang="en-US" altLang="ko-KR" b="0" i="1" smtClean="0">
                              <a:latin typeface="Cambria Math" panose="02040503050406030204" pitchFamily="18" charset="0"/>
                            </a:rPr>
                            <m:t>𝑇𝑃</m:t>
                          </m:r>
                          <m:r>
                            <a:rPr lang="en-US" altLang="ko-KR" b="0" i="1" smtClean="0">
                              <a:latin typeface="Cambria Math" panose="02040503050406030204" pitchFamily="18" charset="0"/>
                            </a:rPr>
                            <m:t>+</m:t>
                          </m:r>
                          <m:r>
                            <a:rPr lang="en-US" altLang="ko-KR" b="0" i="1" smtClean="0">
                              <a:latin typeface="Cambria Math" panose="02040503050406030204" pitchFamily="18" charset="0"/>
                            </a:rPr>
                            <m:t>𝐹𝑁</m:t>
                          </m:r>
                        </m:den>
                      </m:f>
                    </m:oMath>
                  </m:oMathPara>
                </a14:m>
                <a:endParaRPr lang="ko-KR" altLang="en-US" dirty="0"/>
              </a:p>
            </p:txBody>
          </p:sp>
        </mc:Choice>
        <mc:Fallback xmlns="">
          <p:sp>
            <p:nvSpPr>
              <p:cNvPr id="10" name="TextBox 9">
                <a:extLst>
                  <a:ext uri="{FF2B5EF4-FFF2-40B4-BE49-F238E27FC236}">
                    <a16:creationId xmlns:a16="http://schemas.microsoft.com/office/drawing/2014/main" id="{F5634D79-E003-462A-AEA4-1897985FBAD5}"/>
                  </a:ext>
                </a:extLst>
              </p:cNvPr>
              <p:cNvSpPr txBox="1">
                <a:spLocks noRot="1" noChangeAspect="1" noMove="1" noResize="1" noEditPoints="1" noAdjustHandles="1" noChangeArrowheads="1" noChangeShapeType="1" noTextEdit="1"/>
              </p:cNvSpPr>
              <p:nvPr/>
            </p:nvSpPr>
            <p:spPr>
              <a:xfrm>
                <a:off x="839195" y="4047903"/>
                <a:ext cx="1694759" cy="523157"/>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835867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4D1673-F84F-45BC-8EF4-A52FA29B778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11" name="내용 개체 틀 10">
            <a:extLst>
              <a:ext uri="{FF2B5EF4-FFF2-40B4-BE49-F238E27FC236}">
                <a16:creationId xmlns:a16="http://schemas.microsoft.com/office/drawing/2014/main" id="{DAF3CDEF-6BD9-4993-809E-2D91327883A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46124" y="1825625"/>
            <a:ext cx="4565751" cy="4351338"/>
          </a:xfrm>
        </p:spPr>
      </p:pic>
      <p:pic>
        <p:nvPicPr>
          <p:cNvPr id="5" name="그림 4">
            <a:extLst>
              <a:ext uri="{FF2B5EF4-FFF2-40B4-BE49-F238E27FC236}">
                <a16:creationId xmlns:a16="http://schemas.microsoft.com/office/drawing/2014/main" id="{98B9BF24-026E-44CD-A83E-6101DD448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0F55794-A8B2-494D-A7D8-23F2D7276140}"/>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209123" y="1825625"/>
            <a:ext cx="5107753" cy="4158080"/>
          </a:xfrm>
        </p:spPr>
      </p:pic>
    </p:spTree>
    <p:extLst>
      <p:ext uri="{BB962C8B-B14F-4D97-AF65-F5344CB8AC3E}">
        <p14:creationId xmlns:p14="http://schemas.microsoft.com/office/powerpoint/2010/main" val="3851199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55E0A-424F-4FEA-B3AC-38DD29463C7A}"/>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9" name="내용 개체 틀 8">
            <a:extLst>
              <a:ext uri="{FF2B5EF4-FFF2-40B4-BE49-F238E27FC236}">
                <a16:creationId xmlns:a16="http://schemas.microsoft.com/office/drawing/2014/main" id="{07E50B3E-1FEB-43B1-8600-05C8F73FA45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172200" y="5338768"/>
            <a:ext cx="3446858" cy="420348"/>
          </a:xfrm>
        </p:spPr>
      </p:pic>
      <p:pic>
        <p:nvPicPr>
          <p:cNvPr id="6" name="내용 개체 틀 5">
            <a:extLst>
              <a:ext uri="{FF2B5EF4-FFF2-40B4-BE49-F238E27FC236}">
                <a16:creationId xmlns:a16="http://schemas.microsoft.com/office/drawing/2014/main" id="{4E4EEC15-5E50-4218-8A68-1791D16594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34681"/>
            <a:ext cx="5181600" cy="2533226"/>
          </a:xfrm>
        </p:spPr>
      </p:pic>
      <p:pic>
        <p:nvPicPr>
          <p:cNvPr id="7" name="그림 6">
            <a:extLst>
              <a:ext uri="{FF2B5EF4-FFF2-40B4-BE49-F238E27FC236}">
                <a16:creationId xmlns:a16="http://schemas.microsoft.com/office/drawing/2014/main" id="{B6642E9A-3CC3-4FCB-B4CE-9C8702B6A8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62177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endParaRPr lang="ko-KR" altLang="en-US" dirty="0"/>
          </a:p>
        </p:txBody>
      </p:sp>
      <p:pic>
        <p:nvPicPr>
          <p:cNvPr id="9" name="내용 개체 틀 8">
            <a:extLst>
              <a:ext uri="{FF2B5EF4-FFF2-40B4-BE49-F238E27FC236}">
                <a16:creationId xmlns:a16="http://schemas.microsoft.com/office/drawing/2014/main" id="{E472F2CA-99F8-4A7E-B8BF-6BAF06FD57C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51222" y="2445738"/>
            <a:ext cx="5155555" cy="3111111"/>
          </a:xfrm>
        </p:spPr>
      </p:pic>
      <p:pic>
        <p:nvPicPr>
          <p:cNvPr id="6" name="내용 개체 틀 5">
            <a:extLst>
              <a:ext uri="{FF2B5EF4-FFF2-40B4-BE49-F238E27FC236}">
                <a16:creationId xmlns:a16="http://schemas.microsoft.com/office/drawing/2014/main" id="{C064E08A-7A66-46BC-868E-554BE60DA8E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22957" y="1825625"/>
            <a:ext cx="4880086" cy="4158080"/>
          </a:xfrm>
        </p:spPr>
      </p:pic>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98933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br>
              <a:rPr lang="en-US" altLang="ko-KR" dirty="0"/>
            </a:br>
            <a:r>
              <a:rPr lang="en-US" altLang="ko-KR" sz="2400" dirty="0"/>
              <a:t>mean square error</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714E901-57C0-4C9A-A6E3-1391AD2D693F}"/>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The mean square error is averaged after calculating both the square of error between the data to be evaluated and the predicted value.</a:t>
            </a:r>
          </a:p>
          <a:p>
            <a:pPr algn="l">
              <a:buFont typeface="Arial" panose="020B0604020202020204" pitchFamily="34" charset="0"/>
              <a:buChar char="•"/>
            </a:pPr>
            <a:r>
              <a:rPr lang="en-US" altLang="ko-KR" b="0" i="0" dirty="0">
                <a:solidFill>
                  <a:srgbClr val="000000"/>
                </a:solidFill>
                <a:effectLst/>
              </a:rPr>
              <a:t>The smaller the mean square error, the more correct the prediction is.</a:t>
            </a:r>
          </a:p>
          <a:p>
            <a:endParaRPr lang="ko-KR" altLang="en-US" dirty="0"/>
          </a:p>
        </p:txBody>
      </p:sp>
      <p:pic>
        <p:nvPicPr>
          <p:cNvPr id="11" name="내용 개체 틀 10">
            <a:extLst>
              <a:ext uri="{FF2B5EF4-FFF2-40B4-BE49-F238E27FC236}">
                <a16:creationId xmlns:a16="http://schemas.microsoft.com/office/drawing/2014/main" id="{9B57E656-0E86-4FCB-8B65-141B979F46A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825625"/>
            <a:ext cx="5181600" cy="2335097"/>
          </a:xfrm>
        </p:spPr>
      </p:pic>
      <p:pic>
        <p:nvPicPr>
          <p:cNvPr id="13" name="그림 12">
            <a:extLst>
              <a:ext uri="{FF2B5EF4-FFF2-40B4-BE49-F238E27FC236}">
                <a16:creationId xmlns:a16="http://schemas.microsoft.com/office/drawing/2014/main" id="{55C15A00-D7BF-4DE1-8A7C-8C6886C587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0" y="4160722"/>
            <a:ext cx="2089852" cy="395805"/>
          </a:xfrm>
          <a:prstGeom prst="rect">
            <a:avLst/>
          </a:prstGeom>
        </p:spPr>
      </p:pic>
    </p:spTree>
    <p:extLst>
      <p:ext uri="{BB962C8B-B14F-4D97-AF65-F5344CB8AC3E}">
        <p14:creationId xmlns:p14="http://schemas.microsoft.com/office/powerpoint/2010/main" val="666485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br>
              <a:rPr lang="en-US" altLang="ko-KR" dirty="0"/>
            </a:br>
            <a:r>
              <a:rPr lang="en-US" altLang="ko-KR" sz="2400" dirty="0"/>
              <a:t>coefficient of determination</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714E901-57C0-4C9A-A6E3-1391AD2D693F}"/>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It usually appears as a value between 0.0 and 1.0.</a:t>
            </a:r>
          </a:p>
          <a:p>
            <a:pPr algn="l">
              <a:buFont typeface="Arial" panose="020B0604020202020204" pitchFamily="34" charset="0"/>
              <a:buChar char="•"/>
            </a:pPr>
            <a:r>
              <a:rPr lang="en-US" altLang="ko-KR" b="0" i="0" dirty="0">
                <a:solidFill>
                  <a:srgbClr val="000000"/>
                </a:solidFill>
                <a:effectLst/>
              </a:rPr>
              <a:t>If the error between the predicted value and the actual data is too large, it may be expressed as a negative value.</a:t>
            </a:r>
          </a:p>
          <a:p>
            <a:pPr algn="l">
              <a:buFont typeface="Arial" panose="020B0604020202020204" pitchFamily="34" charset="0"/>
              <a:buChar char="•"/>
            </a:pPr>
            <a:r>
              <a:rPr lang="en-US" altLang="ko-KR" b="0" i="0" dirty="0">
                <a:solidFill>
                  <a:srgbClr val="000000"/>
                </a:solidFill>
                <a:effectLst/>
              </a:rPr>
              <a:t>The closer to 1.0, the more accurately the model represents the data point.</a:t>
            </a:r>
          </a:p>
        </p:txBody>
      </p:sp>
      <p:pic>
        <p:nvPicPr>
          <p:cNvPr id="8" name="내용 개체 틀 7">
            <a:extLst>
              <a:ext uri="{FF2B5EF4-FFF2-40B4-BE49-F238E27FC236}">
                <a16:creationId xmlns:a16="http://schemas.microsoft.com/office/drawing/2014/main" id="{9BAA3178-4050-48AA-B824-ED709198F94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600" cy="2768095"/>
          </a:xfrm>
        </p:spPr>
      </p:pic>
      <p:pic>
        <p:nvPicPr>
          <p:cNvPr id="10" name="그림 9">
            <a:extLst>
              <a:ext uri="{FF2B5EF4-FFF2-40B4-BE49-F238E27FC236}">
                <a16:creationId xmlns:a16="http://schemas.microsoft.com/office/drawing/2014/main" id="{4EBE54A6-AD3D-4888-A8E3-EBA2E47656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2" y="4593720"/>
            <a:ext cx="2119466" cy="389290"/>
          </a:xfrm>
          <a:prstGeom prst="rect">
            <a:avLst/>
          </a:prstGeom>
        </p:spPr>
      </p:pic>
    </p:spTree>
    <p:extLst>
      <p:ext uri="{BB962C8B-B14F-4D97-AF65-F5344CB8AC3E}">
        <p14:creationId xmlns:p14="http://schemas.microsoft.com/office/powerpoint/2010/main" val="3649973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Compared to other algorithms</a:t>
            </a:r>
            <a:br>
              <a:rPr lang="en-US" altLang="ko-KR" dirty="0"/>
            </a:br>
            <a:r>
              <a:rPr lang="en-US" altLang="ko-KR" sz="2400" dirty="0"/>
              <a:t>difference between mean square error and coefficient of determination</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If the variance of the dependent variable is large, the mean square error is also large.</a:t>
            </a:r>
          </a:p>
          <a:p>
            <a:pPr algn="l">
              <a:buFont typeface="Arial" panose="020B0604020202020204" pitchFamily="34" charset="0"/>
              <a:buChar char="•"/>
            </a:pPr>
            <a:r>
              <a:rPr lang="en-US" altLang="ko-KR" b="0" i="0" dirty="0">
                <a:solidFill>
                  <a:srgbClr val="000000"/>
                </a:solidFill>
                <a:effectLst/>
              </a:rPr>
              <a:t>The coefficient of determination may be expressed as a value between 0.0 and 1.0 without depending on the variance of the dependent variable.</a:t>
            </a: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128527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Compared to other algorithms</a:t>
            </a:r>
            <a:br>
              <a:rPr lang="en-US" altLang="ko-KR" dirty="0"/>
            </a:br>
            <a:r>
              <a:rPr lang="en-US" altLang="ko-KR" sz="2400" dirty="0"/>
              <a:t>difference with SVC and SVR</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latin typeface="Helvetica Neue"/>
              </a:rPr>
              <a:t>SVC shall contain as few data points as possible in margin.</a:t>
            </a:r>
          </a:p>
          <a:p>
            <a:pPr algn="l">
              <a:buFont typeface="Arial" panose="020B0604020202020204" pitchFamily="34" charset="0"/>
              <a:buChar char="•"/>
            </a:pPr>
            <a:r>
              <a:rPr lang="en-US" altLang="ko-KR" b="0" i="0" dirty="0">
                <a:solidFill>
                  <a:srgbClr val="000000"/>
                </a:solidFill>
                <a:effectLst/>
                <a:latin typeface="Helvetica Neue"/>
              </a:rPr>
              <a:t>SVR should contain as many data points as possible in margin.</a:t>
            </a: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5766DABB-C54D-4ED7-8055-95F76FA3C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421" y="3162539"/>
            <a:ext cx="5097379" cy="2618998"/>
          </a:xfrm>
          <a:prstGeom prst="rect">
            <a:avLst/>
          </a:prstGeom>
        </p:spPr>
      </p:pic>
      <p:pic>
        <p:nvPicPr>
          <p:cNvPr id="8" name="그림 7">
            <a:extLst>
              <a:ext uri="{FF2B5EF4-FFF2-40B4-BE49-F238E27FC236}">
                <a16:creationId xmlns:a16="http://schemas.microsoft.com/office/drawing/2014/main" id="{011274FB-6287-468B-9896-18DA48061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025" y="2916482"/>
            <a:ext cx="5155555" cy="3111111"/>
          </a:xfrm>
          <a:prstGeom prst="rect">
            <a:avLst/>
          </a:prstGeom>
        </p:spPr>
      </p:pic>
    </p:spTree>
    <p:extLst>
      <p:ext uri="{BB962C8B-B14F-4D97-AF65-F5344CB8AC3E}">
        <p14:creationId xmlns:p14="http://schemas.microsoft.com/office/powerpoint/2010/main" val="2831598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E6CF22-3FB7-4971-AA7C-22722D79880B}"/>
              </a:ext>
            </a:extLst>
          </p:cNvPr>
          <p:cNvSpPr>
            <a:spLocks noGrp="1"/>
          </p:cNvSpPr>
          <p:nvPr>
            <p:ph type="title"/>
          </p:nvPr>
        </p:nvSpPr>
        <p:spPr/>
        <p:txBody>
          <a:bodyPr/>
          <a:lstStyle/>
          <a:p>
            <a:r>
              <a:rPr lang="en-US" altLang="ko-KR" dirty="0"/>
              <a:t>Setting hyper parameter</a:t>
            </a:r>
            <a:endParaRPr lang="ko-KR" altLang="en-US" dirty="0"/>
          </a:p>
        </p:txBody>
      </p:sp>
      <p:sp>
        <p:nvSpPr>
          <p:cNvPr id="3" name="내용 개체 틀 2">
            <a:extLst>
              <a:ext uri="{FF2B5EF4-FFF2-40B4-BE49-F238E27FC236}">
                <a16:creationId xmlns:a16="http://schemas.microsoft.com/office/drawing/2014/main" id="{BD4D93FE-EA69-463E-B9E2-585B2CBCA74D}"/>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learning parameter is updated with the machine learning algorithm, but the hyperparameter must be set by the user before learning.</a:t>
            </a:r>
          </a:p>
          <a:p>
            <a:pPr algn="l">
              <a:buFont typeface="Arial" panose="020B0604020202020204" pitchFamily="34" charset="0"/>
              <a:buChar char="•"/>
            </a:pPr>
            <a:r>
              <a:rPr lang="en-US" altLang="ko-KR" b="0" i="0" dirty="0">
                <a:solidFill>
                  <a:srgbClr val="000000"/>
                </a:solidFill>
                <a:effectLst/>
              </a:rPr>
              <a:t>Failure to set appropriate hyperparameters results in poor model performance.</a:t>
            </a:r>
          </a:p>
          <a:p>
            <a:endParaRPr lang="ko-KR" altLang="en-US" dirty="0"/>
          </a:p>
        </p:txBody>
      </p:sp>
      <p:pic>
        <p:nvPicPr>
          <p:cNvPr id="4" name="그림 3">
            <a:extLst>
              <a:ext uri="{FF2B5EF4-FFF2-40B4-BE49-F238E27FC236}">
                <a16:creationId xmlns:a16="http://schemas.microsoft.com/office/drawing/2014/main" id="{40505251-CE4E-482F-89DA-13910B68F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61633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838201" y="359664"/>
            <a:ext cx="10515600" cy="1325563"/>
          </a:xfrm>
        </p:spPr>
        <p:txBody>
          <a:bodyPr/>
          <a:lstStyle/>
          <a:p>
            <a:r>
              <a:rPr lang="en-US" altLang="ko-KR" dirty="0"/>
              <a:t>Setting hyper parameter</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5850FFEA-6DDC-423F-989C-0550A26D695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1853811"/>
            <a:ext cx="5181600" cy="2562418"/>
          </a:xfrm>
        </p:spPr>
      </p:pic>
      <p:pic>
        <p:nvPicPr>
          <p:cNvPr id="11" name="내용 개체 틀 10">
            <a:extLst>
              <a:ext uri="{FF2B5EF4-FFF2-40B4-BE49-F238E27FC236}">
                <a16:creationId xmlns:a16="http://schemas.microsoft.com/office/drawing/2014/main" id="{6865ECA5-2CDB-4D9A-9A4A-9BAA83E9BF3C}"/>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172200" y="1853811"/>
            <a:ext cx="5181600" cy="2766357"/>
          </a:xfrm>
        </p:spPr>
      </p:pic>
      <p:pic>
        <p:nvPicPr>
          <p:cNvPr id="15" name="그림 14">
            <a:extLst>
              <a:ext uri="{FF2B5EF4-FFF2-40B4-BE49-F238E27FC236}">
                <a16:creationId xmlns:a16="http://schemas.microsoft.com/office/drawing/2014/main" id="{FA80BEFF-B227-4FB4-9E90-79D4A66848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200" y="4620168"/>
            <a:ext cx="1991219" cy="1070111"/>
          </a:xfrm>
          <a:prstGeom prst="rect">
            <a:avLst/>
          </a:prstGeom>
        </p:spPr>
      </p:pic>
      <p:pic>
        <p:nvPicPr>
          <p:cNvPr id="17" name="그림 16">
            <a:extLst>
              <a:ext uri="{FF2B5EF4-FFF2-40B4-BE49-F238E27FC236}">
                <a16:creationId xmlns:a16="http://schemas.microsoft.com/office/drawing/2014/main" id="{5AFD7BC4-9C86-4666-A65B-3A8010FF4A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4437812"/>
            <a:ext cx="2374288" cy="717411"/>
          </a:xfrm>
          <a:prstGeom prst="rect">
            <a:avLst/>
          </a:prstGeom>
        </p:spPr>
      </p:pic>
    </p:spTree>
    <p:extLst>
      <p:ext uri="{BB962C8B-B14F-4D97-AF65-F5344CB8AC3E}">
        <p14:creationId xmlns:p14="http://schemas.microsoft.com/office/powerpoint/2010/main" val="2601663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3BCF95-FB5D-4A29-8111-D465777E24AD}"/>
              </a:ext>
            </a:extLst>
          </p:cNvPr>
          <p:cNvSpPr>
            <a:spLocks noGrp="1"/>
          </p:cNvSpPr>
          <p:nvPr>
            <p:ph type="title"/>
          </p:nvPr>
        </p:nvSpPr>
        <p:spPr/>
        <p:txBody>
          <a:bodyPr/>
          <a:lstStyle/>
          <a:p>
            <a:r>
              <a:rPr lang="en-US" altLang="ko-KR" dirty="0"/>
              <a:t>Over-fitting</a:t>
            </a:r>
            <a:endParaRPr lang="ko-KR" altLang="en-US" dirty="0"/>
          </a:p>
        </p:txBody>
      </p:sp>
      <p:sp>
        <p:nvSpPr>
          <p:cNvPr id="3" name="내용 개체 틀 2">
            <a:extLst>
              <a:ext uri="{FF2B5EF4-FFF2-40B4-BE49-F238E27FC236}">
                <a16:creationId xmlns:a16="http://schemas.microsoft.com/office/drawing/2014/main" id="{6EF747E1-A9DA-4096-A67D-82533B557880}"/>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phenomenon in which good prediction results are shown as learning data, but bad prediction results are shown as test data that are not used for learning is called overfitting.</a:t>
            </a:r>
          </a:p>
          <a:p>
            <a:pPr algn="l">
              <a:buFont typeface="Arial" panose="020B0604020202020204" pitchFamily="34" charset="0"/>
              <a:buChar char="•"/>
            </a:pPr>
            <a:r>
              <a:rPr lang="en-US" altLang="ko-KR" b="0" i="0" dirty="0">
                <a:solidFill>
                  <a:srgbClr val="000000"/>
                </a:solidFill>
                <a:effectLst/>
              </a:rPr>
              <a:t>The model performance when using unknown data is called </a:t>
            </a:r>
            <a:r>
              <a:rPr lang="en-US" altLang="ko-KR" b="1" i="0" dirty="0">
                <a:solidFill>
                  <a:srgbClr val="000000"/>
                </a:solidFill>
                <a:effectLst/>
              </a:rPr>
              <a:t>generalization performance</a:t>
            </a:r>
            <a:r>
              <a:rPr lang="en-US" altLang="ko-KR" b="0" i="0" dirty="0">
                <a:solidFill>
                  <a:srgbClr val="000000"/>
                </a:solidFill>
                <a:effectLst/>
              </a:rPr>
              <a:t>.</a:t>
            </a:r>
          </a:p>
          <a:p>
            <a:pPr algn="l">
              <a:buFont typeface="Arial" panose="020B0604020202020204" pitchFamily="34" charset="0"/>
              <a:buChar char="•"/>
            </a:pPr>
            <a:r>
              <a:rPr lang="en-US" altLang="ko-KR" b="0" i="0" dirty="0">
                <a:solidFill>
                  <a:srgbClr val="000000"/>
                </a:solidFill>
                <a:effectLst/>
              </a:rPr>
              <a:t>Even if the mean square error is small when using the learning data, the </a:t>
            </a:r>
            <a:r>
              <a:rPr lang="en-US" altLang="ko-KR" b="1" i="0" dirty="0">
                <a:solidFill>
                  <a:srgbClr val="000000"/>
                </a:solidFill>
                <a:effectLst/>
              </a:rPr>
              <a:t>generalization performance</a:t>
            </a:r>
            <a:r>
              <a:rPr lang="en-US" altLang="ko-KR" b="0" i="0" dirty="0">
                <a:solidFill>
                  <a:srgbClr val="000000"/>
                </a:solidFill>
                <a:effectLst/>
              </a:rPr>
              <a:t> is low if it is an overfitting model.</a:t>
            </a:r>
          </a:p>
          <a:p>
            <a:endParaRPr lang="ko-KR" altLang="en-US" dirty="0"/>
          </a:p>
        </p:txBody>
      </p:sp>
      <p:pic>
        <p:nvPicPr>
          <p:cNvPr id="4" name="그림 3">
            <a:extLst>
              <a:ext uri="{FF2B5EF4-FFF2-40B4-BE49-F238E27FC236}">
                <a16:creationId xmlns:a16="http://schemas.microsoft.com/office/drawing/2014/main" id="{EDCC7DE6-B23E-4F29-8AB1-68A833E05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5625258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3BCF95-FB5D-4A29-8111-D465777E24AD}"/>
              </a:ext>
            </a:extLst>
          </p:cNvPr>
          <p:cNvSpPr>
            <a:spLocks noGrp="1"/>
          </p:cNvSpPr>
          <p:nvPr>
            <p:ph type="title"/>
          </p:nvPr>
        </p:nvSpPr>
        <p:spPr/>
        <p:txBody>
          <a:bodyPr/>
          <a:lstStyle/>
          <a:p>
            <a:r>
              <a:rPr lang="en-US" altLang="ko-KR" dirty="0"/>
              <a:t>Over-fitting</a:t>
            </a:r>
            <a:endParaRPr lang="ko-KR" altLang="en-US" dirty="0"/>
          </a:p>
        </p:txBody>
      </p:sp>
      <p:pic>
        <p:nvPicPr>
          <p:cNvPr id="6" name="내용 개체 틀 5">
            <a:extLst>
              <a:ext uri="{FF2B5EF4-FFF2-40B4-BE49-F238E27FC236}">
                <a16:creationId xmlns:a16="http://schemas.microsoft.com/office/drawing/2014/main" id="{8E9C5FE5-42CD-4595-A2CD-26F3D83DB3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9589" y="1690688"/>
            <a:ext cx="6792822" cy="3946498"/>
          </a:xfrm>
        </p:spPr>
      </p:pic>
      <p:pic>
        <p:nvPicPr>
          <p:cNvPr id="4" name="그림 3">
            <a:extLst>
              <a:ext uri="{FF2B5EF4-FFF2-40B4-BE49-F238E27FC236}">
                <a16:creationId xmlns:a16="http://schemas.microsoft.com/office/drawing/2014/main" id="{EDCC7DE6-B23E-4F29-8AB1-68A833E05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그림 7">
            <a:extLst>
              <a:ext uri="{FF2B5EF4-FFF2-40B4-BE49-F238E27FC236}">
                <a16:creationId xmlns:a16="http://schemas.microsoft.com/office/drawing/2014/main" id="{9E5CBA7B-4E61-4828-BCB1-6FB7D65222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9589" y="5637186"/>
            <a:ext cx="1854054" cy="566516"/>
          </a:xfrm>
          <a:prstGeom prst="rect">
            <a:avLst/>
          </a:prstGeom>
        </p:spPr>
      </p:pic>
    </p:spTree>
    <p:extLst>
      <p:ext uri="{BB962C8B-B14F-4D97-AF65-F5344CB8AC3E}">
        <p14:creationId xmlns:p14="http://schemas.microsoft.com/office/powerpoint/2010/main" val="682271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1. split training data and test data</a:t>
            </a:r>
            <a:endParaRPr lang="ko-KR" altLang="en-US" dirty="0"/>
          </a:p>
        </p:txBody>
      </p:sp>
      <p:pic>
        <p:nvPicPr>
          <p:cNvPr id="6" name="내용 개체 틀 5">
            <a:extLst>
              <a:ext uri="{FF2B5EF4-FFF2-40B4-BE49-F238E27FC236}">
                <a16:creationId xmlns:a16="http://schemas.microsoft.com/office/drawing/2014/main" id="{C09187EC-79A8-4F5F-A96B-03C17B7449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7430" y="1826826"/>
            <a:ext cx="8237139" cy="4161139"/>
          </a:xfrm>
        </p:spPr>
      </p:pic>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56983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Models that use learning data and test data to learn with SVR</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8C469813-13E7-4656-A35D-3AE7EC4442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58315" y="1825625"/>
            <a:ext cx="4875370" cy="4351338"/>
          </a:xfrm>
        </p:spPr>
      </p:pic>
    </p:spTree>
    <p:extLst>
      <p:ext uri="{BB962C8B-B14F-4D97-AF65-F5344CB8AC3E}">
        <p14:creationId xmlns:p14="http://schemas.microsoft.com/office/powerpoint/2010/main" val="3099701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Models that use learning data and test data to learn with RFC</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0C7D5E12-1C0B-4331-87E2-7DCA3C65A2C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82262" y="1825625"/>
            <a:ext cx="5427475" cy="4351338"/>
          </a:xfrm>
        </p:spPr>
      </p:pic>
    </p:spTree>
    <p:extLst>
      <p:ext uri="{BB962C8B-B14F-4D97-AF65-F5344CB8AC3E}">
        <p14:creationId xmlns:p14="http://schemas.microsoft.com/office/powerpoint/2010/main" val="4144988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Cross Validation</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326A95E8-75BE-48FA-B923-4B7E514E605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38047" y="1825625"/>
            <a:ext cx="9715906" cy="4351338"/>
          </a:xfrm>
        </p:spPr>
      </p:pic>
    </p:spTree>
    <p:extLst>
      <p:ext uri="{BB962C8B-B14F-4D97-AF65-F5344CB8AC3E}">
        <p14:creationId xmlns:p14="http://schemas.microsoft.com/office/powerpoint/2010/main" val="1556334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Cross Validation</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C07DFF65-445E-439B-AC66-6666346DBC0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42363" y="1677514"/>
            <a:ext cx="8707273" cy="4251269"/>
          </a:xfrm>
        </p:spPr>
      </p:pic>
      <p:pic>
        <p:nvPicPr>
          <p:cNvPr id="10" name="그림 9">
            <a:extLst>
              <a:ext uri="{FF2B5EF4-FFF2-40B4-BE49-F238E27FC236}">
                <a16:creationId xmlns:a16="http://schemas.microsoft.com/office/drawing/2014/main" id="{0D37A92C-EB8C-43EF-8402-563BE402F3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2363" y="5928813"/>
            <a:ext cx="5489279" cy="564062"/>
          </a:xfrm>
          <a:prstGeom prst="rect">
            <a:avLst/>
          </a:prstGeom>
        </p:spPr>
      </p:pic>
    </p:spTree>
    <p:extLst>
      <p:ext uri="{BB962C8B-B14F-4D97-AF65-F5344CB8AC3E}">
        <p14:creationId xmlns:p14="http://schemas.microsoft.com/office/powerpoint/2010/main" val="336077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Searching hyper parameter</a:t>
            </a:r>
            <a:br>
              <a:rPr lang="en-US" altLang="ko-KR" dirty="0"/>
            </a:br>
            <a:r>
              <a:rPr lang="en-US" altLang="ko-KR" sz="2400" dirty="0"/>
              <a:t>greed search</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E98D5918-3508-4CC6-98E8-B44B1E59BBC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00287" y="1867396"/>
            <a:ext cx="3591426" cy="4267796"/>
          </a:xfrm>
        </p:spPr>
      </p:pic>
    </p:spTree>
    <p:extLst>
      <p:ext uri="{BB962C8B-B14F-4D97-AF65-F5344CB8AC3E}">
        <p14:creationId xmlns:p14="http://schemas.microsoft.com/office/powerpoint/2010/main" val="4121236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Searching hyper parameter</a:t>
            </a:r>
            <a:br>
              <a:rPr lang="en-US" altLang="ko-KR" dirty="0"/>
            </a:br>
            <a:r>
              <a:rPr lang="en-US" altLang="ko-KR" sz="2400" dirty="0"/>
              <a:t>greed search</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9661F7C2-53C1-4448-9960-9DF4112E09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9399" y="1797329"/>
            <a:ext cx="7013201" cy="4114411"/>
          </a:xfrm>
        </p:spPr>
      </p:pic>
      <p:pic>
        <p:nvPicPr>
          <p:cNvPr id="10" name="그림 9">
            <a:extLst>
              <a:ext uri="{FF2B5EF4-FFF2-40B4-BE49-F238E27FC236}">
                <a16:creationId xmlns:a16="http://schemas.microsoft.com/office/drawing/2014/main" id="{C76DF612-6E6C-4361-96BC-83CE9B02FF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9398" y="5918118"/>
            <a:ext cx="3850873" cy="574757"/>
          </a:xfrm>
          <a:prstGeom prst="rect">
            <a:avLst/>
          </a:prstGeom>
        </p:spPr>
      </p:pic>
    </p:spTree>
    <p:extLst>
      <p:ext uri="{BB962C8B-B14F-4D97-AF65-F5344CB8AC3E}">
        <p14:creationId xmlns:p14="http://schemas.microsoft.com/office/powerpoint/2010/main" val="604209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Data Preprocessing</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97503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133552-89C6-4110-A1BA-574671B2494A}"/>
              </a:ext>
            </a:extLst>
          </p:cNvPr>
          <p:cNvSpPr>
            <a:spLocks noGrp="1"/>
          </p:cNvSpPr>
          <p:nvPr>
            <p:ph type="title"/>
          </p:nvPr>
        </p:nvSpPr>
        <p:spPr/>
        <p:txBody>
          <a:bodyPr>
            <a:normAutofit/>
          </a:bodyPr>
          <a:lstStyle/>
          <a:p>
            <a:r>
              <a:rPr lang="en-US" altLang="ko-KR" dirty="0"/>
              <a:t>TF-IDF</a:t>
            </a:r>
            <a:br>
              <a:rPr lang="en-US" altLang="ko-KR" dirty="0"/>
            </a:br>
            <a:r>
              <a:rPr lang="en-US" altLang="ko-KR" sz="2400" dirty="0"/>
              <a:t>Term Frequency – Inverse Document Frequency</a:t>
            </a:r>
            <a:endParaRPr lang="ko-KR" altLang="en-US" dirty="0"/>
          </a:p>
        </p:txBody>
      </p:sp>
      <p:sp>
        <p:nvSpPr>
          <p:cNvPr id="3" name="내용 개체 틀 2">
            <a:extLst>
              <a:ext uri="{FF2B5EF4-FFF2-40B4-BE49-F238E27FC236}">
                <a16:creationId xmlns:a16="http://schemas.microsoft.com/office/drawing/2014/main" id="{0C46BAF6-FE94-4E49-919E-65EB69CF694E}"/>
              </a:ext>
            </a:extLst>
          </p:cNvPr>
          <p:cNvSpPr>
            <a:spLocks noGrp="1"/>
          </p:cNvSpPr>
          <p:nvPr>
            <p:ph idx="1"/>
          </p:nvPr>
        </p:nvSpPr>
        <p:spPr/>
        <p:txBody>
          <a:bodyPr>
            <a:normAutofit fontScale="92500"/>
          </a:bodyPr>
          <a:lstStyle/>
          <a:p>
            <a:pPr algn="l">
              <a:buFont typeface="Arial" panose="020B0604020202020204" pitchFamily="34" charset="0"/>
              <a:buChar char="•"/>
            </a:pPr>
            <a:r>
              <a:rPr lang="en-US" altLang="ko-KR" b="0" i="0" dirty="0">
                <a:solidFill>
                  <a:srgbClr val="000000"/>
                </a:solidFill>
                <a:effectLst/>
              </a:rPr>
              <a:t>TF-IDF is a weight used in information retrieval and text mining, and is a statistical value indicating how important a word is within a particular document when there are multiple document groups.</a:t>
            </a:r>
          </a:p>
          <a:p>
            <a:pPr algn="l">
              <a:buFont typeface="Arial" panose="020B0604020202020204" pitchFamily="34" charset="0"/>
              <a:buChar char="•"/>
            </a:pPr>
            <a:r>
              <a:rPr lang="en-US" altLang="ko-KR" b="0" i="0" dirty="0">
                <a:solidFill>
                  <a:srgbClr val="000000"/>
                </a:solidFill>
                <a:effectLst/>
              </a:rPr>
              <a:t>TF (Term frequency) is a value that indicates how often a particular word appears within a document, and the higher this value, the more important it is in the document.</a:t>
            </a:r>
          </a:p>
          <a:p>
            <a:pPr algn="l">
              <a:buFont typeface="Arial" panose="020B0604020202020204" pitchFamily="34" charset="0"/>
              <a:buChar char="•"/>
            </a:pPr>
            <a:r>
              <a:rPr lang="en-US" altLang="ko-KR" b="0" i="0" dirty="0">
                <a:solidFill>
                  <a:srgbClr val="000000"/>
                </a:solidFill>
                <a:effectLst/>
              </a:rPr>
              <a:t>However, if the word itself is frequently used within the document group, this means that the word appears frequently. This is called DF (document frequency), and the inverse of this value is called IDF (inverse document frequency).</a:t>
            </a:r>
          </a:p>
          <a:p>
            <a:endParaRPr lang="ko-KR" altLang="en-US" dirty="0"/>
          </a:p>
        </p:txBody>
      </p:sp>
      <p:pic>
        <p:nvPicPr>
          <p:cNvPr id="4" name="그림 3">
            <a:extLst>
              <a:ext uri="{FF2B5EF4-FFF2-40B4-BE49-F238E27FC236}">
                <a16:creationId xmlns:a16="http://schemas.microsoft.com/office/drawing/2014/main" id="{E2FD939B-3560-484C-A415-710A1CCB8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887868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4D1860-2000-4958-8393-1F70468895A2}"/>
              </a:ext>
            </a:extLst>
          </p:cNvPr>
          <p:cNvSpPr>
            <a:spLocks noGrp="1"/>
          </p:cNvSpPr>
          <p:nvPr>
            <p:ph type="title"/>
          </p:nvPr>
        </p:nvSpPr>
        <p:spPr/>
        <p:txBody>
          <a:bodyPr/>
          <a:lstStyle/>
          <a:p>
            <a:r>
              <a:rPr lang="en-US" altLang="ko-KR" dirty="0"/>
              <a:t>Sample Code</a:t>
            </a:r>
            <a:endParaRPr lang="ko-KR" altLang="en-US" dirty="0"/>
          </a:p>
        </p:txBody>
      </p:sp>
      <p:pic>
        <p:nvPicPr>
          <p:cNvPr id="6" name="내용 개체 틀 5">
            <a:extLst>
              <a:ext uri="{FF2B5EF4-FFF2-40B4-BE49-F238E27FC236}">
                <a16:creationId xmlns:a16="http://schemas.microsoft.com/office/drawing/2014/main" id="{15893FB6-A69D-4B5D-BBD1-D39075A7CF8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11418"/>
            <a:ext cx="5181600" cy="3779751"/>
          </a:xfrm>
        </p:spPr>
      </p:pic>
      <p:pic>
        <p:nvPicPr>
          <p:cNvPr id="8" name="내용 개체 틀 7">
            <a:extLst>
              <a:ext uri="{FF2B5EF4-FFF2-40B4-BE49-F238E27FC236}">
                <a16:creationId xmlns:a16="http://schemas.microsoft.com/office/drawing/2014/main" id="{1615254F-C1F4-4F47-B21D-E1DC7809937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511795"/>
            <a:ext cx="5181600" cy="2978998"/>
          </a:xfrm>
        </p:spPr>
      </p:pic>
      <p:pic>
        <p:nvPicPr>
          <p:cNvPr id="9" name="그림 8">
            <a:extLst>
              <a:ext uri="{FF2B5EF4-FFF2-40B4-BE49-F238E27FC236}">
                <a16:creationId xmlns:a16="http://schemas.microsoft.com/office/drawing/2014/main" id="{D62E119E-E077-4F71-ABC1-A2A62906F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그림 10">
            <a:extLst>
              <a:ext uri="{FF2B5EF4-FFF2-40B4-BE49-F238E27FC236}">
                <a16:creationId xmlns:a16="http://schemas.microsoft.com/office/drawing/2014/main" id="{56E2F647-1533-4777-A451-21C8D91B20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200" y="5490793"/>
            <a:ext cx="1971766" cy="342916"/>
          </a:xfrm>
          <a:prstGeom prst="rect">
            <a:avLst/>
          </a:prstGeom>
        </p:spPr>
      </p:pic>
    </p:spTree>
    <p:extLst>
      <p:ext uri="{BB962C8B-B14F-4D97-AF65-F5344CB8AC3E}">
        <p14:creationId xmlns:p14="http://schemas.microsoft.com/office/powerpoint/2010/main" val="1987971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Data Preprocessing</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692738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A9D0E8-D0BA-453A-8DD2-9D095899476D}"/>
              </a:ext>
            </a:extLst>
          </p:cNvPr>
          <p:cNvSpPr>
            <a:spLocks noGrp="1"/>
          </p:cNvSpPr>
          <p:nvPr>
            <p:ph type="title"/>
          </p:nvPr>
        </p:nvSpPr>
        <p:spPr/>
        <p:txBody>
          <a:bodyPr/>
          <a:lstStyle/>
          <a:p>
            <a:r>
              <a:rPr lang="en-US" altLang="ko-KR" dirty="0"/>
              <a:t>Converting Image Data</a:t>
            </a:r>
            <a:br>
              <a:rPr lang="en-US" altLang="ko-KR" dirty="0"/>
            </a:br>
            <a:r>
              <a:rPr lang="en-US" altLang="ko-KR" sz="2400" dirty="0"/>
              <a:t>MNIST</a:t>
            </a:r>
            <a:endParaRPr lang="ko-KR" altLang="en-US" dirty="0"/>
          </a:p>
        </p:txBody>
      </p:sp>
      <p:pic>
        <p:nvPicPr>
          <p:cNvPr id="5" name="내용 개체 틀 4">
            <a:extLst>
              <a:ext uri="{FF2B5EF4-FFF2-40B4-BE49-F238E27FC236}">
                <a16:creationId xmlns:a16="http://schemas.microsoft.com/office/drawing/2014/main" id="{0FCE88BE-E0F2-4DB0-8CE8-97743C59AA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19513" y="1892024"/>
            <a:ext cx="4752975" cy="3543300"/>
          </a:xfrm>
        </p:spPr>
      </p:pic>
      <p:pic>
        <p:nvPicPr>
          <p:cNvPr id="6" name="그림 5">
            <a:extLst>
              <a:ext uri="{FF2B5EF4-FFF2-40B4-BE49-F238E27FC236}">
                <a16:creationId xmlns:a16="http://schemas.microsoft.com/office/drawing/2014/main" id="{026039E7-722F-47A7-9864-EE3D30D8CF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8" name="TextBox 7">
            <a:extLst>
              <a:ext uri="{FF2B5EF4-FFF2-40B4-BE49-F238E27FC236}">
                <a16:creationId xmlns:a16="http://schemas.microsoft.com/office/drawing/2014/main" id="{2258F0A9-81E0-4433-AA88-93F155F659B9}"/>
              </a:ext>
            </a:extLst>
          </p:cNvPr>
          <p:cNvSpPr txBox="1"/>
          <p:nvPr/>
        </p:nvSpPr>
        <p:spPr>
          <a:xfrm>
            <a:off x="922090" y="5451994"/>
            <a:ext cx="10579217" cy="369332"/>
          </a:xfrm>
          <a:prstGeom prst="rect">
            <a:avLst/>
          </a:prstGeom>
          <a:noFill/>
        </p:spPr>
        <p:txBody>
          <a:bodyPr wrap="square">
            <a:spAutoFit/>
          </a:bodyPr>
          <a:lstStyle/>
          <a:p>
            <a:pPr marL="285750" indent="-285750" algn="l">
              <a:buFont typeface="Arial" panose="020B0604020202020204" pitchFamily="34" charset="0"/>
              <a:buChar char="•"/>
            </a:pPr>
            <a:r>
              <a:rPr lang="en-US" altLang="ko-KR" b="0" i="0" dirty="0">
                <a:solidFill>
                  <a:srgbClr val="000000"/>
                </a:solidFill>
                <a:effectLst/>
                <a:latin typeface="Helvetica Neue"/>
              </a:rPr>
              <a:t>The brightness value of the image data pixel of each number is converted into vector data and used.</a:t>
            </a:r>
          </a:p>
        </p:txBody>
      </p:sp>
    </p:spTree>
    <p:extLst>
      <p:ext uri="{BB962C8B-B14F-4D97-AF65-F5344CB8AC3E}">
        <p14:creationId xmlns:p14="http://schemas.microsoft.com/office/powerpoint/2010/main" val="2670858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6E5BDC-FC88-41C6-A608-C8A00A3D4535}"/>
              </a:ext>
            </a:extLst>
          </p:cNvPr>
          <p:cNvSpPr>
            <a:spLocks noGrp="1"/>
          </p:cNvSpPr>
          <p:nvPr>
            <p:ph type="title"/>
          </p:nvPr>
        </p:nvSpPr>
        <p:spPr/>
        <p:txBody>
          <a:bodyPr/>
          <a:lstStyle/>
          <a:p>
            <a:r>
              <a:rPr lang="en-US" altLang="ko-KR" dirty="0"/>
              <a:t>Sample Code</a:t>
            </a:r>
            <a:endParaRPr lang="ko-KR" altLang="en-US" dirty="0"/>
          </a:p>
        </p:txBody>
      </p:sp>
      <p:pic>
        <p:nvPicPr>
          <p:cNvPr id="6" name="내용 개체 틀 5">
            <a:extLst>
              <a:ext uri="{FF2B5EF4-FFF2-40B4-BE49-F238E27FC236}">
                <a16:creationId xmlns:a16="http://schemas.microsoft.com/office/drawing/2014/main" id="{3EBEDFB4-B9CC-4AC0-A716-518E370BDE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45038" y="1690689"/>
            <a:ext cx="4901923" cy="3778934"/>
          </a:xfrm>
        </p:spPr>
      </p:pic>
      <p:pic>
        <p:nvPicPr>
          <p:cNvPr id="4" name="그림 3">
            <a:extLst>
              <a:ext uri="{FF2B5EF4-FFF2-40B4-BE49-F238E27FC236}">
                <a16:creationId xmlns:a16="http://schemas.microsoft.com/office/drawing/2014/main" id="{9929B0CF-D80E-4626-8032-C95400E532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그림 7">
            <a:extLst>
              <a:ext uri="{FF2B5EF4-FFF2-40B4-BE49-F238E27FC236}">
                <a16:creationId xmlns:a16="http://schemas.microsoft.com/office/drawing/2014/main" id="{9BBD7184-E215-4E53-86CD-9626CC3F14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729" y="5609681"/>
            <a:ext cx="9240540" cy="514422"/>
          </a:xfrm>
          <a:prstGeom prst="rect">
            <a:avLst/>
          </a:prstGeom>
        </p:spPr>
      </p:pic>
      <p:pic>
        <p:nvPicPr>
          <p:cNvPr id="10" name="그림 9">
            <a:extLst>
              <a:ext uri="{FF2B5EF4-FFF2-40B4-BE49-F238E27FC236}">
                <a16:creationId xmlns:a16="http://schemas.microsoft.com/office/drawing/2014/main" id="{8E82DA0F-0DB7-4DAC-8882-836AB339F3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3989" y="5406022"/>
            <a:ext cx="921740" cy="921740"/>
          </a:xfrm>
          <a:prstGeom prst="rect">
            <a:avLst/>
          </a:prstGeom>
        </p:spPr>
      </p:pic>
    </p:spTree>
    <p:extLst>
      <p:ext uri="{BB962C8B-B14F-4D97-AF65-F5344CB8AC3E}">
        <p14:creationId xmlns:p14="http://schemas.microsoft.com/office/powerpoint/2010/main" val="1825819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98A73F7-D22A-4637-9B95-5FD6A26432BF}"/>
              </a:ext>
            </a:extLst>
          </p:cNvPr>
          <p:cNvSpPr>
            <a:spLocks noGrp="1"/>
          </p:cNvSpPr>
          <p:nvPr>
            <p:ph type="title"/>
          </p:nvPr>
        </p:nvSpPr>
        <p:spPr/>
        <p:txBody>
          <a:bodyPr/>
          <a:lstStyle/>
          <a:p>
            <a:r>
              <a:rPr lang="en-US" altLang="ko-KR" dirty="0"/>
              <a:t>Sample Code</a:t>
            </a:r>
            <a:endParaRPr lang="ko-KR" altLang="en-US" dirty="0"/>
          </a:p>
        </p:txBody>
      </p:sp>
      <p:pic>
        <p:nvPicPr>
          <p:cNvPr id="9" name="내용 개체 틀 8">
            <a:extLst>
              <a:ext uri="{FF2B5EF4-FFF2-40B4-BE49-F238E27FC236}">
                <a16:creationId xmlns:a16="http://schemas.microsoft.com/office/drawing/2014/main" id="{01EB73D0-FF55-4603-AF95-55C6FF52692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83617" y="2271797"/>
            <a:ext cx="4488748" cy="3204595"/>
          </a:xfrm>
        </p:spPr>
      </p:pic>
      <p:pic>
        <p:nvPicPr>
          <p:cNvPr id="7" name="내용 개체 틀 6">
            <a:extLst>
              <a:ext uri="{FF2B5EF4-FFF2-40B4-BE49-F238E27FC236}">
                <a16:creationId xmlns:a16="http://schemas.microsoft.com/office/drawing/2014/main" id="{7CF0EBAB-68AE-4049-9B52-437C9E04091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161422"/>
            <a:ext cx="5181600" cy="3491947"/>
          </a:xfrm>
        </p:spPr>
      </p:pic>
      <p:pic>
        <p:nvPicPr>
          <p:cNvPr id="5" name="그림 4">
            <a:extLst>
              <a:ext uri="{FF2B5EF4-FFF2-40B4-BE49-F238E27FC236}">
                <a16:creationId xmlns:a16="http://schemas.microsoft.com/office/drawing/2014/main" id="{C1016159-E3B5-4263-A234-ABB89D117C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88900349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1006</Words>
  <Application>Microsoft Office PowerPoint</Application>
  <PresentationFormat>와이드스크린</PresentationFormat>
  <Paragraphs>102</Paragraphs>
  <Slides>41</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41</vt:i4>
      </vt:variant>
    </vt:vector>
  </HeadingPairs>
  <TitlesOfParts>
    <vt:vector size="46" baseType="lpstr">
      <vt:lpstr>Helvetica Neue</vt:lpstr>
      <vt:lpstr>맑은 고딕</vt:lpstr>
      <vt:lpstr>Arial</vt:lpstr>
      <vt:lpstr>Cambria Math</vt:lpstr>
      <vt:lpstr>Office 테마</vt:lpstr>
      <vt:lpstr>Evaluation Method and Data Preprocessing</vt:lpstr>
      <vt:lpstr>Table of Contents</vt:lpstr>
      <vt:lpstr>Ways to evaluate supervised learning</vt:lpstr>
      <vt:lpstr>How to evaluate classification problems Data preprocessing</vt:lpstr>
      <vt:lpstr>How to evaluate classification problems Confusion Matrix</vt:lpstr>
      <vt:lpstr>How to evaluate classification problems accuracy</vt:lpstr>
      <vt:lpstr>How to evaluate classification problems precision</vt:lpstr>
      <vt:lpstr>How to evaluate classification problems recall</vt:lpstr>
      <vt:lpstr>How to evaluate classification problems F1-score</vt:lpstr>
      <vt:lpstr>How to evaluate classification problems accuracy</vt:lpstr>
      <vt:lpstr>How to evaluate classification problems precision</vt:lpstr>
      <vt:lpstr>How to evaluate classification problems recall</vt:lpstr>
      <vt:lpstr>How to evaluate classification problems F1-score</vt:lpstr>
      <vt:lpstr>How to evaluate classification problems prediction probability</vt:lpstr>
      <vt:lpstr>How to evaluate classification problems ROC curve and AUC</vt:lpstr>
      <vt:lpstr>How to evaluate classification problems ROC curve and AUC</vt:lpstr>
      <vt:lpstr>How to evaluate classification problems ROC curve and AUC</vt:lpstr>
      <vt:lpstr>How to evaluate classification problems ROC curve and AUC</vt:lpstr>
      <vt:lpstr>Evaluation method of Regression Problem</vt:lpstr>
      <vt:lpstr>Evaluation method of Regression Problem mean square error</vt:lpstr>
      <vt:lpstr>Evaluation method of Regression Problem coefficient of determination</vt:lpstr>
      <vt:lpstr>Compared to other algorithms difference between mean square error and coefficient of determination</vt:lpstr>
      <vt:lpstr>Compared to other algorithms difference with SVC and SVR</vt:lpstr>
      <vt:lpstr>Setting hyper parameter</vt:lpstr>
      <vt:lpstr>Setting hyper parameter</vt:lpstr>
      <vt:lpstr>Over-fitting</vt:lpstr>
      <vt:lpstr>Over-fitting</vt:lpstr>
      <vt:lpstr>Ways to prevent over-fitting 1. split training data and test data</vt:lpstr>
      <vt:lpstr>Ways to prevent over-fitting Models that use learning data and test data to learn with SVR</vt:lpstr>
      <vt:lpstr>Ways to prevent over-fitting Models that use learning data and test data to learn with RFC</vt:lpstr>
      <vt:lpstr>Ways to prevent over-fitting Cross Validation</vt:lpstr>
      <vt:lpstr>Ways to prevent over-fitting Cross Validation</vt:lpstr>
      <vt:lpstr>Searching hyper parameter greed search</vt:lpstr>
      <vt:lpstr>Searching hyper parameter greed search</vt:lpstr>
      <vt:lpstr>Evaluation Method and Data Preprocessing</vt:lpstr>
      <vt:lpstr>TF-IDF Term Frequency – Inverse Document Frequency</vt:lpstr>
      <vt:lpstr>Sample Code</vt:lpstr>
      <vt:lpstr>Evaluation Method and Data Preprocessing</vt:lpstr>
      <vt:lpstr>Converting Image Data MNIST</vt:lpstr>
      <vt:lpstr>Sample Code</vt:lpstr>
      <vt:lpstr>Sample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4</cp:revision>
  <dcterms:created xsi:type="dcterms:W3CDTF">2022-04-13T04:53:06Z</dcterms:created>
  <dcterms:modified xsi:type="dcterms:W3CDTF">2022-04-13T05:19:18Z</dcterms:modified>
</cp:coreProperties>
</file>