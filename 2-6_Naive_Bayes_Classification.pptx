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4B81B-6DED-4B6C-9594-9D2D444A7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BDAEB7-3684-4283-AEE3-DFE9DC242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FCDBB-9B1C-4CC9-B549-047BEDD3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489CBD-630F-4649-AA78-3C0F8680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90526-03B3-4087-B3EC-0DA2B44C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13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8CA9D-C8C1-478C-9BBC-CB6E9FF4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19ED79-E9ED-4847-901C-4D1510680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928B5-2CCA-4347-8F9F-A8DC29A4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E6187-D6F5-488E-9D38-579F90B7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CD7BE-44CC-4F34-B59D-FC4164B1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4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9D0F1-8A08-4E0C-A65A-E7DAA68A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A5830-1FA7-4689-A8D5-45813F4F3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208E9B-6402-4525-B99B-EFE1DAFC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B90F4-CF5F-4DCF-AAAC-E7BE1DB6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B088F-DAC0-4287-AC28-6AE860C2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41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A6D6C-C922-4E48-9362-67051D3D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08396-B37A-4957-8D00-4F3E5809F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07D250-87C6-4A48-A9EA-37E042D11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F0E998-B709-4017-937F-EB638266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D5C9E6-AF9C-4802-BC4C-EB9BB45B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73B506-8B9A-4E17-8975-D423FCFE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9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835C1-CBA9-4AC2-B8FA-42FCD5D92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6A432-4A4B-4BAF-8578-37B04F9D2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B3611E-7D84-4F88-B4FA-41493504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C1D584-ECB8-4DBB-B51E-C0EC6ED79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C7DA6A-1C33-49C5-961B-F8C5E3E78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E4D4D6-19E9-4848-B9BC-C1325E5B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C839EC-B6C3-491D-97B7-64219F17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62EF84-4B8D-457A-A73B-0F0D28DE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12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18E4A-8079-4516-A580-A84D6C50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CF8E38-BE9C-4917-B361-FFE61E2E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AEC29-C138-4B5B-B1A5-B971E3E5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3F2156-7ADB-46D8-824C-BC321C0D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4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723613-2AA8-4185-B85C-46E68479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D7E2ED-35BD-4AD7-BEE3-34BC4B3C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3E3B2-E588-4AF0-B383-44A77B58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5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4708-FC9E-4BC4-8DF5-D1937AF3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4D090-AC7F-4544-9CF6-72115F7F1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F66B2-0963-4DE3-BB22-04C4DC299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DC816-4D0C-452B-B92D-E88CDA47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895460-4952-4953-8533-DFA097BF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9AFCEC-C1A5-492F-BA62-636EB2B1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47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636A8-F396-4F3E-97A9-0F17D409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B6C074-479A-4E6F-9CA9-07318116F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1434A-754F-45DE-B444-336B32270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48F98-545C-4C90-B16E-1CD3368B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4399D9-EDBC-4A89-9565-039F70EF1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9CCB2B-7B8E-479C-8EBB-9B6374B0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18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45D2A-FFDB-4597-992E-DDBD2DDA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6911F1-58A3-4344-97B1-F96A83AE7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40D0F-A0BB-4A93-BE37-CB062B98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9CDF71-9CEC-4134-BA72-B8BE11FB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EF77F-05E3-43A8-9BA1-8A4E21AE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24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4A438-3DF6-4195-9DB4-E7EB74664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B02FF8-F754-427A-ADC1-921F783A2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44E3F-BD35-4B69-BF7B-8A447E49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A5250-FB11-41B9-A0D4-A69A68DE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4DBA1-AAAA-4B12-AA85-61DB68F7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06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B6B6A1-0D99-4E08-B652-491B10B9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2EE9FE-DEA9-4B70-84A3-18B6A3E81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3B2E2-D531-46A2-9D35-0FE962B3D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EDA38-4C90-4584-9B4E-8F17E5DF2FB8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99C71C-A625-4D52-B86A-06668A59F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A5654C-401B-4FE8-A1C4-831D4B98F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B21CD-7E5F-4360-AA60-674FC6379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91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98ED7-62D7-42D4-B842-BD57BDFC2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1678A9-9987-4F55-A6A6-54BD518A49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Naïve Bayes Classification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57E4DD-26A3-46C9-95B4-CCCE44B98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91A193-AE0A-4F2C-BF2B-5C8FE43F7C79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47183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E4403-5CB5-4EBD-AC6C-BFA3FDEA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57266-F310-413B-A6B8-2AA750BD6D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US" altLang="ko-KR" dirty="0">
                <a:solidFill>
                  <a:srgbClr val="000000"/>
                </a:solidFill>
              </a:rPr>
              <a:t>Naïve Bayes Classification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is one of the algorithms for predicting results based on probability.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probability of which label the data belongs and classify the data into the label with the highest probability.</a:t>
            </a:r>
          </a:p>
          <a:p>
            <a:r>
              <a:rPr lang="en-US" altLang="ko-KR" dirty="0"/>
              <a:t>We’re going to use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The Naive Bayes classification going to be used to classify virtual news article titles into ‘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영화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' and ‘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우주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'.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8E599DD-311B-4BD3-BBA3-226C1035A65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9217700"/>
              </p:ext>
            </p:extLst>
          </p:nvPr>
        </p:nvGraphicFramePr>
        <p:xfrm>
          <a:off x="6019800" y="1825625"/>
          <a:ext cx="5334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9602">
                  <a:extLst>
                    <a:ext uri="{9D8B030D-6E8A-4147-A177-3AD203B41FA5}">
                      <a16:colId xmlns:a16="http://schemas.microsoft.com/office/drawing/2014/main" val="1156370764"/>
                    </a:ext>
                  </a:extLst>
                </a:gridCol>
                <a:gridCol w="1144398">
                  <a:extLst>
                    <a:ext uri="{9D8B030D-6E8A-4147-A177-3AD203B41FA5}">
                      <a16:colId xmlns:a16="http://schemas.microsoft.com/office/drawing/2014/main" val="3498148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학습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98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감동을 준 명작 영화가 부활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화려한 액션 영화가 개봉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명작의 부활에 세계가 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4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모래 폭풍이 화성을 덮다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71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마침내 화성 탐사 재개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65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VR</a:t>
                      </a:r>
                      <a:r>
                        <a:rPr lang="ko-KR" altLang="en-US" dirty="0"/>
                        <a:t>로 보는 화성의 모래 폭풍과 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383174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85D95A9D-587F-43C5-90FF-5EA8D5669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51046"/>
              </p:ext>
            </p:extLst>
          </p:nvPr>
        </p:nvGraphicFramePr>
        <p:xfrm>
          <a:off x="6019800" y="4928394"/>
          <a:ext cx="533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121">
                  <a:extLst>
                    <a:ext uri="{9D8B030D-6E8A-4147-A177-3AD203B41FA5}">
                      <a16:colId xmlns:a16="http://schemas.microsoft.com/office/drawing/2014/main" val="1629880921"/>
                    </a:ext>
                  </a:extLst>
                </a:gridCol>
                <a:gridCol w="1134879">
                  <a:extLst>
                    <a:ext uri="{9D8B030D-6E8A-4147-A177-3AD203B41FA5}">
                      <a16:colId xmlns:a16="http://schemas.microsoft.com/office/drawing/2014/main" val="2071020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검정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40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부활한 명작에서 보여주는 액션에 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788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324D19B1-3D55-4622-951D-55477748B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3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E9AF0-E4EF-425D-B8FE-7231B5FC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1BBC48-E4D7-49D3-9492-134540AD3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According to the table, there are three categories of articles in the learning data, one for </a:t>
            </a:r>
            <a:r>
              <a:rPr lang="ko-KR" altLang="en-US" b="0" i="0" dirty="0">
                <a:solidFill>
                  <a:srgbClr val="000000"/>
                </a:solidFill>
                <a:effectLst/>
                <a:ea typeface="+mj-ea"/>
              </a:rPr>
              <a:t>영화</a:t>
            </a:r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 and one for </a:t>
            </a:r>
            <a:r>
              <a:rPr lang="ko-KR" altLang="en-US" b="0" i="0" dirty="0">
                <a:solidFill>
                  <a:srgbClr val="000000"/>
                </a:solidFill>
                <a:effectLst/>
                <a:ea typeface="+mj-ea"/>
              </a:rPr>
              <a:t>우주</a:t>
            </a:r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Simply put, there is a 50 % chance that a title is a movie or a universe.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We will take an example by paying attention to the word ＇</a:t>
            </a:r>
            <a:r>
              <a:rPr lang="ko-KR" altLang="en-US" b="0" i="0" dirty="0">
                <a:solidFill>
                  <a:srgbClr val="000000"/>
                </a:solidFill>
                <a:effectLst/>
                <a:ea typeface="+mj-ea"/>
              </a:rPr>
              <a:t>감동</a:t>
            </a:r>
            <a:r>
              <a:rPr lang="en-US" altLang="ko-KR" b="0" i="0" dirty="0">
                <a:solidFill>
                  <a:srgbClr val="000000"/>
                </a:solidFill>
                <a:effectLst/>
                <a:ea typeface="+mj-ea"/>
              </a:rPr>
              <a:t>' included in the test data.</a:t>
            </a:r>
            <a:endParaRPr lang="ko-KR" altLang="en-US" dirty="0"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2740AD-3A0F-433E-AEB5-10C8758F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9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E9AF0-E4EF-425D-B8FE-7231B5FC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2740AD-3A0F-433E-AEB5-10C8758F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501603E-421C-4821-8414-D7CFCD6FB1C2}"/>
              </a:ext>
            </a:extLst>
          </p:cNvPr>
          <p:cNvSpPr/>
          <p:nvPr/>
        </p:nvSpPr>
        <p:spPr>
          <a:xfrm>
            <a:off x="4547532" y="1975494"/>
            <a:ext cx="2793534" cy="914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학습 데이터</a:t>
            </a:r>
            <a:endParaRPr lang="en-US" altLang="ko-KR" dirty="0"/>
          </a:p>
          <a:p>
            <a:pPr algn="ctr"/>
            <a:r>
              <a:rPr lang="ko-KR" altLang="en-US" dirty="0"/>
              <a:t>기사제목 </a:t>
            </a:r>
            <a:r>
              <a:rPr lang="en-US" altLang="ko-KR" dirty="0"/>
              <a:t>6</a:t>
            </a:r>
            <a:r>
              <a:rPr lang="ko-KR" altLang="en-US" dirty="0"/>
              <a:t>개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F5763E38-08E6-4C28-84DB-C8501F282C81}"/>
              </a:ext>
            </a:extLst>
          </p:cNvPr>
          <p:cNvCxnSpPr>
            <a:cxnSpLocks/>
            <a:stCxn id="7" idx="1"/>
            <a:endCxn id="10" idx="0"/>
          </p:cNvCxnSpPr>
          <p:nvPr/>
        </p:nvCxnSpPr>
        <p:spPr>
          <a:xfrm rot="10800000" flipV="1">
            <a:off x="2809614" y="2432694"/>
            <a:ext cx="1737919" cy="457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409523-E6B2-4685-9E12-7A256AE0FC14}"/>
              </a:ext>
            </a:extLst>
          </p:cNvPr>
          <p:cNvSpPr/>
          <p:nvPr/>
        </p:nvSpPr>
        <p:spPr>
          <a:xfrm>
            <a:off x="1987492" y="2889894"/>
            <a:ext cx="1644242" cy="72145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영화 카테고리</a:t>
            </a:r>
            <a:endParaRPr lang="en-US" altLang="ko-KR" dirty="0"/>
          </a:p>
          <a:p>
            <a:pPr algn="ctr"/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C2606013-BD9C-4288-9A32-D99825261554}"/>
              </a:ext>
            </a:extLst>
          </p:cNvPr>
          <p:cNvCxnSpPr>
            <a:cxnSpLocks/>
            <a:stCxn id="7" idx="3"/>
            <a:endCxn id="15" idx="0"/>
          </p:cNvCxnSpPr>
          <p:nvPr/>
        </p:nvCxnSpPr>
        <p:spPr>
          <a:xfrm>
            <a:off x="7341066" y="2432694"/>
            <a:ext cx="1737918" cy="457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D1547C-B0D8-4879-A779-B9958716E9C1}"/>
              </a:ext>
            </a:extLst>
          </p:cNvPr>
          <p:cNvSpPr/>
          <p:nvPr/>
        </p:nvSpPr>
        <p:spPr>
          <a:xfrm>
            <a:off x="8256863" y="2889894"/>
            <a:ext cx="1644242" cy="7214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우주 카테고리</a:t>
            </a:r>
            <a:endParaRPr lang="en-US" altLang="ko-KR" dirty="0"/>
          </a:p>
          <a:p>
            <a:pPr algn="ctr"/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00F619-5C8E-446E-A4D8-3CEDA5B2D8F1}"/>
              </a:ext>
            </a:extLst>
          </p:cNvPr>
          <p:cNvSpPr/>
          <p:nvPr/>
        </p:nvSpPr>
        <p:spPr>
          <a:xfrm>
            <a:off x="686499" y="3790436"/>
            <a:ext cx="1084278" cy="72145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없음</a:t>
            </a:r>
            <a:endParaRPr lang="en-US" altLang="ko-KR" dirty="0"/>
          </a:p>
          <a:p>
            <a:pPr algn="ctr"/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F4CDDDCA-18EC-425F-AF2F-3A1C8B604CC2}"/>
              </a:ext>
            </a:extLst>
          </p:cNvPr>
          <p:cNvCxnSpPr>
            <a:cxnSpLocks/>
            <a:stCxn id="10" idx="1"/>
            <a:endCxn id="17" idx="0"/>
          </p:cNvCxnSpPr>
          <p:nvPr/>
        </p:nvCxnSpPr>
        <p:spPr>
          <a:xfrm rot="10800000" flipV="1">
            <a:off x="1228638" y="3250620"/>
            <a:ext cx="758854" cy="5398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E51786-D9A8-4B50-ABA9-C21E6AD4735D}"/>
              </a:ext>
            </a:extLst>
          </p:cNvPr>
          <p:cNvSpPr/>
          <p:nvPr/>
        </p:nvSpPr>
        <p:spPr>
          <a:xfrm>
            <a:off x="4005393" y="3791579"/>
            <a:ext cx="1084278" cy="7214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있음</a:t>
            </a:r>
            <a:endParaRPr lang="en-US" altLang="ko-KR" dirty="0"/>
          </a:p>
          <a:p>
            <a:pPr algn="ctr"/>
            <a:r>
              <a:rPr lang="en-US" altLang="ko-KR" dirty="0"/>
              <a:t>2</a:t>
            </a:r>
            <a:r>
              <a:rPr lang="ko-KR" altLang="en-US" dirty="0"/>
              <a:t>개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39CE662-C73A-4BB0-B56E-B579608EF76D}"/>
              </a:ext>
            </a:extLst>
          </p:cNvPr>
          <p:cNvCxnSpPr>
            <a:cxnSpLocks/>
            <a:stCxn id="10" idx="3"/>
            <a:endCxn id="22" idx="0"/>
          </p:cNvCxnSpPr>
          <p:nvPr/>
        </p:nvCxnSpPr>
        <p:spPr>
          <a:xfrm>
            <a:off x="3631734" y="3250621"/>
            <a:ext cx="915798" cy="5409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FA07F2-3E91-488B-A83F-87A139722052}"/>
              </a:ext>
            </a:extLst>
          </p:cNvPr>
          <p:cNvSpPr/>
          <p:nvPr/>
        </p:nvSpPr>
        <p:spPr>
          <a:xfrm>
            <a:off x="6950628" y="3803151"/>
            <a:ext cx="1084278" cy="72145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없음</a:t>
            </a:r>
            <a:endParaRPr lang="en-US" altLang="ko-KR" dirty="0"/>
          </a:p>
          <a:p>
            <a:pPr algn="ctr"/>
            <a:r>
              <a:rPr lang="en-US" altLang="ko-KR" dirty="0"/>
              <a:t>2</a:t>
            </a:r>
            <a:r>
              <a:rPr lang="ko-KR" altLang="en-US" dirty="0"/>
              <a:t>개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98C4DEF1-319E-4813-B5FA-663D8D981B26}"/>
              </a:ext>
            </a:extLst>
          </p:cNvPr>
          <p:cNvCxnSpPr>
            <a:cxnSpLocks/>
            <a:stCxn id="15" idx="1"/>
            <a:endCxn id="26" idx="0"/>
          </p:cNvCxnSpPr>
          <p:nvPr/>
        </p:nvCxnSpPr>
        <p:spPr>
          <a:xfrm rot="10800000" flipV="1">
            <a:off x="7492767" y="3250621"/>
            <a:ext cx="764096" cy="5525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73C10-166E-44E2-9000-6B479C103590}"/>
              </a:ext>
            </a:extLst>
          </p:cNvPr>
          <p:cNvSpPr/>
          <p:nvPr/>
        </p:nvSpPr>
        <p:spPr>
          <a:xfrm>
            <a:off x="10269522" y="3804294"/>
            <a:ext cx="1084278" cy="7214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있음</a:t>
            </a:r>
            <a:endParaRPr lang="en-US" altLang="ko-KR" dirty="0"/>
          </a:p>
          <a:p>
            <a:pPr algn="ctr"/>
            <a:r>
              <a:rPr lang="en-US" altLang="ko-KR" dirty="0"/>
              <a:t>1</a:t>
            </a:r>
            <a:r>
              <a:rPr lang="ko-KR" altLang="en-US" dirty="0"/>
              <a:t>개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3077EB8B-8A09-4F21-846F-F637130F5AEC}"/>
              </a:ext>
            </a:extLst>
          </p:cNvPr>
          <p:cNvCxnSpPr>
            <a:cxnSpLocks/>
            <a:stCxn id="15" idx="3"/>
            <a:endCxn id="28" idx="0"/>
          </p:cNvCxnSpPr>
          <p:nvPr/>
        </p:nvCxnSpPr>
        <p:spPr>
          <a:xfrm>
            <a:off x="9901105" y="3250621"/>
            <a:ext cx="910556" cy="553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4">
            <a:extLst>
              <a:ext uri="{FF2B5EF4-FFF2-40B4-BE49-F238E27FC236}">
                <a16:creationId xmlns:a16="http://schemas.microsoft.com/office/drawing/2014/main" id="{BB4D3DBE-8537-4EB6-BE02-D5D6C311C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34790"/>
              </p:ext>
            </p:extLst>
          </p:nvPr>
        </p:nvGraphicFramePr>
        <p:xfrm>
          <a:off x="1939721" y="4810555"/>
          <a:ext cx="8128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82015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75985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감동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이 나타날 조건부 확률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658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2/3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92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1/3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61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592FA-22E3-4C43-85D8-F1C1A82E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79B7-5BF1-4C79-AA8D-8FACC889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When dealing with the classification problem of natural language processing into the Naive Bayes classification, input data must be converted into a vector composed of features.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preprocessing in this example is to convert the article title to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BoW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(Bag of Words) and then create a vector consisting of feature and label pairs.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EA083-9516-4CB1-A8EC-FB1581940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6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9AA24-C569-418D-8F40-140EF7FF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25B7E2-F196-4E43-902A-7F99913370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First, only nouns are extracted from the article title of the learning data. At this time, the word order is ignored and treated as a set.</a:t>
            </a:r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FA5FAA37-D01C-4A10-B12E-5108922B87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0111053"/>
              </p:ext>
            </p:extLst>
          </p:nvPr>
        </p:nvGraphicFramePr>
        <p:xfrm>
          <a:off x="6172200" y="1825625"/>
          <a:ext cx="5181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653">
                  <a:extLst>
                    <a:ext uri="{9D8B030D-6E8A-4147-A177-3AD203B41FA5}">
                      <a16:colId xmlns:a16="http://schemas.microsoft.com/office/drawing/2014/main" val="402381612"/>
                    </a:ext>
                  </a:extLst>
                </a:gridCol>
                <a:gridCol w="1503947">
                  <a:extLst>
                    <a:ext uri="{9D8B030D-6E8A-4147-A177-3AD203B41FA5}">
                      <a16:colId xmlns:a16="http://schemas.microsoft.com/office/drawing/2014/main" val="7194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학습데이터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2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</a:t>
                      </a:r>
                      <a:r>
                        <a:rPr lang="ko-KR" altLang="en-US" dirty="0"/>
                        <a:t>감동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명작</a:t>
                      </a:r>
                      <a:r>
                        <a:rPr lang="en-US" altLang="ko-KR" dirty="0"/>
                        <a:t>“, “</a:t>
                      </a:r>
                      <a:r>
                        <a:rPr lang="ko-KR" altLang="en-US" dirty="0"/>
                        <a:t>영화</a:t>
                      </a:r>
                      <a:r>
                        <a:rPr lang="en-US" altLang="ko-KR" dirty="0"/>
                        <a:t>“}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07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</a:t>
                      </a:r>
                      <a:r>
                        <a:rPr lang="ko-KR" altLang="en-US" dirty="0"/>
                        <a:t>화려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액션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영화</a:t>
                      </a:r>
                      <a:r>
                        <a:rPr lang="en-US" altLang="ko-KR" dirty="0"/>
                        <a:t>“}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18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</a:t>
                      </a:r>
                      <a:r>
                        <a:rPr lang="ko-KR" altLang="en-US" dirty="0"/>
                        <a:t>명작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세계</a:t>
                      </a:r>
                      <a:r>
                        <a:rPr lang="en-US" altLang="ko-KR" dirty="0"/>
                        <a:t>“, “</a:t>
                      </a:r>
                      <a:r>
                        <a:rPr lang="ko-KR" altLang="en-US" dirty="0"/>
                        <a:t>감동</a:t>
                      </a:r>
                      <a:r>
                        <a:rPr lang="en-US" altLang="ko-KR" dirty="0"/>
                        <a:t>“}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32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</a:t>
                      </a:r>
                      <a:r>
                        <a:rPr lang="ko-KR" altLang="en-US" dirty="0"/>
                        <a:t>모래 폭풍</a:t>
                      </a:r>
                      <a:r>
                        <a:rPr lang="en-US" altLang="ko-KR" dirty="0"/>
                        <a:t>“, “</a:t>
                      </a:r>
                      <a:r>
                        <a:rPr lang="ko-KR" altLang="en-US" dirty="0"/>
                        <a:t>화성</a:t>
                      </a:r>
                      <a:r>
                        <a:rPr lang="en-US" altLang="ko-KR" dirty="0"/>
                        <a:t>”}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58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</a:t>
                      </a:r>
                      <a:r>
                        <a:rPr lang="ko-KR" altLang="en-US" dirty="0"/>
                        <a:t>화성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탐사</a:t>
                      </a:r>
                      <a:r>
                        <a:rPr lang="en-US" altLang="ko-KR" dirty="0"/>
                        <a:t>“, “</a:t>
                      </a:r>
                      <a:r>
                        <a:rPr lang="ko-KR" altLang="en-US" dirty="0"/>
                        <a:t>재개</a:t>
                      </a:r>
                      <a:r>
                        <a:rPr lang="en-US" altLang="ko-KR" dirty="0"/>
                        <a:t>“}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186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{“VR”,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탐사</a:t>
                      </a:r>
                      <a:r>
                        <a:rPr lang="en-US" altLang="ko-KR" dirty="0"/>
                        <a:t>”, “</a:t>
                      </a:r>
                      <a:r>
                        <a:rPr lang="ko-KR" altLang="en-US" dirty="0"/>
                        <a:t>재개</a:t>
                      </a:r>
                      <a:r>
                        <a:rPr lang="en-US" altLang="ko-KR" dirty="0"/>
                        <a:t>”}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우주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89562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3C3E9D9-0AE9-4C7F-8E6D-DAF23C4EE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1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592FA-22E3-4C43-85D8-F1C1A82E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79B7-5BF1-4C79-AA8D-8FACC889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Second, Change the word set and category of the feature to be easy to handle.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When the learning data includes words in a set of words, add 1 and 0 when not included.</a:t>
            </a:r>
          </a:p>
          <a:p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As shown in the table above, a pair of features and labels is called </a:t>
            </a:r>
            <a:r>
              <a:rPr lang="en-US" altLang="ko-KR" sz="2400" b="0" i="0" dirty="0" err="1">
                <a:solidFill>
                  <a:srgbClr val="000000"/>
                </a:solidFill>
                <a:effectLst/>
              </a:rPr>
              <a:t>BoW</a:t>
            </a: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 depending on whether there is a word in a natural language sentence.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EA083-9516-4CB1-A8EC-FB1581940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18B32-A5BD-46AA-B990-A822FBF4C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080" y="4165780"/>
            <a:ext cx="6415840" cy="195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3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592FA-22E3-4C43-85D8-F1C1A82E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Data Preprocessing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879B7-5BF1-4C79-AA8D-8FACC889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Third, The test data is also converted to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BoW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EA083-9516-4CB1-A8EC-FB1581940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75A0A9-9232-4659-82DD-718CEB56E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004" y="3487868"/>
            <a:ext cx="7805992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2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D4E2D-7E03-41E2-874B-0AD02A6A9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Calculate Probability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356BCF7-17BD-4FF3-86FB-69196CA60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When learning by the Naïve Bayes classification, two types of probabilities are calculated.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a. probability of each label appearing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b. conditional probability of each word appearing on each label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calculate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endParaRPr lang="en-US" altLang="ko-KR" dirty="0">
                  <a:solidFill>
                    <a:srgbClr val="000000"/>
                  </a:solidFill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endParaRPr lang="en-US" altLang="ko-KR" dirty="0">
                  <a:solidFill>
                    <a:srgbClr val="000000"/>
                  </a:solidFill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endParaRPr lang="en-US" altLang="ko-KR" dirty="0">
                  <a:solidFill>
                    <a:srgbClr val="000000"/>
                  </a:solidFill>
                </a:endParaRPr>
              </a:p>
              <a:p>
                <a:pPr marL="285750" indent="-285750"/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part allocated 0.01 is the part allocated with the original probability 0, which means that the word is not in the learning data.</a:t>
                </a:r>
                <a:endParaRPr lang="en-US" altLang="ko-KR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356BCF7-17BD-4FF3-86FB-69196CA60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9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756FAF10-DDF4-45BB-A9DB-0FCAE57C5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CC10D95-8098-4A98-95A5-0DDA8273E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439955"/>
              </p:ext>
            </p:extLst>
          </p:nvPr>
        </p:nvGraphicFramePr>
        <p:xfrm>
          <a:off x="2031999" y="3833514"/>
          <a:ext cx="812800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68768840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9607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293730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33052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8070152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9476087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5152808"/>
                    </a:ext>
                  </a:extLst>
                </a:gridCol>
              </a:tblGrid>
              <a:tr h="36285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명작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318820"/>
                  </a:ext>
                </a:extLst>
              </a:tr>
              <a:tr h="1742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2/3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2/3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2/3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99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47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9AA24-C569-418D-8F40-140EF7FF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25B7E2-F196-4E43-902A-7F99913370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X, y data</a:t>
            </a:r>
          </a:p>
          <a:p>
            <a:r>
              <a:rPr lang="en-US" altLang="ko-KR" dirty="0"/>
              <a:t>Make model and training</a:t>
            </a:r>
          </a:p>
          <a:p>
            <a:r>
              <a:rPr lang="en-US" altLang="ko-KR" dirty="0"/>
              <a:t>Predict result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C3E9D9-0AE9-4C7F-8E6D-DAF23C4EE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0CCF31-EA1C-4A27-A43C-5520DA9D09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215" y="1825625"/>
            <a:ext cx="5149570" cy="3635608"/>
          </a:xfr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1DF2CF-9CF5-4E96-B0B2-888F3A79B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596170"/>
            <a:ext cx="2302005" cy="43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6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560</Words>
  <Application>Microsoft Office PowerPoint</Application>
  <PresentationFormat>와이드스크린</PresentationFormat>
  <Paragraphs>103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Supervised Learning</vt:lpstr>
      <vt:lpstr>Fundamental Concept</vt:lpstr>
      <vt:lpstr>Fundamental Concept</vt:lpstr>
      <vt:lpstr>Fundamental Concept</vt:lpstr>
      <vt:lpstr>Algorithm Data Preprocessing</vt:lpstr>
      <vt:lpstr>Algorithm Data Preprocessing</vt:lpstr>
      <vt:lpstr>Algorithm Data Preprocessing</vt:lpstr>
      <vt:lpstr>Algorithm Data Preprocessing</vt:lpstr>
      <vt:lpstr>Algorithm Calculate Probability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38</cp:revision>
  <dcterms:created xsi:type="dcterms:W3CDTF">2022-04-02T10:46:18Z</dcterms:created>
  <dcterms:modified xsi:type="dcterms:W3CDTF">2022-04-12T13:10:27Z</dcterms:modified>
</cp:coreProperties>
</file>