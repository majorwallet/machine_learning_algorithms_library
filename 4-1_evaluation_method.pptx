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48322-1F21-4533-BABF-57E0C4ED2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6506F8-80BB-44A9-8A11-CE5F82E88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2E496-7578-4A70-B435-DF7940E5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42130-12F2-4483-9976-295B2BEA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2DF011-3263-42B9-B585-6551BD69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87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90D9D-05F8-4C43-B850-D7835A0D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33F649-F74B-45F0-816F-E4C0E2D98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129961-5298-4B5F-8FB7-A420B2DE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2B4C32-6891-4625-BE8E-D9665DFF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CF123D-09C3-465C-8784-1DC71A86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8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3FE17-000C-4C73-8ED4-A5653201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DF543-4885-4C8A-B99B-962962FD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F490E4-F390-4B52-BC91-E5B0B1BB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8B64-043B-495E-A75A-CF3C649D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FE7AFD-336E-4355-AB2A-9B0FDA81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72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95892-60CB-42A7-9628-98457739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42F14-3DD8-4DD8-9236-D1DCB7A30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FF7E03-7266-472B-9584-CBD67464E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3C5BD1-DAD7-4AF1-838B-13111C7E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BFAD64-BABE-47BB-8449-E212B72C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232CD9-6E8E-440E-A4DB-F542E277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01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84E2A-B3D7-4A32-A2DC-262EBDA7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C0DE30-0984-46EB-BC36-D889B4944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BBB921-12A4-4633-9DD4-D671013C6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F82D74-66C6-4D43-A538-216621A7B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E2725B-073F-4693-9928-CD3CBD9CC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64366-D62A-4DCE-9A5E-7FC8611E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20D117-F8B7-494B-985C-E9CF14C6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716A5D-1DBF-4264-B1EE-E233CFB5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6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13ACF-BBD1-44D5-AB5C-D4A0B69A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88D43B-3BD0-4DDB-BECE-87912C22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2F8B84-7D86-4CE3-B131-B9EC7B82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A13325-3DAE-477C-AD2E-56840877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05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2387F1-6E92-4D84-B525-208F366D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17A608-CB07-4730-8E39-4930B574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F0090-B2EB-47BA-BE4D-E6A2598D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40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745E1-EC8A-452C-8469-46760C1D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7FA9CA-A146-4201-ADBF-2402CA9E2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02F429-4062-4A27-AB66-A3C16C487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3C9582-6B86-4CB7-A0CD-1761F38B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626A85-D7D2-4A40-B4AA-420CCE46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B9CF1C-96F9-4F14-A8CA-CA11F33D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2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7C9C-A6E8-463F-BC7D-920891E3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B7BB2F-81EA-41EB-A81C-68FAC4B0A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41F33D-EACF-4C4B-8EFD-60F818170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7ECB0C-E559-4D42-B3EE-6C2BDDB4D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95DD32-2443-4B36-8730-782C66D6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6C46C3-940B-4885-A21B-9DA95B3B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19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AACF8-005D-498C-B5EA-1CE54E70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1A7581-B079-4ECA-8E87-26FC1C504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0B336D-773C-4F1A-8B73-C8706FA3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45FDDB-2A8D-4C72-8890-2682DDECF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C9BC4A-5A7E-46A1-9C87-D75C4526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2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E3561D-0EC6-4198-84FD-DE14BC37C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62967F-6FA2-4562-8A51-B92D59E2F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18CF7-790E-4ADE-ABB3-2535268B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BA17D5-EE74-475B-86E7-166DEC76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503657-7491-4A7D-83AA-31C92804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64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E87C93-7E71-4CA6-8046-489E7ACC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8EFD90-8499-4923-A677-5AB1C47A4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9A8CF6-F0F3-4609-8A3F-7ECADD3E2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F1CE7-588E-42C1-B71F-2E19FA101A6B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52DDD9-B2D7-4FDE-9EE1-802359207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E97414-923A-4A32-863C-B34BFB9A9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5DCB4-0AF9-458F-8B83-A27CDC9B4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13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DB4EC-9A29-4BD9-875D-5C5E70FAB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535"/>
            <a:ext cx="9144000" cy="2387600"/>
          </a:xfrm>
        </p:spPr>
        <p:txBody>
          <a:bodyPr/>
          <a:lstStyle/>
          <a:p>
            <a:r>
              <a:rPr lang="en-US" altLang="ko-KR" dirty="0"/>
              <a:t>Evaluation Method and</a:t>
            </a:r>
            <a:br>
              <a:rPr lang="en-US" altLang="ko-KR" dirty="0"/>
            </a:br>
            <a:r>
              <a:rPr lang="en-US" altLang="ko-KR" dirty="0"/>
              <a:t>Data Preprocessing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08A4E3-F9FD-4C6A-BF8F-F3F37F399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0210"/>
            <a:ext cx="9144000" cy="1655762"/>
          </a:xfrm>
        </p:spPr>
        <p:txBody>
          <a:bodyPr/>
          <a:lstStyle/>
          <a:p>
            <a:r>
              <a:rPr lang="en-US" altLang="ko-KR" dirty="0"/>
              <a:t>Evaluation Method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6F7E73-4599-4341-B93D-FFD7C9355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57B657-56D8-4DAC-856E-D044E6A2CC86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0450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3AC0C-4462-4424-A97E-170E6E77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to evaluate supervised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3F251-3EEC-430F-A2FD-11DF51BFA4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The evaluation method of supervised learning varies depending on whether it is a classification problem or a regression problem.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Even if evaluation indicators are appropriately selected, a good model cannot be created if they are overfitting the learning data. This should be noted.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7664D411-41A9-4C42-AAA3-8FC055D8319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240993"/>
              </p:ext>
            </p:extLst>
          </p:nvPr>
        </p:nvGraphicFramePr>
        <p:xfrm>
          <a:off x="6172200" y="1825625"/>
          <a:ext cx="5181600" cy="340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16519564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250791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분류 문제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회귀 문제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04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혼동 행렬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(confusion matrix)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평균제곱오차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(mean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square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error)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94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정확도</a:t>
                      </a:r>
                      <a:r>
                        <a:rPr lang="en-US" altLang="ko-KR" dirty="0"/>
                        <a:t> (accuracy)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결정계수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(coefficient of determination)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68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정밀도</a:t>
                      </a:r>
                      <a:r>
                        <a:rPr lang="en-US" altLang="ko-KR" dirty="0"/>
                        <a:t> (precision)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1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재현율</a:t>
                      </a:r>
                      <a:r>
                        <a:rPr lang="en-US" altLang="ko-KR" dirty="0"/>
                        <a:t> (recall)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11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</a:t>
                      </a:r>
                      <a:r>
                        <a:rPr lang="ko-KR" altLang="en-US" dirty="0"/>
                        <a:t>값</a:t>
                      </a:r>
                      <a:r>
                        <a:rPr lang="en-US" altLang="ko-KR" dirty="0"/>
                        <a:t> (F1-score)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885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곡선아래면적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(AUC)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98927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F806474C-95E3-4D44-8955-816EA0B1C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9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21BF4-35E1-40FC-8683-C33A0C34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696B1-131B-46DF-B9C4-6FAD7BEAD7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We’re going to use dataset as a breast cancer diagnosis data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AA2192C-79CF-42A8-89E0-AC8D3F7CD6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39316"/>
            <a:ext cx="5181600" cy="4128347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850485-A7AA-4A90-890F-A58D0094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1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8A2F9-1C31-4B67-8EA6-44F311A1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Confusion Matrix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9EAFE-C789-4D24-A5EC-8E80D15B49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TN: Properly predict real negative data as negative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FP: Misleading prediction of real negative data as positive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FN: Misleading prediction of real positive data as negative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TP: Real Positive Data Predicts Positive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224A2CE-194F-40E1-9C3E-D72983C284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2774791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9A3C61E-0262-488F-9422-015036BBB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8BC105F-4A99-484D-888A-5F963F5BE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4735353"/>
            <a:ext cx="1495238" cy="147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2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E6347-D69C-44C8-9067-04CAF814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accuracy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FCD7EC9-5651-4F54-B1BD-F31D8EDF3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460" y="3244614"/>
            <a:ext cx="5333080" cy="1325562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1EA6895-AD67-4A09-B139-EED14B25B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2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E6347-D69C-44C8-9067-04CAF814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precision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FCD7EC9-5651-4F54-B1BD-F31D8EDF3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6038" y="3244614"/>
            <a:ext cx="2419923" cy="1325562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1EA6895-AD67-4A09-B139-EED14B25B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2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E6347-D69C-44C8-9067-04CAF814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recall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EA6895-AD67-4A09-B139-EED14B25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4">
            <a:extLst>
              <a:ext uri="{FF2B5EF4-FFF2-40B4-BE49-F238E27FC236}">
                <a16:creationId xmlns:a16="http://schemas.microsoft.com/office/drawing/2014/main" id="{D655C874-B91B-4022-9D79-2A4549A7D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6039" y="3244614"/>
            <a:ext cx="2419921" cy="132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73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E6347-D69C-44C8-9067-04CAF814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F1-score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EA6895-AD67-4A09-B139-EED14B25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4">
            <a:extLst>
              <a:ext uri="{FF2B5EF4-FFF2-40B4-BE49-F238E27FC236}">
                <a16:creationId xmlns:a16="http://schemas.microsoft.com/office/drawing/2014/main" id="{DDAA11C4-2E50-4435-B1EB-4193ACB74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7035" y="3351127"/>
            <a:ext cx="4177929" cy="111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69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8A2F9-1C31-4B67-8EA6-44F311A1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accuracy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9EAFE-C789-4D24-A5EC-8E80D15B49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Percentage of total forecast results correctly predicted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A3C61E-0262-488F-9422-015036BBB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2FDA40B0-B6B6-48E1-B770-4FBB076D80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57299"/>
            <a:ext cx="5181600" cy="2487990"/>
          </a:xfrm>
        </p:spPr>
      </p:pic>
    </p:spTree>
    <p:extLst>
      <p:ext uri="{BB962C8B-B14F-4D97-AF65-F5344CB8AC3E}">
        <p14:creationId xmlns:p14="http://schemas.microsoft.com/office/powerpoint/2010/main" val="394414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8A2F9-1C31-4B67-8EA6-44F311A1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precision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9EAFE-C789-4D24-A5EC-8E80D15B49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The percentage of the actual positive results that you predicted was really positive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A3C61E-0262-488F-9422-015036BBB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FA2FA8F-E60D-45D2-B4CE-69C7AF9BEA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79123"/>
            <a:ext cx="5181600" cy="2444341"/>
          </a:xfrm>
        </p:spPr>
      </p:pic>
    </p:spTree>
    <p:extLst>
      <p:ext uri="{BB962C8B-B14F-4D97-AF65-F5344CB8AC3E}">
        <p14:creationId xmlns:p14="http://schemas.microsoft.com/office/powerpoint/2010/main" val="2738653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8A2F9-1C31-4B67-8EA6-44F311A1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recall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9EAFE-C789-4D24-A5EC-8E80D15B49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Percentage correctly predicted as positive as actual positive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A3C61E-0262-488F-9422-015036BBB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7D6F59C-8103-4F35-8421-6B7CBFEF97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13874"/>
            <a:ext cx="5181600" cy="2574840"/>
          </a:xfrm>
        </p:spPr>
      </p:pic>
    </p:spTree>
    <p:extLst>
      <p:ext uri="{BB962C8B-B14F-4D97-AF65-F5344CB8AC3E}">
        <p14:creationId xmlns:p14="http://schemas.microsoft.com/office/powerpoint/2010/main" val="810979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8A2F9-1C31-4B67-8EA6-44F311A1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F1-score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9EAFE-C789-4D24-A5EC-8E80D15B49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reflecting both precision and recall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A3C61E-0262-488F-9422-015036BBB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9594DBA-DE04-4C0C-A86E-C543357044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7246"/>
            <a:ext cx="5181600" cy="2768095"/>
          </a:xfrm>
        </p:spPr>
      </p:pic>
    </p:spTree>
    <p:extLst>
      <p:ext uri="{BB962C8B-B14F-4D97-AF65-F5344CB8AC3E}">
        <p14:creationId xmlns:p14="http://schemas.microsoft.com/office/powerpoint/2010/main" val="3967208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D1673-F84F-45BC-8EF4-A52FA29B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prediction probability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66C1E-8825-44A6-A39B-8C545A528D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probability of being classified as 0 and the probability of being classified as 1 respectively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7D19F58-ED67-4F2D-8623-A17576C5F6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2878666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B9BF24-026E-44CD-A83E-6101DD448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3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929DD-9FAF-4013-9679-B80039A8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ROC curve and AUC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8E59F8-591A-4FD0-8A66-68DBB6C9A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ratio of FP is set to the horizontal axis and the ratio of TP is set to the vertical axis and displayed as a graph.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change in the relationship between FP and TP can be seen graphically when the threshold is slightly lowered from 1 to be treated positive among the predicted probabilities.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area is up to 1 and the area under the curve is close to 1, the precision is high. On the other hand, around 0.5 is not well predicted.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000000"/>
                </a:solidFill>
                <a:effectLst/>
              </a:rPr>
              <a:t>The use of ROC is recommended when dealing with unbalanced data.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8BED21-4C55-4A45-9728-6659F9F7C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12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929DD-9FAF-4013-9679-B80039A8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ROC curve and AUC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3AF0A9C-34B6-4975-9239-55FCBEBA0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882" y="1927911"/>
            <a:ext cx="5310235" cy="3958969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8BED21-4C55-4A45-9728-6659F9F7C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6D583F-AAF6-49F6-9767-31A85114A2B6}"/>
                  </a:ext>
                </a:extLst>
              </p:cNvPr>
              <p:cNvSpPr txBox="1"/>
              <p:nvPr/>
            </p:nvSpPr>
            <p:spPr>
              <a:xfrm>
                <a:off x="838200" y="2905843"/>
                <a:ext cx="1697964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6D583F-AAF6-49F6-9767-31A85114A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05843"/>
                <a:ext cx="1697964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634D79-E003-462A-AEA4-1897985FBAD5}"/>
                  </a:ext>
                </a:extLst>
              </p:cNvPr>
              <p:cNvSpPr txBox="1"/>
              <p:nvPr/>
            </p:nvSpPr>
            <p:spPr>
              <a:xfrm>
                <a:off x="839195" y="4047903"/>
                <a:ext cx="1694759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634D79-E003-462A-AEA4-1897985FB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95" y="4047903"/>
                <a:ext cx="1694759" cy="5231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86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D1673-F84F-45BC-8EF4-A52FA29B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ROC curve and AUC</a:t>
            </a:r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DAF3CDEF-6BD9-4993-809E-2D91327883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24" y="1825625"/>
            <a:ext cx="4565751" cy="435133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B9BF24-026E-44CD-A83E-6101DD448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0F55794-A8B2-494D-A7D8-23F2D72761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123" y="1825625"/>
            <a:ext cx="5107753" cy="4158080"/>
          </a:xfrm>
        </p:spPr>
      </p:pic>
    </p:spTree>
    <p:extLst>
      <p:ext uri="{BB962C8B-B14F-4D97-AF65-F5344CB8AC3E}">
        <p14:creationId xmlns:p14="http://schemas.microsoft.com/office/powerpoint/2010/main" val="3851199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55E0A-424F-4FEA-B3AC-38DD2946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evaluate classification problems</a:t>
            </a:r>
            <a:br>
              <a:rPr lang="en-US" altLang="ko-KR" dirty="0"/>
            </a:br>
            <a:r>
              <a:rPr lang="en-US" altLang="ko-KR" sz="2400" dirty="0"/>
              <a:t>ROC curve and AUC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07E50B3E-1FEB-43B1-8600-05C8F73FA4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5338768"/>
            <a:ext cx="3446858" cy="420348"/>
          </a:xfr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E4EEC15-5E50-4218-8A68-1791D16594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34681"/>
            <a:ext cx="5181600" cy="253322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642E9A-3CC3-4FCB-B4CE-9C8702B6A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77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42318-8497-458F-938E-1FB6E8A5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68" y="359664"/>
            <a:ext cx="10920663" cy="1325563"/>
          </a:xfrm>
        </p:spPr>
        <p:txBody>
          <a:bodyPr/>
          <a:lstStyle/>
          <a:p>
            <a:r>
              <a:rPr lang="en-US" altLang="ko-KR" dirty="0"/>
              <a:t>Evaluation method of Regression Problem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472F2CA-99F8-4A7E-B8BF-6BAF06FD57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22" y="2445738"/>
            <a:ext cx="5155555" cy="3111111"/>
          </a:xfr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064E08A-7A66-46BC-868E-554BE60DA8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957" y="1825625"/>
            <a:ext cx="4880086" cy="4158080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2F9427-2BFE-41D3-BB03-F5D3D908A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33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42318-8497-458F-938E-1FB6E8A5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68" y="359664"/>
            <a:ext cx="10920663" cy="1325563"/>
          </a:xfrm>
        </p:spPr>
        <p:txBody>
          <a:bodyPr/>
          <a:lstStyle/>
          <a:p>
            <a:r>
              <a:rPr lang="en-US" altLang="ko-KR" dirty="0"/>
              <a:t>Evaluation method of Regression Problem</a:t>
            </a:r>
            <a:br>
              <a:rPr lang="en-US" altLang="ko-KR" dirty="0"/>
            </a:br>
            <a:r>
              <a:rPr lang="en-US" altLang="ko-KR" sz="2400" dirty="0"/>
              <a:t>mean square error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2F9427-2BFE-41D3-BB03-F5D3D908A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14E901-57C0-4C9A-A6E3-1391AD2D69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mean square error is averaged after calculating both the square of error between the data to be evaluated and the predicted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smaller the mean square error, the more correct the prediction is.</a:t>
            </a:r>
          </a:p>
          <a:p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9B57E656-0E86-4FCB-8B65-141B979F46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335097"/>
          </a:xfr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5C15A00-D7BF-4DE1-8A7C-8C6886C58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160722"/>
            <a:ext cx="2089852" cy="39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85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42318-8497-458F-938E-1FB6E8A5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68" y="359664"/>
            <a:ext cx="10920663" cy="1325563"/>
          </a:xfrm>
        </p:spPr>
        <p:txBody>
          <a:bodyPr/>
          <a:lstStyle/>
          <a:p>
            <a:r>
              <a:rPr lang="en-US" altLang="ko-KR" dirty="0"/>
              <a:t>Evaluation method of Regression Problem</a:t>
            </a:r>
            <a:br>
              <a:rPr lang="en-US" altLang="ko-KR" dirty="0"/>
            </a:br>
            <a:r>
              <a:rPr lang="en-US" altLang="ko-KR" sz="2400" dirty="0"/>
              <a:t>coefficient of determination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2F9427-2BFE-41D3-BB03-F5D3D908A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14E901-57C0-4C9A-A6E3-1391AD2D69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usually appears as a value between 0.0 and 1.0.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error between the predicted value and the actual data is too large, it may be expressed as a negative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closer to 1.0, the more accurately the model represents the data point.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BAA3178-4050-48AA-B824-ED709198F9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2768095"/>
          </a:xfr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EBE54A6-AD3D-4888-A8E3-EBA2E4765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4593720"/>
            <a:ext cx="2119466" cy="3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73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929DD-9FAF-4013-9679-B80039A8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Compared to other algorithms</a:t>
            </a:r>
            <a:br>
              <a:rPr lang="en-US" altLang="ko-KR" dirty="0"/>
            </a:br>
            <a:r>
              <a:rPr lang="en-US" altLang="ko-KR" sz="2400" dirty="0"/>
              <a:t>difference between mean square error and coefficient of determination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8E59F8-591A-4FD0-8A66-68DBB6C9A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variance of the dependent variable is large, the mean square error is also large.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coefficient of determination may be expressed as a value between 0.0 and 1.0 without depending on the variance of the dependent variable.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8BED21-4C55-4A45-9728-6659F9F7C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27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929DD-9FAF-4013-9679-B80039A8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Compared to other algorithms</a:t>
            </a:r>
            <a:br>
              <a:rPr lang="en-US" altLang="ko-KR" dirty="0"/>
            </a:br>
            <a:r>
              <a:rPr lang="en-US" altLang="ko-KR" sz="2400" dirty="0"/>
              <a:t>difference with SVC and SVR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8E59F8-591A-4FD0-8A66-68DBB6C9A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SVC shall contain as few data points as possible in margin.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SVR should contain as many data points as possible in margin.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8BED21-4C55-4A45-9728-6659F9F7C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766DABB-C54D-4ED7-8055-95F76FA3C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1" y="3162539"/>
            <a:ext cx="5097379" cy="26189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11274FB-6287-468B-9896-18DA48061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25" y="2916482"/>
            <a:ext cx="5155555" cy="311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98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6CF22-3FB7-4971-AA7C-22722D798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Setting hyper parameter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D93FE-EA69-463E-B9E2-585B2CBCA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learning parameter is updated with the machine learning algorithm, but the hyperparameter must be set by the user before learning.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Failure to set appropriate hyperparameters results in poor model performance.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505251-CE4E-482F-89DA-13910B68F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3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42318-8497-458F-938E-1FB6E8A5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59664"/>
            <a:ext cx="10515600" cy="1325563"/>
          </a:xfrm>
        </p:spPr>
        <p:txBody>
          <a:bodyPr/>
          <a:lstStyle/>
          <a:p>
            <a:r>
              <a:rPr lang="en-US" altLang="ko-KR" dirty="0"/>
              <a:t>Setting hyper parameter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2F9427-2BFE-41D3-BB03-F5D3D908A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5850FFEA-6DDC-423F-989C-0550A26D69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3811"/>
            <a:ext cx="5181600" cy="2562418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6865ECA5-2CDB-4D9A-9A4A-9BAA83E9BF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3811"/>
            <a:ext cx="5181600" cy="2766357"/>
          </a:xfr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A80BEFF-B227-4FB4-9E90-79D4A66848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620168"/>
            <a:ext cx="1991219" cy="107011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AFD7BC4-9C86-4666-A65B-3A8010FF4A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37812"/>
            <a:ext cx="2374288" cy="71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63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BCF95-FB5D-4A29-8111-D465777E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Over-fitting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747E1-A9DA-4096-A67D-82533B557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phenomenon in which good prediction results are shown as learning data, but bad prediction results are shown as test data that are not used for learning is called overfitting.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model performance when using unknown data is called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generalization performance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Even if the mean square error is small when using the learning data, the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generalization performance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is low if it is an overfitting model.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CC7DE6-B23E-4F29-8AB1-68A833E05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25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BCF95-FB5D-4A29-8111-D465777E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Over-fitting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E9C5FE5-42CD-4595-A2CD-26F3D83DB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589" y="1690688"/>
            <a:ext cx="6792822" cy="3946498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CC7DE6-B23E-4F29-8AB1-68A833E05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5CBA7B-4E61-4828-BCB1-6FB7D6522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589" y="5637186"/>
            <a:ext cx="1854054" cy="56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71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AD6CD-907A-4D79-B8A1-453483E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to prevent over-fitting</a:t>
            </a:r>
            <a:br>
              <a:rPr lang="en-US" altLang="ko-KR" dirty="0"/>
            </a:br>
            <a:r>
              <a:rPr lang="en-US" altLang="ko-KR" sz="2400" dirty="0"/>
              <a:t>1. split training data and test data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09187EC-79A8-4F5F-A96B-03C17B744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430" y="1826826"/>
            <a:ext cx="8237139" cy="4161139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C9BA170-B87A-4BC5-8AA0-4340CFB75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3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AD6CD-907A-4D79-B8A1-453483E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to prevent over-fitting</a:t>
            </a:r>
            <a:br>
              <a:rPr lang="en-US" altLang="ko-KR" dirty="0"/>
            </a:br>
            <a:r>
              <a:rPr lang="en-US" altLang="ko-KR" sz="2400" dirty="0"/>
              <a:t>Models that use learning data and test data to learn with SVR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9BA170-B87A-4BC5-8AA0-4340CFB75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C469813-13E7-4656-A35D-3AE7EC444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315" y="1825625"/>
            <a:ext cx="4875370" cy="4351338"/>
          </a:xfrm>
        </p:spPr>
      </p:pic>
    </p:spTree>
    <p:extLst>
      <p:ext uri="{BB962C8B-B14F-4D97-AF65-F5344CB8AC3E}">
        <p14:creationId xmlns:p14="http://schemas.microsoft.com/office/powerpoint/2010/main" val="3099701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AD6CD-907A-4D79-B8A1-453483E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to prevent over-fitting</a:t>
            </a:r>
            <a:br>
              <a:rPr lang="en-US" altLang="ko-KR" dirty="0"/>
            </a:br>
            <a:r>
              <a:rPr lang="en-US" altLang="ko-KR" sz="2400" dirty="0"/>
              <a:t>Models that use learning data and test data to learn with RFC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9BA170-B87A-4BC5-8AA0-4340CFB75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C7D5E12-1C0B-4331-87E2-7DCA3C65A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262" y="1825625"/>
            <a:ext cx="5427475" cy="4351338"/>
          </a:xfrm>
        </p:spPr>
      </p:pic>
    </p:spTree>
    <p:extLst>
      <p:ext uri="{BB962C8B-B14F-4D97-AF65-F5344CB8AC3E}">
        <p14:creationId xmlns:p14="http://schemas.microsoft.com/office/powerpoint/2010/main" val="4144988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AD6CD-907A-4D79-B8A1-453483E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to prevent over-fitting</a:t>
            </a:r>
            <a:br>
              <a:rPr lang="en-US" altLang="ko-KR" dirty="0"/>
            </a:br>
            <a:r>
              <a:rPr lang="en-US" altLang="ko-KR" sz="2400" dirty="0"/>
              <a:t>Cross Validation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9BA170-B87A-4BC5-8AA0-4340CFB75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26A95E8-75BE-48FA-B923-4B7E514E6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047" y="1825625"/>
            <a:ext cx="9715906" cy="4351338"/>
          </a:xfrm>
        </p:spPr>
      </p:pic>
    </p:spTree>
    <p:extLst>
      <p:ext uri="{BB962C8B-B14F-4D97-AF65-F5344CB8AC3E}">
        <p14:creationId xmlns:p14="http://schemas.microsoft.com/office/powerpoint/2010/main" val="1556334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AD6CD-907A-4D79-B8A1-453483E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Ways to prevent over-fitting</a:t>
            </a:r>
            <a:br>
              <a:rPr lang="en-US" altLang="ko-KR" dirty="0"/>
            </a:br>
            <a:r>
              <a:rPr lang="en-US" altLang="ko-KR" sz="2400" dirty="0"/>
              <a:t>Cross Validation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9BA170-B87A-4BC5-8AA0-4340CFB75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07DFF65-445E-439B-AC66-6666346DB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363" y="1677514"/>
            <a:ext cx="8707273" cy="4251269"/>
          </a:xfr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37A92C-EB8C-43EF-8402-563BE402F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363" y="5928813"/>
            <a:ext cx="5489279" cy="56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70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AD6CD-907A-4D79-B8A1-453483E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Searching hyper parameter</a:t>
            </a:r>
            <a:br>
              <a:rPr lang="en-US" altLang="ko-KR" dirty="0"/>
            </a:br>
            <a:r>
              <a:rPr lang="en-US" altLang="ko-KR" sz="2400" dirty="0"/>
              <a:t>greed search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9BA170-B87A-4BC5-8AA0-4340CFB75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98D5918-3508-4CC6-98E8-B44B1E59B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287" y="1867396"/>
            <a:ext cx="3591426" cy="4267796"/>
          </a:xfrm>
        </p:spPr>
      </p:pic>
    </p:spTree>
    <p:extLst>
      <p:ext uri="{BB962C8B-B14F-4D97-AF65-F5344CB8AC3E}">
        <p14:creationId xmlns:p14="http://schemas.microsoft.com/office/powerpoint/2010/main" val="4121236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AD6CD-907A-4D79-B8A1-453483E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Searching hyper parameter</a:t>
            </a:r>
            <a:br>
              <a:rPr lang="en-US" altLang="ko-KR" dirty="0"/>
            </a:br>
            <a:r>
              <a:rPr lang="en-US" altLang="ko-KR" sz="2400" dirty="0"/>
              <a:t>greed search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9BA170-B87A-4BC5-8AA0-4340CFB75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661F7C2-53C1-4448-9960-9DF4112E0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399" y="1797329"/>
            <a:ext cx="7013201" cy="4114411"/>
          </a:xfr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76DF612-6E6C-4361-96BC-83CE9B02F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398" y="5918118"/>
            <a:ext cx="3850873" cy="57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820</Words>
  <Application>Microsoft Office PowerPoint</Application>
  <PresentationFormat>와이드스크린</PresentationFormat>
  <Paragraphs>81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Helvetica Neue</vt:lpstr>
      <vt:lpstr>맑은 고딕</vt:lpstr>
      <vt:lpstr>Arial</vt:lpstr>
      <vt:lpstr>Cambria Math</vt:lpstr>
      <vt:lpstr>Office 테마</vt:lpstr>
      <vt:lpstr>Evaluation Method and Data Preprocessing</vt:lpstr>
      <vt:lpstr>Ways to evaluate supervised learning</vt:lpstr>
      <vt:lpstr>How to evaluate classification problems Data preprocessing</vt:lpstr>
      <vt:lpstr>How to evaluate classification problems Confusion Matrix</vt:lpstr>
      <vt:lpstr>How to evaluate classification problems accuracy</vt:lpstr>
      <vt:lpstr>How to evaluate classification problems precision</vt:lpstr>
      <vt:lpstr>How to evaluate classification problems recall</vt:lpstr>
      <vt:lpstr>How to evaluate classification problems F1-score</vt:lpstr>
      <vt:lpstr>How to evaluate classification problems accuracy</vt:lpstr>
      <vt:lpstr>How to evaluate classification problems precision</vt:lpstr>
      <vt:lpstr>How to evaluate classification problems recall</vt:lpstr>
      <vt:lpstr>How to evaluate classification problems F1-score</vt:lpstr>
      <vt:lpstr>How to evaluate classification problems prediction probability</vt:lpstr>
      <vt:lpstr>How to evaluate classification problems ROC curve and AUC</vt:lpstr>
      <vt:lpstr>How to evaluate classification problems ROC curve and AUC</vt:lpstr>
      <vt:lpstr>How to evaluate classification problems ROC curve and AUC</vt:lpstr>
      <vt:lpstr>How to evaluate classification problems ROC curve and AUC</vt:lpstr>
      <vt:lpstr>Evaluation method of Regression Problem</vt:lpstr>
      <vt:lpstr>Evaluation method of Regression Problem mean square error</vt:lpstr>
      <vt:lpstr>Evaluation method of Regression Problem coefficient of determination</vt:lpstr>
      <vt:lpstr>Compared to other algorithms difference between mean square error and coefficient of determination</vt:lpstr>
      <vt:lpstr>Compared to other algorithms difference with SVC and SVR</vt:lpstr>
      <vt:lpstr>Setting hyper parameter</vt:lpstr>
      <vt:lpstr>Setting hyper parameter</vt:lpstr>
      <vt:lpstr>Over-fitting</vt:lpstr>
      <vt:lpstr>Over-fitting</vt:lpstr>
      <vt:lpstr>Ways to prevent over-fitting 1. split training data and test data</vt:lpstr>
      <vt:lpstr>Ways to prevent over-fitting Models that use learning data and test data to learn with SVR</vt:lpstr>
      <vt:lpstr>Ways to prevent over-fitting Models that use learning data and test data to learn with RFC</vt:lpstr>
      <vt:lpstr>Ways to prevent over-fitting Cross Validation</vt:lpstr>
      <vt:lpstr>Ways to prevent over-fitting Cross Validation</vt:lpstr>
      <vt:lpstr>Searching hyper parameter greed search</vt:lpstr>
      <vt:lpstr>Searching hyper parameter greed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37</cp:revision>
  <dcterms:created xsi:type="dcterms:W3CDTF">2022-04-12T08:23:50Z</dcterms:created>
  <dcterms:modified xsi:type="dcterms:W3CDTF">2022-04-13T04:56:18Z</dcterms:modified>
</cp:coreProperties>
</file>