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5" r:id="rId10"/>
    <p:sldId id="266" r:id="rId11"/>
    <p:sldId id="267" r:id="rId12"/>
    <p:sldId id="269" r:id="rId13"/>
    <p:sldId id="268" r:id="rId14"/>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73E645E-E2A4-4C06-A95F-CE6822496B6D}"/>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A0079BBF-A226-40E2-81EA-427D89358D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4D0FA0E9-BA33-4BAD-89EC-11D9A0E5B828}"/>
              </a:ext>
            </a:extLst>
          </p:cNvPr>
          <p:cNvSpPr>
            <a:spLocks noGrp="1"/>
          </p:cNvSpPr>
          <p:nvPr>
            <p:ph type="dt" sz="half" idx="10"/>
          </p:nvPr>
        </p:nvSpPr>
        <p:spPr/>
        <p:txBody>
          <a:bodyPr/>
          <a:lstStyle/>
          <a:p>
            <a:fld id="{E3FC4A22-71F5-486E-8512-5F9DA9676D58}" type="datetimeFigureOut">
              <a:rPr lang="ko-KR" altLang="en-US" smtClean="0"/>
              <a:t>2022-04-11</a:t>
            </a:fld>
            <a:endParaRPr lang="ko-KR" altLang="en-US"/>
          </a:p>
        </p:txBody>
      </p:sp>
      <p:sp>
        <p:nvSpPr>
          <p:cNvPr id="5" name="바닥글 개체 틀 4">
            <a:extLst>
              <a:ext uri="{FF2B5EF4-FFF2-40B4-BE49-F238E27FC236}">
                <a16:creationId xmlns:a16="http://schemas.microsoft.com/office/drawing/2014/main" id="{522CDDC1-04D8-4DE1-B4F8-61BA02F30B4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43618C9-FD19-4A5B-BFA3-E65AA38636B5}"/>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920730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FAE3C4C-8505-4C6E-A362-D56753125F2C}"/>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CBE43865-9094-45AB-AA41-8FA726760A37}"/>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69AC607-01E8-4774-AF93-B3DE7374F0D2}"/>
              </a:ext>
            </a:extLst>
          </p:cNvPr>
          <p:cNvSpPr>
            <a:spLocks noGrp="1"/>
          </p:cNvSpPr>
          <p:nvPr>
            <p:ph type="dt" sz="half" idx="10"/>
          </p:nvPr>
        </p:nvSpPr>
        <p:spPr/>
        <p:txBody>
          <a:bodyPr/>
          <a:lstStyle/>
          <a:p>
            <a:fld id="{E3FC4A22-71F5-486E-8512-5F9DA9676D58}" type="datetimeFigureOut">
              <a:rPr lang="ko-KR" altLang="en-US" smtClean="0"/>
              <a:t>2022-04-11</a:t>
            </a:fld>
            <a:endParaRPr lang="ko-KR" altLang="en-US"/>
          </a:p>
        </p:txBody>
      </p:sp>
      <p:sp>
        <p:nvSpPr>
          <p:cNvPr id="5" name="바닥글 개체 틀 4">
            <a:extLst>
              <a:ext uri="{FF2B5EF4-FFF2-40B4-BE49-F238E27FC236}">
                <a16:creationId xmlns:a16="http://schemas.microsoft.com/office/drawing/2014/main" id="{1A77C115-1834-43BE-9423-AD98CB13DC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C01FF4E-753C-48D0-821D-370D8E787806}"/>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8280539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51FF101-27A1-4E8C-85C7-68899664D6DD}"/>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1234B4C-03C4-4FFD-9186-09D6C9B6C7C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B10198C0-3733-499D-9CB5-5DD412D64527}"/>
              </a:ext>
            </a:extLst>
          </p:cNvPr>
          <p:cNvSpPr>
            <a:spLocks noGrp="1"/>
          </p:cNvSpPr>
          <p:nvPr>
            <p:ph type="dt" sz="half" idx="10"/>
          </p:nvPr>
        </p:nvSpPr>
        <p:spPr/>
        <p:txBody>
          <a:bodyPr/>
          <a:lstStyle/>
          <a:p>
            <a:fld id="{E3FC4A22-71F5-486E-8512-5F9DA9676D58}" type="datetimeFigureOut">
              <a:rPr lang="ko-KR" altLang="en-US" smtClean="0"/>
              <a:t>2022-04-11</a:t>
            </a:fld>
            <a:endParaRPr lang="ko-KR" altLang="en-US"/>
          </a:p>
        </p:txBody>
      </p:sp>
      <p:sp>
        <p:nvSpPr>
          <p:cNvPr id="5" name="바닥글 개체 틀 4">
            <a:extLst>
              <a:ext uri="{FF2B5EF4-FFF2-40B4-BE49-F238E27FC236}">
                <a16:creationId xmlns:a16="http://schemas.microsoft.com/office/drawing/2014/main" id="{AD050F9E-ED34-4A97-84CA-D5244AC56BC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057A787-EC40-46A6-AC4A-DD95E10A0EA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28338937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D17DE68-3C24-4BE5-BFE3-381D3C4CF9DF}"/>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252A226-DFD3-4EA3-BC62-E859A91BA7F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1827AF3-5E43-4A52-9F31-57B777505D3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FFF54CF4-D7DC-45C0-8004-393BA99CC241}"/>
              </a:ext>
            </a:extLst>
          </p:cNvPr>
          <p:cNvSpPr>
            <a:spLocks noGrp="1"/>
          </p:cNvSpPr>
          <p:nvPr>
            <p:ph type="dt" sz="half" idx="10"/>
          </p:nvPr>
        </p:nvSpPr>
        <p:spPr/>
        <p:txBody>
          <a:bodyPr/>
          <a:lstStyle/>
          <a:p>
            <a:fld id="{E3FC4A22-71F5-486E-8512-5F9DA9676D58}" type="datetimeFigureOut">
              <a:rPr lang="ko-KR" altLang="en-US" smtClean="0"/>
              <a:t>2022-04-11</a:t>
            </a:fld>
            <a:endParaRPr lang="ko-KR" altLang="en-US"/>
          </a:p>
        </p:txBody>
      </p:sp>
      <p:sp>
        <p:nvSpPr>
          <p:cNvPr id="6" name="바닥글 개체 틀 5">
            <a:extLst>
              <a:ext uri="{FF2B5EF4-FFF2-40B4-BE49-F238E27FC236}">
                <a16:creationId xmlns:a16="http://schemas.microsoft.com/office/drawing/2014/main" id="{7B81A39E-1513-4174-BC18-864B32E4897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379A0BF-5805-4CA7-8E67-B9420BC02B44}"/>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33476636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0CDEAB-689A-4ACE-B6D9-6C4DF0652D04}"/>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5044452-286C-4926-9380-5E487CA94C4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1C8D03A7-EDAF-44F0-BB3F-5A1B0915532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4E9E2D91-AFE1-4F73-B58B-428B1B24E8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C4387DDF-2BBA-40AD-9007-AB985383F7D1}"/>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423BBCFF-B7DA-44B4-A5B4-6959D1BBD221}"/>
              </a:ext>
            </a:extLst>
          </p:cNvPr>
          <p:cNvSpPr>
            <a:spLocks noGrp="1"/>
          </p:cNvSpPr>
          <p:nvPr>
            <p:ph type="dt" sz="half" idx="10"/>
          </p:nvPr>
        </p:nvSpPr>
        <p:spPr/>
        <p:txBody>
          <a:bodyPr/>
          <a:lstStyle/>
          <a:p>
            <a:fld id="{E3FC4A22-71F5-486E-8512-5F9DA9676D58}" type="datetimeFigureOut">
              <a:rPr lang="ko-KR" altLang="en-US" smtClean="0"/>
              <a:t>2022-04-11</a:t>
            </a:fld>
            <a:endParaRPr lang="ko-KR" altLang="en-US"/>
          </a:p>
        </p:txBody>
      </p:sp>
      <p:sp>
        <p:nvSpPr>
          <p:cNvPr id="8" name="바닥글 개체 틀 7">
            <a:extLst>
              <a:ext uri="{FF2B5EF4-FFF2-40B4-BE49-F238E27FC236}">
                <a16:creationId xmlns:a16="http://schemas.microsoft.com/office/drawing/2014/main" id="{F3E4E16E-7770-40A5-A580-25F6C451658A}"/>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10D19EA8-327B-41D8-98E9-9AA220747E8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425030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7860477-B01A-49B5-90EC-F4169A615FCD}"/>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0ACBC916-D33C-4D23-9CA6-F68702CC917D}"/>
              </a:ext>
            </a:extLst>
          </p:cNvPr>
          <p:cNvSpPr>
            <a:spLocks noGrp="1"/>
          </p:cNvSpPr>
          <p:nvPr>
            <p:ph type="dt" sz="half" idx="10"/>
          </p:nvPr>
        </p:nvSpPr>
        <p:spPr/>
        <p:txBody>
          <a:bodyPr/>
          <a:lstStyle/>
          <a:p>
            <a:fld id="{E3FC4A22-71F5-486E-8512-5F9DA9676D58}" type="datetimeFigureOut">
              <a:rPr lang="ko-KR" altLang="en-US" smtClean="0"/>
              <a:t>2022-04-11</a:t>
            </a:fld>
            <a:endParaRPr lang="ko-KR" altLang="en-US"/>
          </a:p>
        </p:txBody>
      </p:sp>
      <p:sp>
        <p:nvSpPr>
          <p:cNvPr id="4" name="바닥글 개체 틀 3">
            <a:extLst>
              <a:ext uri="{FF2B5EF4-FFF2-40B4-BE49-F238E27FC236}">
                <a16:creationId xmlns:a16="http://schemas.microsoft.com/office/drawing/2014/main" id="{FBADF844-6D77-4E25-A802-89461F9D5F2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4864353A-46E4-4740-9360-A25B7E3776C0}"/>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456145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9BBEAEB9-C336-4DF5-B7D9-14AA04BB6380}"/>
              </a:ext>
            </a:extLst>
          </p:cNvPr>
          <p:cNvSpPr>
            <a:spLocks noGrp="1"/>
          </p:cNvSpPr>
          <p:nvPr>
            <p:ph type="dt" sz="half" idx="10"/>
          </p:nvPr>
        </p:nvSpPr>
        <p:spPr/>
        <p:txBody>
          <a:bodyPr/>
          <a:lstStyle/>
          <a:p>
            <a:fld id="{E3FC4A22-71F5-486E-8512-5F9DA9676D58}" type="datetimeFigureOut">
              <a:rPr lang="ko-KR" altLang="en-US" smtClean="0"/>
              <a:t>2022-04-11</a:t>
            </a:fld>
            <a:endParaRPr lang="ko-KR" altLang="en-US"/>
          </a:p>
        </p:txBody>
      </p:sp>
      <p:sp>
        <p:nvSpPr>
          <p:cNvPr id="3" name="바닥글 개체 틀 2">
            <a:extLst>
              <a:ext uri="{FF2B5EF4-FFF2-40B4-BE49-F238E27FC236}">
                <a16:creationId xmlns:a16="http://schemas.microsoft.com/office/drawing/2014/main" id="{B12C234D-3E17-4951-BECE-4EE0DBDAE8B0}"/>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0BA5109-ECCA-4C46-B233-5246697ADD37}"/>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9738393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FDFA3AF-5D4A-4BA9-B7A7-1B8F69077B62}"/>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8FC5C61-9712-411F-992D-C7B2F12155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BE269CE8-DE45-43B8-BEEE-1A601D33FF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5622817-716C-4426-8A21-1E469CB036F0}"/>
              </a:ext>
            </a:extLst>
          </p:cNvPr>
          <p:cNvSpPr>
            <a:spLocks noGrp="1"/>
          </p:cNvSpPr>
          <p:nvPr>
            <p:ph type="dt" sz="half" idx="10"/>
          </p:nvPr>
        </p:nvSpPr>
        <p:spPr/>
        <p:txBody>
          <a:bodyPr/>
          <a:lstStyle/>
          <a:p>
            <a:fld id="{E3FC4A22-71F5-486E-8512-5F9DA9676D58}" type="datetimeFigureOut">
              <a:rPr lang="ko-KR" altLang="en-US" smtClean="0"/>
              <a:t>2022-04-11</a:t>
            </a:fld>
            <a:endParaRPr lang="ko-KR" altLang="en-US"/>
          </a:p>
        </p:txBody>
      </p:sp>
      <p:sp>
        <p:nvSpPr>
          <p:cNvPr id="6" name="바닥글 개체 틀 5">
            <a:extLst>
              <a:ext uri="{FF2B5EF4-FFF2-40B4-BE49-F238E27FC236}">
                <a16:creationId xmlns:a16="http://schemas.microsoft.com/office/drawing/2014/main" id="{15B4180C-34AF-4B70-8B97-9D057E29B78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DB4501E-F127-44AB-B726-7CF75BACBF42}"/>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24706930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88E562A-DC21-4028-84CA-FC52E6AA2091}"/>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33309AA0-D846-4EFD-BD12-85A307E797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FD3FE0F-F1D7-41F3-A0FA-197B900490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A2019DBD-BCBE-4B1F-BD8B-73E945722E1B}"/>
              </a:ext>
            </a:extLst>
          </p:cNvPr>
          <p:cNvSpPr>
            <a:spLocks noGrp="1"/>
          </p:cNvSpPr>
          <p:nvPr>
            <p:ph type="dt" sz="half" idx="10"/>
          </p:nvPr>
        </p:nvSpPr>
        <p:spPr/>
        <p:txBody>
          <a:bodyPr/>
          <a:lstStyle/>
          <a:p>
            <a:fld id="{E3FC4A22-71F5-486E-8512-5F9DA9676D58}" type="datetimeFigureOut">
              <a:rPr lang="ko-KR" altLang="en-US" smtClean="0"/>
              <a:t>2022-04-11</a:t>
            </a:fld>
            <a:endParaRPr lang="ko-KR" altLang="en-US"/>
          </a:p>
        </p:txBody>
      </p:sp>
      <p:sp>
        <p:nvSpPr>
          <p:cNvPr id="6" name="바닥글 개체 틀 5">
            <a:extLst>
              <a:ext uri="{FF2B5EF4-FFF2-40B4-BE49-F238E27FC236}">
                <a16:creationId xmlns:a16="http://schemas.microsoft.com/office/drawing/2014/main" id="{A7276515-BF87-48C2-97A4-9B33327DFF3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DAADEC0-8C7C-4224-B239-61B2A6DF340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5674916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44747E-496D-4E51-9C2F-41401B7735F9}"/>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D2909F39-D250-46AE-B081-54A9CA3AAB1E}"/>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AF4D27F-A7DF-497B-B76B-0B3F2CFD9891}"/>
              </a:ext>
            </a:extLst>
          </p:cNvPr>
          <p:cNvSpPr>
            <a:spLocks noGrp="1"/>
          </p:cNvSpPr>
          <p:nvPr>
            <p:ph type="dt" sz="half" idx="10"/>
          </p:nvPr>
        </p:nvSpPr>
        <p:spPr/>
        <p:txBody>
          <a:bodyPr/>
          <a:lstStyle/>
          <a:p>
            <a:fld id="{E3FC4A22-71F5-486E-8512-5F9DA9676D58}" type="datetimeFigureOut">
              <a:rPr lang="ko-KR" altLang="en-US" smtClean="0"/>
              <a:t>2022-04-11</a:t>
            </a:fld>
            <a:endParaRPr lang="ko-KR" altLang="en-US"/>
          </a:p>
        </p:txBody>
      </p:sp>
      <p:sp>
        <p:nvSpPr>
          <p:cNvPr id="5" name="바닥글 개체 틀 4">
            <a:extLst>
              <a:ext uri="{FF2B5EF4-FFF2-40B4-BE49-F238E27FC236}">
                <a16:creationId xmlns:a16="http://schemas.microsoft.com/office/drawing/2014/main" id="{20170295-3126-4DAC-A692-30CED232B3A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3F795014-DB95-48D1-A262-2BD89356364F}"/>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4284767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924F7A76-5F2B-4241-A175-555D5E648234}"/>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00BC974-7677-4E8D-AFDD-E27FC9972203}"/>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6C1391F-FA79-4489-9D58-AC62C6C7C6DF}"/>
              </a:ext>
            </a:extLst>
          </p:cNvPr>
          <p:cNvSpPr>
            <a:spLocks noGrp="1"/>
          </p:cNvSpPr>
          <p:nvPr>
            <p:ph type="dt" sz="half" idx="10"/>
          </p:nvPr>
        </p:nvSpPr>
        <p:spPr/>
        <p:txBody>
          <a:bodyPr/>
          <a:lstStyle/>
          <a:p>
            <a:fld id="{E3FC4A22-71F5-486E-8512-5F9DA9676D58}" type="datetimeFigureOut">
              <a:rPr lang="ko-KR" altLang="en-US" smtClean="0"/>
              <a:t>2022-04-11</a:t>
            </a:fld>
            <a:endParaRPr lang="ko-KR" altLang="en-US"/>
          </a:p>
        </p:txBody>
      </p:sp>
      <p:sp>
        <p:nvSpPr>
          <p:cNvPr id="5" name="바닥글 개체 틀 4">
            <a:extLst>
              <a:ext uri="{FF2B5EF4-FFF2-40B4-BE49-F238E27FC236}">
                <a16:creationId xmlns:a16="http://schemas.microsoft.com/office/drawing/2014/main" id="{3C29926F-69F2-47C1-B6B7-F4A6DAB1907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5537D-E309-46A2-AF64-813F2AABB393}"/>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8661594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E3DDD17B-2078-48CA-A9EA-F6D8B19A94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470B9EC-47BC-4286-9380-E0B7BAB87E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806479D-7F85-4998-9991-651C97177D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FC4A22-71F5-486E-8512-5F9DA9676D58}" type="datetimeFigureOut">
              <a:rPr lang="ko-KR" altLang="en-US" smtClean="0"/>
              <a:t>2022-04-11</a:t>
            </a:fld>
            <a:endParaRPr lang="ko-KR" altLang="en-US"/>
          </a:p>
        </p:txBody>
      </p:sp>
      <p:sp>
        <p:nvSpPr>
          <p:cNvPr id="5" name="바닥글 개체 틀 4">
            <a:extLst>
              <a:ext uri="{FF2B5EF4-FFF2-40B4-BE49-F238E27FC236}">
                <a16:creationId xmlns:a16="http://schemas.microsoft.com/office/drawing/2014/main" id="{74A49CC9-CCDE-48DE-9F48-C3483985E6B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72F9CE54-E664-427B-BA62-D6EAA49DAE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37687080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 Id="rId4" Type="http://schemas.openxmlformats.org/officeDocument/2006/relationships/image" Target="../media/image1.jpg"/></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CFAA1D-5FD8-438D-89D5-698B04A3F625}"/>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B1D55C0E-1524-43D0-867D-127EDEAD38B0}"/>
              </a:ext>
            </a:extLst>
          </p:cNvPr>
          <p:cNvSpPr>
            <a:spLocks noGrp="1"/>
          </p:cNvSpPr>
          <p:nvPr>
            <p:ph type="subTitle" idx="1"/>
          </p:nvPr>
        </p:nvSpPr>
        <p:spPr/>
        <p:txBody>
          <a:bodyPr/>
          <a:lstStyle/>
          <a:p>
            <a:r>
              <a:rPr lang="en-US" altLang="ko-KR" dirty="0"/>
              <a:t>Regularization</a:t>
            </a:r>
          </a:p>
        </p:txBody>
      </p:sp>
      <p:pic>
        <p:nvPicPr>
          <p:cNvPr id="4" name="그림 3">
            <a:extLst>
              <a:ext uri="{FF2B5EF4-FFF2-40B4-BE49-F238E27FC236}">
                <a16:creationId xmlns:a16="http://schemas.microsoft.com/office/drawing/2014/main" id="{DB150DA8-8111-4D76-BB62-D8DFB2258E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043497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r>
              <a:rPr lang="en-US" altLang="ko-KR" dirty="0"/>
              <a:t>Normalization is used as a way to prevent over-fitting of the model</a:t>
            </a:r>
          </a:p>
          <a:p>
            <a:r>
              <a:rPr lang="en-US" altLang="ko-KR" dirty="0"/>
              <a:t>In over-fitting, the error between the execution result and the correct answer data is very small, but the error between the result of executing the model with test data and the correct answer data is very large</a:t>
            </a:r>
            <a:endParaRPr lang="ko-KR" altLang="en-US" dirty="0"/>
          </a:p>
        </p:txBody>
      </p:sp>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279121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E29B7F-4E03-43C7-850F-72266A26D36C}"/>
              </a:ext>
            </a:extLst>
          </p:cNvPr>
          <p:cNvSpPr>
            <a:spLocks noGrp="1"/>
          </p:cNvSpPr>
          <p:nvPr>
            <p:ph type="title"/>
          </p:nvPr>
        </p:nvSpPr>
        <p:spPr/>
        <p:txBody>
          <a:bodyPr/>
          <a:lstStyle/>
          <a:p>
            <a:r>
              <a:rPr lang="en-US" altLang="ko-KR" dirty="0"/>
              <a:t>Fundamental concept</a:t>
            </a:r>
            <a:br>
              <a:rPr lang="en-US" altLang="ko-KR" dirty="0"/>
            </a:br>
            <a:r>
              <a:rPr lang="en-US" altLang="ko-KR" sz="2400" dirty="0"/>
              <a:t>making practice data</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3004C253-95F7-40CB-9025-032A70D4D9D8}"/>
                  </a:ext>
                </a:extLst>
              </p:cNvPr>
              <p:cNvSpPr>
                <a:spLocks noGrp="1"/>
              </p:cNvSpPr>
              <p:nvPr>
                <p:ph sz="half" idx="1"/>
              </p:nvPr>
            </p:nvSpPr>
            <p:spPr/>
            <p:txBody>
              <a:bodyPr/>
              <a:lstStyle/>
              <a:p>
                <a:r>
                  <a:rPr lang="en-US" altLang="ko-KR" b="0" i="0" dirty="0">
                    <a:solidFill>
                      <a:srgbClr val="000000"/>
                    </a:solidFill>
                    <a:effectLst/>
                  </a:rPr>
                  <a:t>We created data by adding random numbers to the function </a:t>
                </a:r>
                <a14:m>
                  <m:oMath xmlns:m="http://schemas.openxmlformats.org/officeDocument/2006/math">
                    <m:r>
                      <a:rPr lang="en-US" altLang="ko-KR" b="0" i="1" smtClean="0">
                        <a:solidFill>
                          <a:srgbClr val="000000"/>
                        </a:solidFill>
                        <a:effectLst/>
                        <a:latin typeface="Cambria Math" panose="02040503050406030204" pitchFamily="18" charset="0"/>
                      </a:rPr>
                      <m:t>𝑦</m:t>
                    </m:r>
                    <m:r>
                      <a:rPr lang="en-US" altLang="ko-KR" b="0" i="1" smtClean="0">
                        <a:solidFill>
                          <a:srgbClr val="000000"/>
                        </a:solidFill>
                        <a:effectLst/>
                        <a:latin typeface="Cambria Math" panose="02040503050406030204" pitchFamily="18" charset="0"/>
                      </a:rPr>
                      <m:t>=</m:t>
                    </m:r>
                    <m:func>
                      <m:funcPr>
                        <m:ctrlPr>
                          <a:rPr lang="en-US" altLang="ko-KR" b="0" i="1" smtClean="0">
                            <a:solidFill>
                              <a:srgbClr val="000000"/>
                            </a:solidFill>
                            <a:effectLst/>
                            <a:latin typeface="Cambria Math" panose="02040503050406030204" pitchFamily="18" charset="0"/>
                          </a:rPr>
                        </m:ctrlPr>
                      </m:funcPr>
                      <m:fName>
                        <m:r>
                          <m:rPr>
                            <m:sty m:val="p"/>
                          </m:rPr>
                          <a:rPr lang="en-US" altLang="ko-KR" b="0" i="1" smtClean="0">
                            <a:solidFill>
                              <a:srgbClr val="000000"/>
                            </a:solidFill>
                            <a:effectLst/>
                            <a:latin typeface="Cambria Math" panose="02040503050406030204" pitchFamily="18" charset="0"/>
                          </a:rPr>
                          <m:t>sin</m:t>
                        </m:r>
                      </m:fName>
                      <m:e>
                        <m:d>
                          <m:dPr>
                            <m:ctrlPr>
                              <a:rPr lang="en-US" altLang="ko-KR" b="0" i="1" smtClean="0">
                                <a:solidFill>
                                  <a:srgbClr val="000000"/>
                                </a:solidFill>
                                <a:effectLst/>
                                <a:latin typeface="Cambria Math" panose="02040503050406030204" pitchFamily="18" charset="0"/>
                              </a:rPr>
                            </m:ctrlPr>
                          </m:dPr>
                          <m:e>
                            <m:r>
                              <a:rPr lang="en-US" altLang="ko-KR" b="0" i="1" smtClean="0">
                                <a:solidFill>
                                  <a:srgbClr val="000000"/>
                                </a:solidFill>
                                <a:effectLst/>
                                <a:latin typeface="Cambria Math" panose="02040503050406030204" pitchFamily="18" charset="0"/>
                              </a:rPr>
                              <m:t>2</m:t>
                            </m:r>
                            <m:r>
                              <a:rPr lang="en-US" altLang="ko-KR" b="0" i="1" smtClean="0">
                                <a:solidFill>
                                  <a:srgbClr val="000000"/>
                                </a:solidFill>
                                <a:effectLst/>
                                <a:latin typeface="Cambria Math" panose="02040503050406030204" pitchFamily="18" charset="0"/>
                              </a:rPr>
                              <m:t>𝜋𝜒</m:t>
                            </m:r>
                          </m:e>
                        </m:d>
                      </m:e>
                    </m:func>
                  </m:oMath>
                </a14:m>
                <a:endParaRPr lang="en-US" altLang="ko-KR" dirty="0"/>
              </a:p>
              <a:p>
                <a:r>
                  <a:rPr lang="en-US" altLang="ko-KR" dirty="0"/>
                  <a:t>We’ll apply linear regression to this data to make it a machine learning model</a:t>
                </a:r>
              </a:p>
              <a:p>
                <a:r>
                  <a:rPr lang="en-US" altLang="ko-KR" dirty="0"/>
                  <a:t>When the order is increased, we’ll check how the learning error and test error change</a:t>
                </a:r>
                <a:endParaRPr lang="ko-KR" altLang="en-US" dirty="0"/>
              </a:p>
            </p:txBody>
          </p:sp>
        </mc:Choice>
        <mc:Fallback xmlns="">
          <p:sp>
            <p:nvSpPr>
              <p:cNvPr id="3" name="내용 개체 틀 2">
                <a:extLst>
                  <a:ext uri="{FF2B5EF4-FFF2-40B4-BE49-F238E27FC236}">
                    <a16:creationId xmlns:a16="http://schemas.microsoft.com/office/drawing/2014/main" id="{3004C253-95F7-40CB-9025-032A70D4D9D8}"/>
                  </a:ext>
                </a:extLst>
              </p:cNvPr>
              <p:cNvSpPr>
                <a:spLocks noGrp="1" noRot="1" noChangeAspect="1" noMove="1" noResize="1" noEditPoints="1" noAdjustHandles="1" noChangeArrowheads="1" noChangeShapeType="1" noTextEdit="1"/>
              </p:cNvSpPr>
              <p:nvPr>
                <p:ph sz="half" idx="1"/>
              </p:nvPr>
            </p:nvSpPr>
            <p:spPr>
              <a:blipFill>
                <a:blip r:embed="rId2"/>
                <a:stretch>
                  <a:fillRect l="-2118" t="-2381" r="-2000"/>
                </a:stretch>
              </a:blipFill>
            </p:spPr>
            <p:txBody>
              <a:bodyPr/>
              <a:lstStyle/>
              <a:p>
                <a:r>
                  <a:rPr lang="ko-KR" altLang="en-US">
                    <a:noFill/>
                  </a:rPr>
                  <a:t> </a:t>
                </a:r>
              </a:p>
            </p:txBody>
          </p:sp>
        </mc:Fallback>
      </mc:AlternateContent>
      <p:pic>
        <p:nvPicPr>
          <p:cNvPr id="7" name="내용 개체 틀 6">
            <a:extLst>
              <a:ext uri="{FF2B5EF4-FFF2-40B4-BE49-F238E27FC236}">
                <a16:creationId xmlns:a16="http://schemas.microsoft.com/office/drawing/2014/main" id="{03476510-8DD3-401E-8EF3-71CA8A78B9DD}"/>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2046273"/>
            <a:ext cx="5181600" cy="3910041"/>
          </a:xfrm>
        </p:spPr>
      </p:pic>
      <p:pic>
        <p:nvPicPr>
          <p:cNvPr id="5" name="그림 4">
            <a:extLst>
              <a:ext uri="{FF2B5EF4-FFF2-40B4-BE49-F238E27FC236}">
                <a16:creationId xmlns:a16="http://schemas.microsoft.com/office/drawing/2014/main" id="{308C5408-F85B-41D2-AD6C-AD7855A73A5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59676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1D5760-ADFE-475F-9A4D-3FABFABA8FEC}"/>
              </a:ext>
            </a:extLst>
          </p:cNvPr>
          <p:cNvSpPr>
            <a:spLocks noGrp="1"/>
          </p:cNvSpPr>
          <p:nvPr>
            <p:ph type="title"/>
          </p:nvPr>
        </p:nvSpPr>
        <p:spPr/>
        <p:txBody>
          <a:bodyPr/>
          <a:lstStyle/>
          <a:p>
            <a:r>
              <a:rPr lang="en-US" altLang="ko-KR" dirty="0"/>
              <a:t>Learning errors and test errors by order</a:t>
            </a:r>
            <a:endParaRPr lang="ko-KR" altLang="en-US" dirty="0"/>
          </a:p>
        </p:txBody>
      </p:sp>
      <p:sp>
        <p:nvSpPr>
          <p:cNvPr id="3" name="내용 개체 틀 2">
            <a:extLst>
              <a:ext uri="{FF2B5EF4-FFF2-40B4-BE49-F238E27FC236}">
                <a16:creationId xmlns:a16="http://schemas.microsoft.com/office/drawing/2014/main" id="{A05EA078-0B4E-4542-A0E3-73C078BCBEBC}"/>
              </a:ext>
            </a:extLst>
          </p:cNvPr>
          <p:cNvSpPr>
            <a:spLocks noGrp="1"/>
          </p:cNvSpPr>
          <p:nvPr>
            <p:ph sz="half" idx="1"/>
          </p:nvPr>
        </p:nvSpPr>
        <p:spPr/>
        <p:txBody>
          <a:bodyPr>
            <a:normAutofit lnSpcReduction="10000"/>
          </a:bodyPr>
          <a:lstStyle/>
          <a:p>
            <a:r>
              <a:rPr lang="en-US" altLang="ko-KR" dirty="0"/>
              <a:t>As</a:t>
            </a:r>
            <a:r>
              <a:rPr lang="ko-KR" altLang="en-US" dirty="0"/>
              <a:t> </a:t>
            </a:r>
            <a:r>
              <a:rPr lang="en-US" altLang="ko-KR" dirty="0"/>
              <a:t>the</a:t>
            </a:r>
            <a:r>
              <a:rPr lang="ko-KR" altLang="en-US" dirty="0"/>
              <a:t> </a:t>
            </a:r>
            <a:r>
              <a:rPr lang="en-US" altLang="ko-KR" dirty="0"/>
              <a:t>order</a:t>
            </a:r>
            <a:r>
              <a:rPr lang="ko-KR" altLang="en-US" dirty="0"/>
              <a:t> </a:t>
            </a:r>
            <a:r>
              <a:rPr lang="en-US" altLang="ko-KR" dirty="0"/>
              <a:t>increases,</a:t>
            </a:r>
            <a:r>
              <a:rPr lang="ko-KR" altLang="en-US" dirty="0"/>
              <a:t> </a:t>
            </a:r>
            <a:r>
              <a:rPr lang="en-US" altLang="ko-KR" dirty="0"/>
              <a:t>the</a:t>
            </a:r>
            <a:r>
              <a:rPr lang="ko-KR" altLang="en-US" dirty="0"/>
              <a:t> </a:t>
            </a:r>
            <a:r>
              <a:rPr lang="en-US" altLang="ko-KR" dirty="0"/>
              <a:t>learning</a:t>
            </a:r>
            <a:r>
              <a:rPr lang="ko-KR" altLang="en-US" dirty="0"/>
              <a:t> </a:t>
            </a:r>
            <a:r>
              <a:rPr lang="en-US" altLang="ko-KR" dirty="0"/>
              <a:t>error</a:t>
            </a:r>
            <a:r>
              <a:rPr lang="ko-KR" altLang="en-US" dirty="0"/>
              <a:t> </a:t>
            </a:r>
            <a:r>
              <a:rPr lang="en-US" altLang="ko-KR" dirty="0"/>
              <a:t>gradually</a:t>
            </a:r>
            <a:r>
              <a:rPr lang="ko-KR" altLang="en-US" dirty="0"/>
              <a:t> </a:t>
            </a:r>
            <a:r>
              <a:rPr lang="en-US" altLang="ko-KR" dirty="0"/>
              <a:t>decreases</a:t>
            </a:r>
          </a:p>
          <a:p>
            <a:r>
              <a:rPr lang="en-US" altLang="ko-KR" dirty="0"/>
              <a:t>The test error increases as the order increases</a:t>
            </a:r>
          </a:p>
          <a:p>
            <a:r>
              <a:rPr lang="en-US" altLang="ko-KR" b="0" i="0" dirty="0">
                <a:solidFill>
                  <a:srgbClr val="000000"/>
                </a:solidFill>
                <a:effectLst/>
              </a:rPr>
              <a:t>The sixth-order linear regression is a complex model, so learning errors are reduced, but over-fitting occurs and cannot be called a generalized model.</a:t>
            </a:r>
            <a:endParaRPr lang="ko-KR" altLang="en-US" dirty="0"/>
          </a:p>
        </p:txBody>
      </p:sp>
      <p:graphicFrame>
        <p:nvGraphicFramePr>
          <p:cNvPr id="6" name="표 6">
            <a:extLst>
              <a:ext uri="{FF2B5EF4-FFF2-40B4-BE49-F238E27FC236}">
                <a16:creationId xmlns:a16="http://schemas.microsoft.com/office/drawing/2014/main" id="{04AE283B-08F1-450E-A369-B3ECC640DD57}"/>
              </a:ext>
            </a:extLst>
          </p:cNvPr>
          <p:cNvGraphicFramePr>
            <a:graphicFrameLocks noGrp="1"/>
          </p:cNvGraphicFramePr>
          <p:nvPr>
            <p:ph sz="half" idx="2"/>
            <p:extLst>
              <p:ext uri="{D42A27DB-BD31-4B8C-83A1-F6EECF244321}">
                <p14:modId xmlns:p14="http://schemas.microsoft.com/office/powerpoint/2010/main" val="3624785141"/>
              </p:ext>
            </p:extLst>
          </p:nvPr>
        </p:nvGraphicFramePr>
        <p:xfrm>
          <a:off x="6172200" y="1825625"/>
          <a:ext cx="5181600" cy="222504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1787227801"/>
                    </a:ext>
                  </a:extLst>
                </a:gridCol>
                <a:gridCol w="1727200">
                  <a:extLst>
                    <a:ext uri="{9D8B030D-6E8A-4147-A177-3AD203B41FA5}">
                      <a16:colId xmlns:a16="http://schemas.microsoft.com/office/drawing/2014/main" val="2249092103"/>
                    </a:ext>
                  </a:extLst>
                </a:gridCol>
                <a:gridCol w="1727200">
                  <a:extLst>
                    <a:ext uri="{9D8B030D-6E8A-4147-A177-3AD203B41FA5}">
                      <a16:colId xmlns:a16="http://schemas.microsoft.com/office/drawing/2014/main" val="3287934465"/>
                    </a:ext>
                  </a:extLst>
                </a:gridCol>
              </a:tblGrid>
              <a:tr h="370840">
                <a:tc>
                  <a:txBody>
                    <a:bodyPr/>
                    <a:lstStyle/>
                    <a:p>
                      <a:pPr algn="ctr" latinLnBrk="1"/>
                      <a:r>
                        <a:rPr lang="ko-KR" altLang="en-US" dirty="0"/>
                        <a:t>차수</a:t>
                      </a:r>
                    </a:p>
                  </a:txBody>
                  <a:tcPr/>
                </a:tc>
                <a:tc>
                  <a:txBody>
                    <a:bodyPr/>
                    <a:lstStyle/>
                    <a:p>
                      <a:pPr algn="ctr" latinLnBrk="1"/>
                      <a:r>
                        <a:rPr lang="ko-KR" altLang="en-US" dirty="0"/>
                        <a:t>학습오차</a:t>
                      </a:r>
                    </a:p>
                  </a:txBody>
                  <a:tcPr/>
                </a:tc>
                <a:tc>
                  <a:txBody>
                    <a:bodyPr/>
                    <a:lstStyle/>
                    <a:p>
                      <a:pPr algn="ctr" latinLnBrk="1"/>
                      <a:r>
                        <a:rPr lang="ko-KR" altLang="en-US" dirty="0"/>
                        <a:t>검정오차</a:t>
                      </a:r>
                    </a:p>
                  </a:txBody>
                  <a:tcPr/>
                </a:tc>
                <a:extLst>
                  <a:ext uri="{0D108BD9-81ED-4DB2-BD59-A6C34878D82A}">
                    <a16:rowId xmlns:a16="http://schemas.microsoft.com/office/drawing/2014/main" val="742140173"/>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0.412</a:t>
                      </a:r>
                      <a:endParaRPr lang="ko-KR" altLang="en-US" dirty="0"/>
                    </a:p>
                  </a:txBody>
                  <a:tcPr/>
                </a:tc>
                <a:tc>
                  <a:txBody>
                    <a:bodyPr/>
                    <a:lstStyle/>
                    <a:p>
                      <a:pPr algn="ctr" latinLnBrk="1"/>
                      <a:r>
                        <a:rPr lang="en-US" altLang="ko-KR" dirty="0"/>
                        <a:t>0.618</a:t>
                      </a:r>
                      <a:endParaRPr lang="ko-KR" altLang="en-US" dirty="0"/>
                    </a:p>
                  </a:txBody>
                  <a:tcPr/>
                </a:tc>
                <a:extLst>
                  <a:ext uri="{0D108BD9-81ED-4DB2-BD59-A6C34878D82A}">
                    <a16:rowId xmlns:a16="http://schemas.microsoft.com/office/drawing/2014/main" val="2275523987"/>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0.176</a:t>
                      </a:r>
                      <a:endParaRPr lang="ko-KR" altLang="en-US" dirty="0"/>
                    </a:p>
                  </a:txBody>
                  <a:tcPr/>
                </a:tc>
                <a:tc>
                  <a:txBody>
                    <a:bodyPr/>
                    <a:lstStyle/>
                    <a:p>
                      <a:pPr algn="ctr" latinLnBrk="1"/>
                      <a:r>
                        <a:rPr lang="en-US" altLang="ko-KR" dirty="0"/>
                        <a:t>0.193</a:t>
                      </a:r>
                      <a:endParaRPr lang="ko-KR" altLang="en-US" dirty="0"/>
                    </a:p>
                  </a:txBody>
                  <a:tcPr/>
                </a:tc>
                <a:extLst>
                  <a:ext uri="{0D108BD9-81ED-4DB2-BD59-A6C34878D82A}">
                    <a16:rowId xmlns:a16="http://schemas.microsoft.com/office/drawing/2014/main" val="141107545"/>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0.081</a:t>
                      </a:r>
                      <a:endParaRPr lang="ko-KR" altLang="en-US" dirty="0"/>
                    </a:p>
                  </a:txBody>
                  <a:tcPr/>
                </a:tc>
                <a:tc>
                  <a:txBody>
                    <a:bodyPr/>
                    <a:lstStyle/>
                    <a:p>
                      <a:pPr algn="ctr" latinLnBrk="1"/>
                      <a:r>
                        <a:rPr lang="en-US" altLang="ko-KR" dirty="0"/>
                        <a:t>0.492</a:t>
                      </a:r>
                      <a:endParaRPr lang="ko-KR" altLang="en-US" dirty="0"/>
                    </a:p>
                  </a:txBody>
                  <a:tcPr/>
                </a:tc>
                <a:extLst>
                  <a:ext uri="{0D108BD9-81ED-4DB2-BD59-A6C34878D82A}">
                    <a16:rowId xmlns:a16="http://schemas.microsoft.com/office/drawing/2014/main" val="2784735164"/>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023213587"/>
                  </a:ext>
                </a:extLst>
              </a:tr>
              <a:tr h="370840">
                <a:tc>
                  <a:txBody>
                    <a:bodyPr/>
                    <a:lstStyle/>
                    <a:p>
                      <a:pPr algn="ctr" latinLnBrk="1"/>
                      <a:r>
                        <a:rPr lang="en-US" altLang="ko-KR" dirty="0"/>
                        <a:t>6</a:t>
                      </a:r>
                      <a:endParaRPr lang="ko-KR" altLang="en-US" dirty="0"/>
                    </a:p>
                  </a:txBody>
                  <a:tcPr/>
                </a:tc>
                <a:tc>
                  <a:txBody>
                    <a:bodyPr/>
                    <a:lstStyle/>
                    <a:p>
                      <a:pPr algn="ctr" latinLnBrk="1"/>
                      <a:r>
                        <a:rPr lang="en-US" altLang="ko-KR" dirty="0"/>
                        <a:t>0.024</a:t>
                      </a:r>
                      <a:endParaRPr lang="ko-KR" altLang="en-US" dirty="0"/>
                    </a:p>
                  </a:txBody>
                  <a:tcPr/>
                </a:tc>
                <a:tc>
                  <a:txBody>
                    <a:bodyPr/>
                    <a:lstStyle/>
                    <a:p>
                      <a:pPr algn="ctr" latinLnBrk="1"/>
                      <a:r>
                        <a:rPr lang="en-US" altLang="ko-KR" dirty="0"/>
                        <a:t>3.472</a:t>
                      </a:r>
                      <a:endParaRPr lang="ko-KR" altLang="en-US" dirty="0"/>
                    </a:p>
                  </a:txBody>
                  <a:tcPr/>
                </a:tc>
                <a:extLst>
                  <a:ext uri="{0D108BD9-81ED-4DB2-BD59-A6C34878D82A}">
                    <a16:rowId xmlns:a16="http://schemas.microsoft.com/office/drawing/2014/main" val="1208870466"/>
                  </a:ext>
                </a:extLst>
              </a:tr>
            </a:tbl>
          </a:graphicData>
        </a:graphic>
      </p:graphicFrame>
      <p:pic>
        <p:nvPicPr>
          <p:cNvPr id="5" name="그림 4">
            <a:extLst>
              <a:ext uri="{FF2B5EF4-FFF2-40B4-BE49-F238E27FC236}">
                <a16:creationId xmlns:a16="http://schemas.microsoft.com/office/drawing/2014/main" id="{DF68B9E3-0466-4F7A-A6A7-F1B9180B69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4785020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Consequences of using normalization for linear regression</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p:txBody>
          <a:bodyPr/>
          <a:lstStyle/>
          <a:p>
            <a:r>
              <a:rPr lang="en-US" altLang="ko-KR" b="0" i="0" dirty="0">
                <a:solidFill>
                  <a:srgbClr val="000000"/>
                </a:solidFill>
                <a:effectLst/>
              </a:rPr>
              <a:t>Normalization prevents over-fitting by adding a penalty term to the loss function</a:t>
            </a:r>
          </a:p>
          <a:p>
            <a:r>
              <a:rPr lang="en-US" altLang="ko-KR" b="0" i="0" dirty="0">
                <a:solidFill>
                  <a:srgbClr val="000000"/>
                </a:solidFill>
                <a:effectLst/>
              </a:rPr>
              <a:t>When the order increased, the test error did not increase, so that over-fitting could be prevented</a:t>
            </a:r>
          </a:p>
          <a:p>
            <a:r>
              <a:rPr lang="en-US" altLang="ko-KR" dirty="0">
                <a:solidFill>
                  <a:srgbClr val="000000"/>
                </a:solidFill>
              </a:rPr>
              <a:t>We’re going to regularization method as a ridge regression</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graphicFrame>
        <p:nvGraphicFramePr>
          <p:cNvPr id="8" name="표 6">
            <a:extLst>
              <a:ext uri="{FF2B5EF4-FFF2-40B4-BE49-F238E27FC236}">
                <a16:creationId xmlns:a16="http://schemas.microsoft.com/office/drawing/2014/main" id="{444CCF21-D6DC-4B60-959C-6D9BF1D03F02}"/>
              </a:ext>
            </a:extLst>
          </p:cNvPr>
          <p:cNvGraphicFramePr>
            <a:graphicFrameLocks noGrp="1"/>
          </p:cNvGraphicFramePr>
          <p:nvPr>
            <p:ph sz="half" idx="2"/>
            <p:extLst>
              <p:ext uri="{D42A27DB-BD31-4B8C-83A1-F6EECF244321}">
                <p14:modId xmlns:p14="http://schemas.microsoft.com/office/powerpoint/2010/main" val="3538857500"/>
              </p:ext>
            </p:extLst>
          </p:nvPr>
        </p:nvGraphicFramePr>
        <p:xfrm>
          <a:off x="6172200" y="1825625"/>
          <a:ext cx="5181600" cy="222504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1787227801"/>
                    </a:ext>
                  </a:extLst>
                </a:gridCol>
                <a:gridCol w="1727200">
                  <a:extLst>
                    <a:ext uri="{9D8B030D-6E8A-4147-A177-3AD203B41FA5}">
                      <a16:colId xmlns:a16="http://schemas.microsoft.com/office/drawing/2014/main" val="2249092103"/>
                    </a:ext>
                  </a:extLst>
                </a:gridCol>
                <a:gridCol w="1727200">
                  <a:extLst>
                    <a:ext uri="{9D8B030D-6E8A-4147-A177-3AD203B41FA5}">
                      <a16:colId xmlns:a16="http://schemas.microsoft.com/office/drawing/2014/main" val="3287934465"/>
                    </a:ext>
                  </a:extLst>
                </a:gridCol>
              </a:tblGrid>
              <a:tr h="370840">
                <a:tc>
                  <a:txBody>
                    <a:bodyPr/>
                    <a:lstStyle/>
                    <a:p>
                      <a:pPr algn="ctr" latinLnBrk="1"/>
                      <a:r>
                        <a:rPr lang="ko-KR" altLang="en-US" dirty="0"/>
                        <a:t>차수</a:t>
                      </a:r>
                    </a:p>
                  </a:txBody>
                  <a:tcPr/>
                </a:tc>
                <a:tc>
                  <a:txBody>
                    <a:bodyPr/>
                    <a:lstStyle/>
                    <a:p>
                      <a:pPr algn="ctr" latinLnBrk="1"/>
                      <a:r>
                        <a:rPr lang="ko-KR" altLang="en-US" dirty="0"/>
                        <a:t>학습오차</a:t>
                      </a:r>
                    </a:p>
                  </a:txBody>
                  <a:tcPr/>
                </a:tc>
                <a:tc>
                  <a:txBody>
                    <a:bodyPr/>
                    <a:lstStyle/>
                    <a:p>
                      <a:pPr algn="ctr" latinLnBrk="1"/>
                      <a:r>
                        <a:rPr lang="ko-KR" altLang="en-US" dirty="0"/>
                        <a:t>검정오차</a:t>
                      </a:r>
                    </a:p>
                  </a:txBody>
                  <a:tcPr/>
                </a:tc>
                <a:extLst>
                  <a:ext uri="{0D108BD9-81ED-4DB2-BD59-A6C34878D82A}">
                    <a16:rowId xmlns:a16="http://schemas.microsoft.com/office/drawing/2014/main" val="742140173"/>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0.412</a:t>
                      </a:r>
                      <a:endParaRPr lang="ko-KR" altLang="en-US" dirty="0"/>
                    </a:p>
                  </a:txBody>
                  <a:tcPr/>
                </a:tc>
                <a:tc>
                  <a:txBody>
                    <a:bodyPr/>
                    <a:lstStyle/>
                    <a:p>
                      <a:pPr algn="ctr" latinLnBrk="1"/>
                      <a:r>
                        <a:rPr lang="en-US" altLang="ko-KR" dirty="0"/>
                        <a:t>0.612</a:t>
                      </a:r>
                      <a:endParaRPr lang="ko-KR" altLang="en-US" dirty="0"/>
                    </a:p>
                  </a:txBody>
                  <a:tcPr/>
                </a:tc>
                <a:extLst>
                  <a:ext uri="{0D108BD9-81ED-4DB2-BD59-A6C34878D82A}">
                    <a16:rowId xmlns:a16="http://schemas.microsoft.com/office/drawing/2014/main" val="2275523987"/>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0.372</a:t>
                      </a:r>
                      <a:endParaRPr lang="ko-KR" altLang="en-US" dirty="0"/>
                    </a:p>
                  </a:txBody>
                  <a:tcPr/>
                </a:tc>
                <a:tc>
                  <a:txBody>
                    <a:bodyPr/>
                    <a:lstStyle/>
                    <a:p>
                      <a:pPr algn="ctr" latinLnBrk="1"/>
                      <a:r>
                        <a:rPr lang="en-US" altLang="ko-KR" dirty="0"/>
                        <a:t>0.532</a:t>
                      </a:r>
                      <a:endParaRPr lang="ko-KR" altLang="en-US" dirty="0"/>
                    </a:p>
                  </a:txBody>
                  <a:tcPr/>
                </a:tc>
                <a:extLst>
                  <a:ext uri="{0D108BD9-81ED-4DB2-BD59-A6C34878D82A}">
                    <a16:rowId xmlns:a16="http://schemas.microsoft.com/office/drawing/2014/main" val="141107545"/>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0.301</a:t>
                      </a:r>
                      <a:endParaRPr lang="ko-KR" altLang="en-US" dirty="0"/>
                    </a:p>
                  </a:txBody>
                  <a:tcPr/>
                </a:tc>
                <a:tc>
                  <a:txBody>
                    <a:bodyPr/>
                    <a:lstStyle/>
                    <a:p>
                      <a:pPr algn="ctr" latinLnBrk="1"/>
                      <a:r>
                        <a:rPr lang="en-US" altLang="ko-KR" dirty="0"/>
                        <a:t>0.394</a:t>
                      </a:r>
                      <a:endParaRPr lang="ko-KR" altLang="en-US" dirty="0"/>
                    </a:p>
                  </a:txBody>
                  <a:tcPr/>
                </a:tc>
                <a:extLst>
                  <a:ext uri="{0D108BD9-81ED-4DB2-BD59-A6C34878D82A}">
                    <a16:rowId xmlns:a16="http://schemas.microsoft.com/office/drawing/2014/main" val="2784735164"/>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023213587"/>
                  </a:ext>
                </a:extLst>
              </a:tr>
              <a:tr h="370840">
                <a:tc>
                  <a:txBody>
                    <a:bodyPr/>
                    <a:lstStyle/>
                    <a:p>
                      <a:pPr algn="ctr" latinLnBrk="1"/>
                      <a:r>
                        <a:rPr lang="en-US" altLang="ko-KR" dirty="0"/>
                        <a:t>6</a:t>
                      </a:r>
                      <a:endParaRPr lang="ko-KR" altLang="en-US" dirty="0"/>
                    </a:p>
                  </a:txBody>
                  <a:tcPr/>
                </a:tc>
                <a:tc>
                  <a:txBody>
                    <a:bodyPr/>
                    <a:lstStyle/>
                    <a:p>
                      <a:pPr algn="ctr" latinLnBrk="1"/>
                      <a:r>
                        <a:rPr lang="en-US" altLang="ko-KR" dirty="0"/>
                        <a:t>0.159</a:t>
                      </a:r>
                      <a:endParaRPr lang="ko-KR" altLang="en-US" dirty="0"/>
                    </a:p>
                  </a:txBody>
                  <a:tcPr/>
                </a:tc>
                <a:tc>
                  <a:txBody>
                    <a:bodyPr/>
                    <a:lstStyle/>
                    <a:p>
                      <a:pPr algn="ctr" latinLnBrk="1"/>
                      <a:r>
                        <a:rPr lang="en-US" altLang="ko-KR" dirty="0"/>
                        <a:t>0.331</a:t>
                      </a:r>
                      <a:endParaRPr lang="ko-KR" altLang="en-US" dirty="0"/>
                    </a:p>
                  </a:txBody>
                  <a:tcPr/>
                </a:tc>
                <a:extLst>
                  <a:ext uri="{0D108BD9-81ED-4DB2-BD59-A6C34878D82A}">
                    <a16:rowId xmlns:a16="http://schemas.microsoft.com/office/drawing/2014/main" val="1208870466"/>
                  </a:ext>
                </a:extLst>
              </a:tr>
            </a:tbl>
          </a:graphicData>
        </a:graphic>
      </p:graphicFrame>
    </p:spTree>
    <p:extLst>
      <p:ext uri="{BB962C8B-B14F-4D97-AF65-F5344CB8AC3E}">
        <p14:creationId xmlns:p14="http://schemas.microsoft.com/office/powerpoint/2010/main" val="24018484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Algorithm</a:t>
            </a:r>
            <a:br>
              <a:rPr lang="en-US" altLang="ko-KR" dirty="0"/>
            </a:br>
            <a:r>
              <a:rPr lang="en-US" altLang="ko-KR" sz="2400" dirty="0"/>
              <a:t>only linear regression</a:t>
            </a:r>
            <a:endParaRPr lang="ko-KR" altLang="en-US" sz="2400"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142602" y="1825625"/>
            <a:ext cx="5181600" cy="4351338"/>
          </a:xfrm>
        </p:spPr>
        <p:txBody>
          <a:bodyPr/>
          <a:lstStyle/>
          <a:p>
            <a:r>
              <a:rPr lang="en-US" altLang="ko-KR" dirty="0"/>
              <a:t>As the order increases, the absolute value of the learning parameter gradually increases.</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533421685"/>
                  </p:ext>
                </p:extLst>
              </p:nvPr>
            </p:nvGraphicFramePr>
            <p:xfrm>
              <a:off x="5407403" y="1825625"/>
              <a:ext cx="6641995" cy="249428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r>
                            <a:rPr lang="ko-KR" altLang="en-US" dirty="0"/>
                            <a:t>차수</a:t>
                          </a:r>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1</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2</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3</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4</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5</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6</m:t>
                                    </m:r>
                                  </m:sub>
                                </m:sSub>
                              </m:oMath>
                            </m:oMathPara>
                          </a14:m>
                          <a:endParaRPr lang="ko-KR" altLang="en-US" dirty="0"/>
                        </a:p>
                      </a:txBody>
                      <a:tcPr/>
                    </a:tc>
                    <a:extLst>
                      <a:ext uri="{0D108BD9-81ED-4DB2-BD59-A6C34878D82A}">
                        <a16:rowId xmlns:a16="http://schemas.microsoft.com/office/drawing/2014/main" val="2909007310"/>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-0.007</a:t>
                          </a:r>
                          <a:endParaRPr lang="ko-KR" altLang="en-US" dirty="0"/>
                        </a:p>
                      </a:txBody>
                      <a:tcPr/>
                    </a:tc>
                    <a:tc>
                      <a:txBody>
                        <a:bodyPr/>
                        <a:lstStyle/>
                        <a:p>
                          <a:pPr algn="ctr" latinLnBrk="1"/>
                          <a:r>
                            <a:rPr lang="en-US" altLang="ko-KR" dirty="0"/>
                            <a:t>-0.217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0.978</a:t>
                          </a:r>
                          <a:endParaRPr lang="ko-KR" altLang="en-US" dirty="0"/>
                        </a:p>
                      </a:txBody>
                      <a:tcPr/>
                    </a:tc>
                    <a:tc>
                      <a:txBody>
                        <a:bodyPr/>
                        <a:lstStyle/>
                        <a:p>
                          <a:pPr algn="ctr" latinLnBrk="1"/>
                          <a:r>
                            <a:rPr lang="en-US" altLang="ko-KR" dirty="0"/>
                            <a:t>-5.222</a:t>
                          </a:r>
                          <a:endParaRPr lang="ko-KR" altLang="en-US" dirty="0"/>
                        </a:p>
                      </a:txBody>
                      <a:tcPr/>
                    </a:tc>
                    <a:tc>
                      <a:txBody>
                        <a:bodyPr/>
                        <a:lstStyle/>
                        <a:p>
                          <a:pPr algn="ctr" latinLnBrk="1"/>
                          <a:r>
                            <a:rPr lang="en-US" altLang="ko-KR" dirty="0"/>
                            <a:t>4.204</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0.281</a:t>
                          </a:r>
                          <a:endParaRPr lang="ko-KR" altLang="en-US" dirty="0"/>
                        </a:p>
                      </a:txBody>
                      <a:tcPr/>
                    </a:tc>
                    <a:tc>
                      <a:txBody>
                        <a:bodyPr/>
                        <a:lstStyle/>
                        <a:p>
                          <a:pPr algn="ctr" latinLnBrk="1"/>
                          <a:r>
                            <a:rPr lang="en-US" altLang="ko-KR" dirty="0"/>
                            <a:t>4.927</a:t>
                          </a:r>
                          <a:endParaRPr lang="ko-KR" altLang="en-US" dirty="0"/>
                        </a:p>
                      </a:txBody>
                      <a:tcPr/>
                    </a:tc>
                    <a:tc>
                      <a:txBody>
                        <a:bodyPr/>
                        <a:lstStyle/>
                        <a:p>
                          <a:pPr algn="ctr" latinLnBrk="1"/>
                          <a:r>
                            <a:rPr lang="en-US" altLang="ko-KR" dirty="0"/>
                            <a:t>-17.639</a:t>
                          </a:r>
                          <a:endParaRPr lang="ko-KR" altLang="en-US" dirty="0"/>
                        </a:p>
                      </a:txBody>
                      <a:tcPr/>
                    </a:tc>
                    <a:tc>
                      <a:txBody>
                        <a:bodyPr/>
                        <a:lstStyle/>
                        <a:p>
                          <a:pPr algn="ctr" latinLnBrk="1"/>
                          <a:r>
                            <a:rPr lang="en-US" altLang="ko-KR" dirty="0"/>
                            <a:t>12.157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r>
                            <a:rPr lang="en-US" altLang="ko-KR" dirty="0"/>
                            <a:t>6</a:t>
                          </a:r>
                          <a:endParaRPr lang="ko-KR" altLang="en-US" dirty="0"/>
                        </a:p>
                      </a:txBody>
                      <a:tcPr/>
                    </a:tc>
                    <a:tc>
                      <a:txBody>
                        <a:bodyPr/>
                        <a:lstStyle/>
                        <a:p>
                          <a:pPr algn="ctr" latinLnBrk="1">
                            <a:lnSpc>
                              <a:spcPct val="150000"/>
                            </a:lnSpc>
                          </a:pPr>
                          <a:r>
                            <a:rPr lang="en-US" altLang="ko-KR" dirty="0"/>
                            <a:t>1.080</a:t>
                          </a:r>
                          <a:endParaRPr lang="ko-KR" altLang="en-US" dirty="0"/>
                        </a:p>
                      </a:txBody>
                      <a:tcPr/>
                    </a:tc>
                    <a:tc>
                      <a:txBody>
                        <a:bodyPr/>
                        <a:lstStyle/>
                        <a:p>
                          <a:pPr algn="ctr" latinLnBrk="1">
                            <a:lnSpc>
                              <a:spcPct val="150000"/>
                            </a:lnSpc>
                          </a:pPr>
                          <a:r>
                            <a:rPr lang="en-US" altLang="ko-KR" dirty="0"/>
                            <a:t>-26.324</a:t>
                          </a:r>
                          <a:endParaRPr lang="ko-KR" altLang="en-US" dirty="0"/>
                        </a:p>
                      </a:txBody>
                      <a:tcPr/>
                    </a:tc>
                    <a:tc>
                      <a:txBody>
                        <a:bodyPr/>
                        <a:lstStyle/>
                        <a:p>
                          <a:pPr algn="ctr" latinLnBrk="1">
                            <a:lnSpc>
                              <a:spcPct val="150000"/>
                            </a:lnSpc>
                          </a:pPr>
                          <a:r>
                            <a:rPr lang="en-US" altLang="ko-KR" dirty="0"/>
                            <a:t>287.431</a:t>
                          </a:r>
                          <a:endParaRPr lang="ko-KR" altLang="en-US" dirty="0"/>
                        </a:p>
                      </a:txBody>
                      <a:tcPr/>
                    </a:tc>
                    <a:tc>
                      <a:txBody>
                        <a:bodyPr/>
                        <a:lstStyle/>
                        <a:p>
                          <a:pPr algn="ctr" latinLnBrk="1"/>
                          <a:r>
                            <a:rPr lang="en-US" altLang="ko-KR" dirty="0"/>
                            <a:t>-1034.</a:t>
                          </a:r>
                        </a:p>
                        <a:p>
                          <a:pPr algn="ctr" latinLnBrk="1"/>
                          <a:r>
                            <a:rPr lang="en-US" altLang="ko-KR" dirty="0"/>
                            <a:t>141</a:t>
                          </a:r>
                          <a:endParaRPr lang="ko-KR" altLang="en-US" dirty="0"/>
                        </a:p>
                      </a:txBody>
                      <a:tcPr/>
                    </a:tc>
                    <a:tc>
                      <a:txBody>
                        <a:bodyPr/>
                        <a:lstStyle/>
                        <a:p>
                          <a:pPr algn="ctr" latinLnBrk="1"/>
                          <a:r>
                            <a:rPr lang="en-US" altLang="ko-KR" dirty="0"/>
                            <a:t>-1611.</a:t>
                          </a:r>
                        </a:p>
                        <a:p>
                          <a:pPr algn="ctr" latinLnBrk="1"/>
                          <a:r>
                            <a:rPr lang="en-US" altLang="ko-KR" dirty="0"/>
                            <a:t>144</a:t>
                          </a:r>
                          <a:endParaRPr lang="ko-KR" altLang="en-US" dirty="0"/>
                        </a:p>
                      </a:txBody>
                      <a:tcPr/>
                    </a:tc>
                    <a:tc>
                      <a:txBody>
                        <a:bodyPr/>
                        <a:lstStyle/>
                        <a:p>
                          <a:pPr algn="ctr" latinLnBrk="1">
                            <a:lnSpc>
                              <a:spcPct val="100000"/>
                            </a:lnSpc>
                          </a:pPr>
                          <a:r>
                            <a:rPr lang="en-US" altLang="ko-KR" dirty="0"/>
                            <a:t>-1147.</a:t>
                          </a:r>
                        </a:p>
                        <a:p>
                          <a:pPr algn="ctr" latinLnBrk="1">
                            <a:lnSpc>
                              <a:spcPct val="100000"/>
                            </a:lnSpc>
                          </a:pPr>
                          <a:r>
                            <a:rPr lang="en-US" altLang="ko-KR" dirty="0"/>
                            <a:t>946</a:t>
                          </a:r>
                          <a:endParaRPr lang="ko-KR" altLang="en-US" dirty="0"/>
                        </a:p>
                      </a:txBody>
                      <a:tcPr/>
                    </a:tc>
                    <a:extLst>
                      <a:ext uri="{0D108BD9-81ED-4DB2-BD59-A6C34878D82A}">
                        <a16:rowId xmlns:a16="http://schemas.microsoft.com/office/drawing/2014/main" val="1412464470"/>
                      </a:ext>
                    </a:extLst>
                  </a:tr>
                </a:tbl>
              </a:graphicData>
            </a:graphic>
          </p:graphicFrame>
        </mc:Choice>
        <mc:Fallback xmlns="">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533421685"/>
                  </p:ext>
                </p:extLst>
              </p:nvPr>
            </p:nvGraphicFramePr>
            <p:xfrm>
              <a:off x="5407403" y="1825625"/>
              <a:ext cx="6641995" cy="249428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r>
                            <a:rPr lang="ko-KR" altLang="en-US" dirty="0"/>
                            <a:t>차수</a:t>
                          </a:r>
                        </a:p>
                      </a:txBody>
                      <a:tcPr/>
                    </a:tc>
                    <a:tc>
                      <a:txBody>
                        <a:bodyPr/>
                        <a:lstStyle/>
                        <a:p>
                          <a:endParaRPr lang="ko-KR"/>
                        </a:p>
                      </a:txBody>
                      <a:tcPr>
                        <a:blipFill>
                          <a:blip r:embed="rId3"/>
                          <a:stretch>
                            <a:fillRect l="-64634" t="-8197" r="-503049" b="-598361"/>
                          </a:stretch>
                        </a:blipFill>
                      </a:tcPr>
                    </a:tc>
                    <a:tc>
                      <a:txBody>
                        <a:bodyPr/>
                        <a:lstStyle/>
                        <a:p>
                          <a:endParaRPr lang="ko-KR"/>
                        </a:p>
                      </a:txBody>
                      <a:tcPr>
                        <a:blipFill>
                          <a:blip r:embed="rId3"/>
                          <a:stretch>
                            <a:fillRect l="-164634" t="-8197" r="-403049" b="-598361"/>
                          </a:stretch>
                        </a:blipFill>
                      </a:tcPr>
                    </a:tc>
                    <a:tc>
                      <a:txBody>
                        <a:bodyPr/>
                        <a:lstStyle/>
                        <a:p>
                          <a:endParaRPr lang="ko-KR"/>
                        </a:p>
                      </a:txBody>
                      <a:tcPr>
                        <a:blipFill>
                          <a:blip r:embed="rId3"/>
                          <a:stretch>
                            <a:fillRect l="-263030" t="-8197" r="-300606" b="-598361"/>
                          </a:stretch>
                        </a:blipFill>
                      </a:tcPr>
                    </a:tc>
                    <a:tc>
                      <a:txBody>
                        <a:bodyPr/>
                        <a:lstStyle/>
                        <a:p>
                          <a:endParaRPr lang="ko-KR"/>
                        </a:p>
                      </a:txBody>
                      <a:tcPr>
                        <a:blipFill>
                          <a:blip r:embed="rId3"/>
                          <a:stretch>
                            <a:fillRect l="-365244" t="-8197" r="-202439" b="-598361"/>
                          </a:stretch>
                        </a:blipFill>
                      </a:tcPr>
                    </a:tc>
                    <a:tc>
                      <a:txBody>
                        <a:bodyPr/>
                        <a:lstStyle/>
                        <a:p>
                          <a:endParaRPr lang="ko-KR"/>
                        </a:p>
                      </a:txBody>
                      <a:tcPr>
                        <a:blipFill>
                          <a:blip r:embed="rId3"/>
                          <a:stretch>
                            <a:fillRect l="-465244" t="-8197" r="-102439" b="-598361"/>
                          </a:stretch>
                        </a:blipFill>
                      </a:tcPr>
                    </a:tc>
                    <a:tc>
                      <a:txBody>
                        <a:bodyPr/>
                        <a:lstStyle/>
                        <a:p>
                          <a:endParaRPr lang="ko-KR"/>
                        </a:p>
                      </a:txBody>
                      <a:tcPr>
                        <a:blipFill>
                          <a:blip r:embed="rId3"/>
                          <a:stretch>
                            <a:fillRect l="-565244" t="-8197" r="-2439" b="-598361"/>
                          </a:stretch>
                        </a:blipFill>
                      </a:tcPr>
                    </a:tc>
                    <a:extLst>
                      <a:ext uri="{0D108BD9-81ED-4DB2-BD59-A6C34878D82A}">
                        <a16:rowId xmlns:a16="http://schemas.microsoft.com/office/drawing/2014/main" val="2909007310"/>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-0.007</a:t>
                          </a:r>
                          <a:endParaRPr lang="ko-KR" altLang="en-US" dirty="0"/>
                        </a:p>
                      </a:txBody>
                      <a:tcPr/>
                    </a:tc>
                    <a:tc>
                      <a:txBody>
                        <a:bodyPr/>
                        <a:lstStyle/>
                        <a:p>
                          <a:pPr algn="ctr" latinLnBrk="1"/>
                          <a:r>
                            <a:rPr lang="en-US" altLang="ko-KR" dirty="0"/>
                            <a:t>-0.217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0.978</a:t>
                          </a:r>
                          <a:endParaRPr lang="ko-KR" altLang="en-US" dirty="0"/>
                        </a:p>
                      </a:txBody>
                      <a:tcPr/>
                    </a:tc>
                    <a:tc>
                      <a:txBody>
                        <a:bodyPr/>
                        <a:lstStyle/>
                        <a:p>
                          <a:pPr algn="ctr" latinLnBrk="1"/>
                          <a:r>
                            <a:rPr lang="en-US" altLang="ko-KR" dirty="0"/>
                            <a:t>-5.222</a:t>
                          </a:r>
                          <a:endParaRPr lang="ko-KR" altLang="en-US" dirty="0"/>
                        </a:p>
                      </a:txBody>
                      <a:tcPr/>
                    </a:tc>
                    <a:tc>
                      <a:txBody>
                        <a:bodyPr/>
                        <a:lstStyle/>
                        <a:p>
                          <a:pPr algn="ctr" latinLnBrk="1"/>
                          <a:r>
                            <a:rPr lang="en-US" altLang="ko-KR" dirty="0"/>
                            <a:t>4.204</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0.281</a:t>
                          </a:r>
                          <a:endParaRPr lang="ko-KR" altLang="en-US" dirty="0"/>
                        </a:p>
                      </a:txBody>
                      <a:tcPr/>
                    </a:tc>
                    <a:tc>
                      <a:txBody>
                        <a:bodyPr/>
                        <a:lstStyle/>
                        <a:p>
                          <a:pPr algn="ctr" latinLnBrk="1"/>
                          <a:r>
                            <a:rPr lang="en-US" altLang="ko-KR" dirty="0"/>
                            <a:t>4.927</a:t>
                          </a:r>
                          <a:endParaRPr lang="ko-KR" altLang="en-US" dirty="0"/>
                        </a:p>
                      </a:txBody>
                      <a:tcPr/>
                    </a:tc>
                    <a:tc>
                      <a:txBody>
                        <a:bodyPr/>
                        <a:lstStyle/>
                        <a:p>
                          <a:pPr algn="ctr" latinLnBrk="1"/>
                          <a:r>
                            <a:rPr lang="en-US" altLang="ko-KR" dirty="0"/>
                            <a:t>-17.639</a:t>
                          </a:r>
                          <a:endParaRPr lang="ko-KR" altLang="en-US" dirty="0"/>
                        </a:p>
                      </a:txBody>
                      <a:tcPr/>
                    </a:tc>
                    <a:tc>
                      <a:txBody>
                        <a:bodyPr/>
                        <a:lstStyle/>
                        <a:p>
                          <a:pPr algn="ctr" latinLnBrk="1"/>
                          <a:r>
                            <a:rPr lang="en-US" altLang="ko-KR" dirty="0"/>
                            <a:t>12.157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663513131"/>
                      </a:ext>
                    </a:extLst>
                  </a:tr>
                  <a:tr h="640080">
                    <a:tc>
                      <a:txBody>
                        <a:bodyPr/>
                        <a:lstStyle/>
                        <a:p>
                          <a:pPr algn="ctr" latinLnBrk="1"/>
                          <a:r>
                            <a:rPr lang="en-US" altLang="ko-KR" dirty="0"/>
                            <a:t>6</a:t>
                          </a:r>
                          <a:endParaRPr lang="ko-KR" altLang="en-US" dirty="0"/>
                        </a:p>
                      </a:txBody>
                      <a:tcPr/>
                    </a:tc>
                    <a:tc>
                      <a:txBody>
                        <a:bodyPr/>
                        <a:lstStyle/>
                        <a:p>
                          <a:pPr algn="ctr" latinLnBrk="1">
                            <a:lnSpc>
                              <a:spcPct val="150000"/>
                            </a:lnSpc>
                          </a:pPr>
                          <a:r>
                            <a:rPr lang="en-US" altLang="ko-KR" dirty="0"/>
                            <a:t>1.080</a:t>
                          </a:r>
                          <a:endParaRPr lang="ko-KR" altLang="en-US" dirty="0"/>
                        </a:p>
                      </a:txBody>
                      <a:tcPr/>
                    </a:tc>
                    <a:tc>
                      <a:txBody>
                        <a:bodyPr/>
                        <a:lstStyle/>
                        <a:p>
                          <a:pPr algn="ctr" latinLnBrk="1">
                            <a:lnSpc>
                              <a:spcPct val="150000"/>
                            </a:lnSpc>
                          </a:pPr>
                          <a:r>
                            <a:rPr lang="en-US" altLang="ko-KR" dirty="0"/>
                            <a:t>-26.324</a:t>
                          </a:r>
                          <a:endParaRPr lang="ko-KR" altLang="en-US" dirty="0"/>
                        </a:p>
                      </a:txBody>
                      <a:tcPr/>
                    </a:tc>
                    <a:tc>
                      <a:txBody>
                        <a:bodyPr/>
                        <a:lstStyle/>
                        <a:p>
                          <a:pPr algn="ctr" latinLnBrk="1">
                            <a:lnSpc>
                              <a:spcPct val="150000"/>
                            </a:lnSpc>
                          </a:pPr>
                          <a:r>
                            <a:rPr lang="en-US" altLang="ko-KR" dirty="0"/>
                            <a:t>287.431</a:t>
                          </a:r>
                          <a:endParaRPr lang="ko-KR" altLang="en-US" dirty="0"/>
                        </a:p>
                      </a:txBody>
                      <a:tcPr/>
                    </a:tc>
                    <a:tc>
                      <a:txBody>
                        <a:bodyPr/>
                        <a:lstStyle/>
                        <a:p>
                          <a:pPr algn="ctr" latinLnBrk="1"/>
                          <a:r>
                            <a:rPr lang="en-US" altLang="ko-KR" dirty="0"/>
                            <a:t>-1034.</a:t>
                          </a:r>
                        </a:p>
                        <a:p>
                          <a:pPr algn="ctr" latinLnBrk="1"/>
                          <a:r>
                            <a:rPr lang="en-US" altLang="ko-KR" dirty="0"/>
                            <a:t>141</a:t>
                          </a:r>
                          <a:endParaRPr lang="ko-KR" altLang="en-US" dirty="0"/>
                        </a:p>
                      </a:txBody>
                      <a:tcPr/>
                    </a:tc>
                    <a:tc>
                      <a:txBody>
                        <a:bodyPr/>
                        <a:lstStyle/>
                        <a:p>
                          <a:pPr algn="ctr" latinLnBrk="1"/>
                          <a:r>
                            <a:rPr lang="en-US" altLang="ko-KR" dirty="0"/>
                            <a:t>-1611.</a:t>
                          </a:r>
                        </a:p>
                        <a:p>
                          <a:pPr algn="ctr" latinLnBrk="1"/>
                          <a:r>
                            <a:rPr lang="en-US" altLang="ko-KR" dirty="0"/>
                            <a:t>144</a:t>
                          </a:r>
                          <a:endParaRPr lang="ko-KR" altLang="en-US" dirty="0"/>
                        </a:p>
                      </a:txBody>
                      <a:tcPr/>
                    </a:tc>
                    <a:tc>
                      <a:txBody>
                        <a:bodyPr/>
                        <a:lstStyle/>
                        <a:p>
                          <a:pPr algn="ctr" latinLnBrk="1">
                            <a:lnSpc>
                              <a:spcPct val="100000"/>
                            </a:lnSpc>
                          </a:pPr>
                          <a:r>
                            <a:rPr lang="en-US" altLang="ko-KR" dirty="0"/>
                            <a:t>-1147.</a:t>
                          </a:r>
                        </a:p>
                        <a:p>
                          <a:pPr algn="ctr" latinLnBrk="1">
                            <a:lnSpc>
                              <a:spcPct val="100000"/>
                            </a:lnSpc>
                          </a:pPr>
                          <a:r>
                            <a:rPr lang="en-US" altLang="ko-KR" dirty="0"/>
                            <a:t>946</a:t>
                          </a:r>
                          <a:endParaRPr lang="ko-KR" altLang="en-US" dirty="0"/>
                        </a:p>
                      </a:txBody>
                      <a:tcPr/>
                    </a:tc>
                    <a:extLst>
                      <a:ext uri="{0D108BD9-81ED-4DB2-BD59-A6C34878D82A}">
                        <a16:rowId xmlns:a16="http://schemas.microsoft.com/office/drawing/2014/main" val="1412464470"/>
                      </a:ext>
                    </a:extLst>
                  </a:tr>
                </a:tbl>
              </a:graphicData>
            </a:graphic>
          </p:graphicFrame>
        </mc:Fallback>
      </mc:AlternateContent>
    </p:spTree>
    <p:extLst>
      <p:ext uri="{BB962C8B-B14F-4D97-AF65-F5344CB8AC3E}">
        <p14:creationId xmlns:p14="http://schemas.microsoft.com/office/powerpoint/2010/main" val="7011214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Algorithm</a:t>
            </a:r>
            <a:br>
              <a:rPr lang="en-US" altLang="ko-KR" dirty="0"/>
            </a:br>
            <a:r>
              <a:rPr lang="en-US" altLang="ko-KR" sz="2400" dirty="0"/>
              <a:t>linear regression with</a:t>
            </a:r>
            <a:r>
              <a:rPr lang="ko-KR" altLang="en-US" sz="2400" dirty="0"/>
              <a:t> </a:t>
            </a:r>
            <a:r>
              <a:rPr lang="en-US" altLang="ko-KR" sz="2400" dirty="0"/>
              <a:t>normalization</a:t>
            </a:r>
            <a:endParaRPr lang="ko-KR" altLang="en-US" sz="2400"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142602" y="1825625"/>
            <a:ext cx="5181600" cy="4351338"/>
          </a:xfrm>
        </p:spPr>
        <p:txBody>
          <a:bodyPr/>
          <a:lstStyle/>
          <a:p>
            <a:r>
              <a:rPr lang="en-US" altLang="ko-KR" b="0" i="0" dirty="0">
                <a:solidFill>
                  <a:srgbClr val="000000"/>
                </a:solidFill>
                <a:effectLst/>
              </a:rPr>
              <a:t>Normalization reduces the increase in learning parameters.</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1958769026"/>
                  </p:ext>
                </p:extLst>
              </p:nvPr>
            </p:nvGraphicFramePr>
            <p:xfrm>
              <a:off x="5407403" y="1825625"/>
              <a:ext cx="6641995" cy="222504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lnSpc>
                              <a:spcPct val="100000"/>
                            </a:lnSpc>
                          </a:pPr>
                          <a:r>
                            <a:rPr lang="ko-KR" altLang="en-US" dirty="0"/>
                            <a:t>차수</a:t>
                          </a:r>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1</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2</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3</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4</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5</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6</m:t>
                                    </m:r>
                                  </m:sub>
                                </m:sSub>
                              </m:oMath>
                            </m:oMathPara>
                          </a14:m>
                          <a:endParaRPr lang="ko-KR" altLang="en-US" dirty="0"/>
                        </a:p>
                      </a:txBody>
                      <a:tcPr/>
                    </a:tc>
                    <a:extLst>
                      <a:ext uri="{0D108BD9-81ED-4DB2-BD59-A6C34878D82A}">
                        <a16:rowId xmlns:a16="http://schemas.microsoft.com/office/drawing/2014/main" val="2909007310"/>
                      </a:ext>
                    </a:extLst>
                  </a:tr>
                  <a:tr h="370840">
                    <a:tc>
                      <a:txBody>
                        <a:bodyPr/>
                        <a:lstStyle/>
                        <a:p>
                          <a:pPr algn="ctr" latinLnBrk="1">
                            <a:lnSpc>
                              <a:spcPct val="100000"/>
                            </a:lnSpc>
                          </a:pPr>
                          <a:r>
                            <a:rPr lang="en-US" altLang="ko-KR" dirty="0"/>
                            <a:t>1</a:t>
                          </a:r>
                          <a:endParaRPr lang="ko-KR" altLang="en-US" dirty="0"/>
                        </a:p>
                      </a:txBody>
                      <a:tcPr/>
                    </a:tc>
                    <a:tc>
                      <a:txBody>
                        <a:bodyPr/>
                        <a:lstStyle/>
                        <a:p>
                          <a:pPr algn="ctr" latinLnBrk="1">
                            <a:lnSpc>
                              <a:spcPct val="100000"/>
                            </a:lnSpc>
                          </a:pPr>
                          <a:r>
                            <a:rPr lang="en-US" altLang="ko-KR" dirty="0"/>
                            <a:t>-0.055</a:t>
                          </a:r>
                          <a:endParaRPr lang="ko-KR" altLang="en-US" dirty="0"/>
                        </a:p>
                      </a:txBody>
                      <a:tcPr/>
                    </a:tc>
                    <a:tc>
                      <a:txBody>
                        <a:bodyPr/>
                        <a:lstStyle/>
                        <a:p>
                          <a:pPr algn="ctr" latinLnBrk="1">
                            <a:lnSpc>
                              <a:spcPct val="100000"/>
                            </a:lnSpc>
                          </a:pPr>
                          <a:r>
                            <a:rPr lang="en-US" altLang="ko-KR" dirty="0"/>
                            <a:t>-0.149</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lnSpc>
                              <a:spcPct val="100000"/>
                            </a:lnSpc>
                          </a:pPr>
                          <a:r>
                            <a:rPr lang="en-US" altLang="ko-KR" dirty="0"/>
                            <a:t>2</a:t>
                          </a:r>
                          <a:endParaRPr lang="ko-KR" altLang="en-US" dirty="0"/>
                        </a:p>
                      </a:txBody>
                      <a:tcPr/>
                    </a:tc>
                    <a:tc>
                      <a:txBody>
                        <a:bodyPr/>
                        <a:lstStyle/>
                        <a:p>
                          <a:pPr algn="ctr" latinLnBrk="1">
                            <a:lnSpc>
                              <a:spcPct val="100000"/>
                            </a:lnSpc>
                          </a:pPr>
                          <a:r>
                            <a:rPr lang="en-US" altLang="ko-KR" dirty="0"/>
                            <a:t>-0.066</a:t>
                          </a:r>
                          <a:endParaRPr lang="ko-KR" altLang="en-US" dirty="0"/>
                        </a:p>
                      </a:txBody>
                      <a:tcPr/>
                    </a:tc>
                    <a:tc>
                      <a:txBody>
                        <a:bodyPr/>
                        <a:lstStyle/>
                        <a:p>
                          <a:pPr algn="ctr" latinLnBrk="1">
                            <a:lnSpc>
                              <a:spcPct val="100000"/>
                            </a:lnSpc>
                          </a:pPr>
                          <a:r>
                            <a:rPr lang="en-US" altLang="ko-KR" dirty="0"/>
                            <a:t>-0.493</a:t>
                          </a:r>
                          <a:endParaRPr lang="ko-KR" altLang="en-US" dirty="0"/>
                        </a:p>
                      </a:txBody>
                      <a:tcPr/>
                    </a:tc>
                    <a:tc>
                      <a:txBody>
                        <a:bodyPr/>
                        <a:lstStyle/>
                        <a:p>
                          <a:pPr algn="ctr" latinLnBrk="1">
                            <a:lnSpc>
                              <a:spcPct val="100000"/>
                            </a:lnSpc>
                          </a:pPr>
                          <a:r>
                            <a:rPr lang="en-US" altLang="ko-KR" dirty="0"/>
                            <a:t>0.421</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lnSpc>
                              <a:spcPct val="100000"/>
                            </a:lnSpc>
                          </a:pPr>
                          <a:r>
                            <a:rPr lang="en-US" altLang="ko-KR" dirty="0"/>
                            <a:t>3</a:t>
                          </a:r>
                          <a:endParaRPr lang="ko-KR" altLang="en-US" dirty="0"/>
                        </a:p>
                      </a:txBody>
                      <a:tcPr/>
                    </a:tc>
                    <a:tc>
                      <a:txBody>
                        <a:bodyPr/>
                        <a:lstStyle/>
                        <a:p>
                          <a:pPr algn="ctr" latinLnBrk="1">
                            <a:lnSpc>
                              <a:spcPct val="100000"/>
                            </a:lnSpc>
                          </a:pPr>
                          <a:r>
                            <a:rPr lang="en-US" altLang="ko-KR" dirty="0"/>
                            <a:t>-0.001</a:t>
                          </a:r>
                          <a:endParaRPr lang="ko-KR" altLang="en-US" dirty="0"/>
                        </a:p>
                      </a:txBody>
                      <a:tcPr/>
                    </a:tc>
                    <a:tc>
                      <a:txBody>
                        <a:bodyPr/>
                        <a:lstStyle/>
                        <a:p>
                          <a:pPr algn="ctr" latinLnBrk="1">
                            <a:lnSpc>
                              <a:spcPct val="100000"/>
                            </a:lnSpc>
                          </a:pPr>
                          <a:r>
                            <a:rPr lang="en-US" altLang="ko-KR" dirty="0"/>
                            <a:t>-0.716</a:t>
                          </a:r>
                          <a:endParaRPr lang="ko-KR" altLang="en-US" dirty="0"/>
                        </a:p>
                      </a:txBody>
                      <a:tcPr/>
                    </a:tc>
                    <a:tc>
                      <a:txBody>
                        <a:bodyPr/>
                        <a:lstStyle/>
                        <a:p>
                          <a:pPr algn="ctr" latinLnBrk="1">
                            <a:lnSpc>
                              <a:spcPct val="100000"/>
                            </a:lnSpc>
                          </a:pPr>
                          <a:r>
                            <a:rPr lang="en-US" altLang="ko-KR" dirty="0"/>
                            <a:t>-0.042</a:t>
                          </a:r>
                          <a:endParaRPr lang="ko-KR" altLang="en-US" dirty="0"/>
                        </a:p>
                      </a:txBody>
                      <a:tcPr/>
                    </a:tc>
                    <a:tc>
                      <a:txBody>
                        <a:bodyPr/>
                        <a:lstStyle/>
                        <a:p>
                          <a:pPr algn="ctr" latinLnBrk="1">
                            <a:lnSpc>
                              <a:spcPct val="100000"/>
                            </a:lnSpc>
                          </a:pPr>
                          <a:r>
                            <a:rPr lang="en-US" altLang="ko-KR" dirty="0"/>
                            <a:t>0.670</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lnSpc>
                              <a:spcPct val="100000"/>
                            </a:lnSpc>
                          </a:pPr>
                          <a:r>
                            <a:rPr lang="en-US" altLang="ko-KR" dirty="0"/>
                            <a:t>6</a:t>
                          </a:r>
                          <a:endParaRPr lang="ko-KR" altLang="en-US" dirty="0"/>
                        </a:p>
                      </a:txBody>
                      <a:tcPr/>
                    </a:tc>
                    <a:tc>
                      <a:txBody>
                        <a:bodyPr/>
                        <a:lstStyle/>
                        <a:p>
                          <a:pPr algn="ctr" latinLnBrk="1">
                            <a:lnSpc>
                              <a:spcPct val="100000"/>
                            </a:lnSpc>
                          </a:pPr>
                          <a:r>
                            <a:rPr lang="en-US" altLang="ko-KR" dirty="0"/>
                            <a:t>0.191</a:t>
                          </a:r>
                          <a:endParaRPr lang="ko-KR" altLang="en-US" dirty="0"/>
                        </a:p>
                      </a:txBody>
                      <a:tcPr/>
                    </a:tc>
                    <a:tc>
                      <a:txBody>
                        <a:bodyPr/>
                        <a:lstStyle/>
                        <a:p>
                          <a:pPr algn="ctr" latinLnBrk="1">
                            <a:lnSpc>
                              <a:spcPct val="100000"/>
                            </a:lnSpc>
                          </a:pPr>
                          <a:r>
                            <a:rPr lang="en-US" altLang="ko-KR" dirty="0"/>
                            <a:t>-0.751</a:t>
                          </a:r>
                          <a:endParaRPr lang="ko-KR" altLang="en-US" dirty="0"/>
                        </a:p>
                      </a:txBody>
                      <a:tcPr/>
                    </a:tc>
                    <a:tc>
                      <a:txBody>
                        <a:bodyPr/>
                        <a:lstStyle/>
                        <a:p>
                          <a:pPr algn="ctr" latinLnBrk="1">
                            <a:lnSpc>
                              <a:spcPct val="100000"/>
                            </a:lnSpc>
                          </a:pPr>
                          <a:r>
                            <a:rPr lang="en-US" altLang="ko-KR" dirty="0"/>
                            <a:t>-0.497</a:t>
                          </a:r>
                          <a:endParaRPr lang="ko-KR" altLang="en-US" dirty="0"/>
                        </a:p>
                      </a:txBody>
                      <a:tcPr/>
                    </a:tc>
                    <a:tc>
                      <a:txBody>
                        <a:bodyPr/>
                        <a:lstStyle/>
                        <a:p>
                          <a:pPr algn="ctr" latinLnBrk="1">
                            <a:lnSpc>
                              <a:spcPct val="100000"/>
                            </a:lnSpc>
                          </a:pPr>
                          <a:r>
                            <a:rPr lang="en-US" altLang="ko-KR" dirty="0"/>
                            <a:t>-0.182</a:t>
                          </a:r>
                          <a:endParaRPr lang="ko-KR" altLang="en-US" dirty="0"/>
                        </a:p>
                      </a:txBody>
                      <a:tcPr/>
                    </a:tc>
                    <a:tc>
                      <a:txBody>
                        <a:bodyPr/>
                        <a:lstStyle/>
                        <a:p>
                          <a:pPr algn="ctr" latinLnBrk="1">
                            <a:lnSpc>
                              <a:spcPct val="100000"/>
                            </a:lnSpc>
                          </a:pPr>
                          <a:r>
                            <a:rPr lang="en-US" altLang="ko-KR" dirty="0"/>
                            <a:t>0.109</a:t>
                          </a:r>
                          <a:endParaRPr lang="ko-KR" altLang="en-US" dirty="0"/>
                        </a:p>
                      </a:txBody>
                      <a:tcPr/>
                    </a:tc>
                    <a:tc>
                      <a:txBody>
                        <a:bodyPr/>
                        <a:lstStyle/>
                        <a:p>
                          <a:pPr algn="ctr" latinLnBrk="1">
                            <a:lnSpc>
                              <a:spcPct val="100000"/>
                            </a:lnSpc>
                          </a:pPr>
                          <a:r>
                            <a:rPr lang="en-US" altLang="ko-KR" dirty="0"/>
                            <a:t>0.370</a:t>
                          </a:r>
                          <a:endParaRPr lang="ko-KR" altLang="en-US" dirty="0"/>
                        </a:p>
                      </a:txBody>
                      <a:tcPr/>
                    </a:tc>
                    <a:extLst>
                      <a:ext uri="{0D108BD9-81ED-4DB2-BD59-A6C34878D82A}">
                        <a16:rowId xmlns:a16="http://schemas.microsoft.com/office/drawing/2014/main" val="1412464470"/>
                      </a:ext>
                    </a:extLst>
                  </a:tr>
                </a:tbl>
              </a:graphicData>
            </a:graphic>
          </p:graphicFrame>
        </mc:Choice>
        <mc:Fallback xmlns="">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1958769026"/>
                  </p:ext>
                </p:extLst>
              </p:nvPr>
            </p:nvGraphicFramePr>
            <p:xfrm>
              <a:off x="5407403" y="1825625"/>
              <a:ext cx="6641995" cy="222504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lnSpc>
                              <a:spcPct val="100000"/>
                            </a:lnSpc>
                          </a:pPr>
                          <a:r>
                            <a:rPr lang="ko-KR" altLang="en-US" dirty="0"/>
                            <a:t>차수</a:t>
                          </a:r>
                        </a:p>
                      </a:txBody>
                      <a:tcPr/>
                    </a:tc>
                    <a:tc>
                      <a:txBody>
                        <a:bodyPr/>
                        <a:lstStyle/>
                        <a:p>
                          <a:endParaRPr lang="ko-KR"/>
                        </a:p>
                      </a:txBody>
                      <a:tcPr>
                        <a:blipFill>
                          <a:blip r:embed="rId3"/>
                          <a:stretch>
                            <a:fillRect l="-64634" t="-8197" r="-503049" b="-524590"/>
                          </a:stretch>
                        </a:blipFill>
                      </a:tcPr>
                    </a:tc>
                    <a:tc>
                      <a:txBody>
                        <a:bodyPr/>
                        <a:lstStyle/>
                        <a:p>
                          <a:endParaRPr lang="ko-KR"/>
                        </a:p>
                      </a:txBody>
                      <a:tcPr>
                        <a:blipFill>
                          <a:blip r:embed="rId3"/>
                          <a:stretch>
                            <a:fillRect l="-164634" t="-8197" r="-403049" b="-524590"/>
                          </a:stretch>
                        </a:blipFill>
                      </a:tcPr>
                    </a:tc>
                    <a:tc>
                      <a:txBody>
                        <a:bodyPr/>
                        <a:lstStyle/>
                        <a:p>
                          <a:endParaRPr lang="ko-KR"/>
                        </a:p>
                      </a:txBody>
                      <a:tcPr>
                        <a:blipFill>
                          <a:blip r:embed="rId3"/>
                          <a:stretch>
                            <a:fillRect l="-263030" t="-8197" r="-300606" b="-524590"/>
                          </a:stretch>
                        </a:blipFill>
                      </a:tcPr>
                    </a:tc>
                    <a:tc>
                      <a:txBody>
                        <a:bodyPr/>
                        <a:lstStyle/>
                        <a:p>
                          <a:endParaRPr lang="ko-KR"/>
                        </a:p>
                      </a:txBody>
                      <a:tcPr>
                        <a:blipFill>
                          <a:blip r:embed="rId3"/>
                          <a:stretch>
                            <a:fillRect l="-365244" t="-8197" r="-202439" b="-524590"/>
                          </a:stretch>
                        </a:blipFill>
                      </a:tcPr>
                    </a:tc>
                    <a:tc>
                      <a:txBody>
                        <a:bodyPr/>
                        <a:lstStyle/>
                        <a:p>
                          <a:endParaRPr lang="ko-KR"/>
                        </a:p>
                      </a:txBody>
                      <a:tcPr>
                        <a:blipFill>
                          <a:blip r:embed="rId3"/>
                          <a:stretch>
                            <a:fillRect l="-465244" t="-8197" r="-102439" b="-524590"/>
                          </a:stretch>
                        </a:blipFill>
                      </a:tcPr>
                    </a:tc>
                    <a:tc>
                      <a:txBody>
                        <a:bodyPr/>
                        <a:lstStyle/>
                        <a:p>
                          <a:endParaRPr lang="ko-KR"/>
                        </a:p>
                      </a:txBody>
                      <a:tcPr>
                        <a:blipFill>
                          <a:blip r:embed="rId3"/>
                          <a:stretch>
                            <a:fillRect l="-565244" t="-8197" r="-2439" b="-524590"/>
                          </a:stretch>
                        </a:blipFill>
                      </a:tcPr>
                    </a:tc>
                    <a:extLst>
                      <a:ext uri="{0D108BD9-81ED-4DB2-BD59-A6C34878D82A}">
                        <a16:rowId xmlns:a16="http://schemas.microsoft.com/office/drawing/2014/main" val="2909007310"/>
                      </a:ext>
                    </a:extLst>
                  </a:tr>
                  <a:tr h="370840">
                    <a:tc>
                      <a:txBody>
                        <a:bodyPr/>
                        <a:lstStyle/>
                        <a:p>
                          <a:pPr algn="ctr" latinLnBrk="1">
                            <a:lnSpc>
                              <a:spcPct val="100000"/>
                            </a:lnSpc>
                          </a:pPr>
                          <a:r>
                            <a:rPr lang="en-US" altLang="ko-KR" dirty="0"/>
                            <a:t>1</a:t>
                          </a:r>
                          <a:endParaRPr lang="ko-KR" altLang="en-US" dirty="0"/>
                        </a:p>
                      </a:txBody>
                      <a:tcPr/>
                    </a:tc>
                    <a:tc>
                      <a:txBody>
                        <a:bodyPr/>
                        <a:lstStyle/>
                        <a:p>
                          <a:pPr algn="ctr" latinLnBrk="1">
                            <a:lnSpc>
                              <a:spcPct val="100000"/>
                            </a:lnSpc>
                          </a:pPr>
                          <a:r>
                            <a:rPr lang="en-US" altLang="ko-KR" dirty="0"/>
                            <a:t>-0.055</a:t>
                          </a:r>
                          <a:endParaRPr lang="ko-KR" altLang="en-US" dirty="0"/>
                        </a:p>
                      </a:txBody>
                      <a:tcPr/>
                    </a:tc>
                    <a:tc>
                      <a:txBody>
                        <a:bodyPr/>
                        <a:lstStyle/>
                        <a:p>
                          <a:pPr algn="ctr" latinLnBrk="1">
                            <a:lnSpc>
                              <a:spcPct val="100000"/>
                            </a:lnSpc>
                          </a:pPr>
                          <a:r>
                            <a:rPr lang="en-US" altLang="ko-KR" dirty="0"/>
                            <a:t>-0.149</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lnSpc>
                              <a:spcPct val="100000"/>
                            </a:lnSpc>
                          </a:pPr>
                          <a:r>
                            <a:rPr lang="en-US" altLang="ko-KR" dirty="0"/>
                            <a:t>2</a:t>
                          </a:r>
                          <a:endParaRPr lang="ko-KR" altLang="en-US" dirty="0"/>
                        </a:p>
                      </a:txBody>
                      <a:tcPr/>
                    </a:tc>
                    <a:tc>
                      <a:txBody>
                        <a:bodyPr/>
                        <a:lstStyle/>
                        <a:p>
                          <a:pPr algn="ctr" latinLnBrk="1">
                            <a:lnSpc>
                              <a:spcPct val="100000"/>
                            </a:lnSpc>
                          </a:pPr>
                          <a:r>
                            <a:rPr lang="en-US" altLang="ko-KR" dirty="0"/>
                            <a:t>-0.066</a:t>
                          </a:r>
                          <a:endParaRPr lang="ko-KR" altLang="en-US" dirty="0"/>
                        </a:p>
                      </a:txBody>
                      <a:tcPr/>
                    </a:tc>
                    <a:tc>
                      <a:txBody>
                        <a:bodyPr/>
                        <a:lstStyle/>
                        <a:p>
                          <a:pPr algn="ctr" latinLnBrk="1">
                            <a:lnSpc>
                              <a:spcPct val="100000"/>
                            </a:lnSpc>
                          </a:pPr>
                          <a:r>
                            <a:rPr lang="en-US" altLang="ko-KR" dirty="0"/>
                            <a:t>-0.493</a:t>
                          </a:r>
                          <a:endParaRPr lang="ko-KR" altLang="en-US" dirty="0"/>
                        </a:p>
                      </a:txBody>
                      <a:tcPr/>
                    </a:tc>
                    <a:tc>
                      <a:txBody>
                        <a:bodyPr/>
                        <a:lstStyle/>
                        <a:p>
                          <a:pPr algn="ctr" latinLnBrk="1">
                            <a:lnSpc>
                              <a:spcPct val="100000"/>
                            </a:lnSpc>
                          </a:pPr>
                          <a:r>
                            <a:rPr lang="en-US" altLang="ko-KR" dirty="0"/>
                            <a:t>0.421</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lnSpc>
                              <a:spcPct val="100000"/>
                            </a:lnSpc>
                          </a:pPr>
                          <a:r>
                            <a:rPr lang="en-US" altLang="ko-KR" dirty="0"/>
                            <a:t>3</a:t>
                          </a:r>
                          <a:endParaRPr lang="ko-KR" altLang="en-US" dirty="0"/>
                        </a:p>
                      </a:txBody>
                      <a:tcPr/>
                    </a:tc>
                    <a:tc>
                      <a:txBody>
                        <a:bodyPr/>
                        <a:lstStyle/>
                        <a:p>
                          <a:pPr algn="ctr" latinLnBrk="1">
                            <a:lnSpc>
                              <a:spcPct val="100000"/>
                            </a:lnSpc>
                          </a:pPr>
                          <a:r>
                            <a:rPr lang="en-US" altLang="ko-KR" dirty="0"/>
                            <a:t>-0.001</a:t>
                          </a:r>
                          <a:endParaRPr lang="ko-KR" altLang="en-US" dirty="0"/>
                        </a:p>
                      </a:txBody>
                      <a:tcPr/>
                    </a:tc>
                    <a:tc>
                      <a:txBody>
                        <a:bodyPr/>
                        <a:lstStyle/>
                        <a:p>
                          <a:pPr algn="ctr" latinLnBrk="1">
                            <a:lnSpc>
                              <a:spcPct val="100000"/>
                            </a:lnSpc>
                          </a:pPr>
                          <a:r>
                            <a:rPr lang="en-US" altLang="ko-KR" dirty="0"/>
                            <a:t>-0.716</a:t>
                          </a:r>
                          <a:endParaRPr lang="ko-KR" altLang="en-US" dirty="0"/>
                        </a:p>
                      </a:txBody>
                      <a:tcPr/>
                    </a:tc>
                    <a:tc>
                      <a:txBody>
                        <a:bodyPr/>
                        <a:lstStyle/>
                        <a:p>
                          <a:pPr algn="ctr" latinLnBrk="1">
                            <a:lnSpc>
                              <a:spcPct val="100000"/>
                            </a:lnSpc>
                          </a:pPr>
                          <a:r>
                            <a:rPr lang="en-US" altLang="ko-KR" dirty="0"/>
                            <a:t>-0.042</a:t>
                          </a:r>
                          <a:endParaRPr lang="ko-KR" altLang="en-US" dirty="0"/>
                        </a:p>
                      </a:txBody>
                      <a:tcPr/>
                    </a:tc>
                    <a:tc>
                      <a:txBody>
                        <a:bodyPr/>
                        <a:lstStyle/>
                        <a:p>
                          <a:pPr algn="ctr" latinLnBrk="1">
                            <a:lnSpc>
                              <a:spcPct val="100000"/>
                            </a:lnSpc>
                          </a:pPr>
                          <a:r>
                            <a:rPr lang="en-US" altLang="ko-KR" dirty="0"/>
                            <a:t>0.670</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lnSpc>
                              <a:spcPct val="100000"/>
                            </a:lnSpc>
                          </a:pPr>
                          <a:r>
                            <a:rPr lang="en-US" altLang="ko-KR" dirty="0"/>
                            <a:t>6</a:t>
                          </a:r>
                          <a:endParaRPr lang="ko-KR" altLang="en-US" dirty="0"/>
                        </a:p>
                      </a:txBody>
                      <a:tcPr/>
                    </a:tc>
                    <a:tc>
                      <a:txBody>
                        <a:bodyPr/>
                        <a:lstStyle/>
                        <a:p>
                          <a:pPr algn="ctr" latinLnBrk="1">
                            <a:lnSpc>
                              <a:spcPct val="100000"/>
                            </a:lnSpc>
                          </a:pPr>
                          <a:r>
                            <a:rPr lang="en-US" altLang="ko-KR" dirty="0"/>
                            <a:t>0.191</a:t>
                          </a:r>
                          <a:endParaRPr lang="ko-KR" altLang="en-US" dirty="0"/>
                        </a:p>
                      </a:txBody>
                      <a:tcPr/>
                    </a:tc>
                    <a:tc>
                      <a:txBody>
                        <a:bodyPr/>
                        <a:lstStyle/>
                        <a:p>
                          <a:pPr algn="ctr" latinLnBrk="1">
                            <a:lnSpc>
                              <a:spcPct val="100000"/>
                            </a:lnSpc>
                          </a:pPr>
                          <a:r>
                            <a:rPr lang="en-US" altLang="ko-KR" dirty="0"/>
                            <a:t>-0.751</a:t>
                          </a:r>
                          <a:endParaRPr lang="ko-KR" altLang="en-US" dirty="0"/>
                        </a:p>
                      </a:txBody>
                      <a:tcPr/>
                    </a:tc>
                    <a:tc>
                      <a:txBody>
                        <a:bodyPr/>
                        <a:lstStyle/>
                        <a:p>
                          <a:pPr algn="ctr" latinLnBrk="1">
                            <a:lnSpc>
                              <a:spcPct val="100000"/>
                            </a:lnSpc>
                          </a:pPr>
                          <a:r>
                            <a:rPr lang="en-US" altLang="ko-KR" dirty="0"/>
                            <a:t>-0.497</a:t>
                          </a:r>
                          <a:endParaRPr lang="ko-KR" altLang="en-US" dirty="0"/>
                        </a:p>
                      </a:txBody>
                      <a:tcPr/>
                    </a:tc>
                    <a:tc>
                      <a:txBody>
                        <a:bodyPr/>
                        <a:lstStyle/>
                        <a:p>
                          <a:pPr algn="ctr" latinLnBrk="1">
                            <a:lnSpc>
                              <a:spcPct val="100000"/>
                            </a:lnSpc>
                          </a:pPr>
                          <a:r>
                            <a:rPr lang="en-US" altLang="ko-KR" dirty="0"/>
                            <a:t>-0.182</a:t>
                          </a:r>
                          <a:endParaRPr lang="ko-KR" altLang="en-US" dirty="0"/>
                        </a:p>
                      </a:txBody>
                      <a:tcPr/>
                    </a:tc>
                    <a:tc>
                      <a:txBody>
                        <a:bodyPr/>
                        <a:lstStyle/>
                        <a:p>
                          <a:pPr algn="ctr" latinLnBrk="1">
                            <a:lnSpc>
                              <a:spcPct val="100000"/>
                            </a:lnSpc>
                          </a:pPr>
                          <a:r>
                            <a:rPr lang="en-US" altLang="ko-KR" dirty="0"/>
                            <a:t>0.109</a:t>
                          </a:r>
                          <a:endParaRPr lang="ko-KR" altLang="en-US" dirty="0"/>
                        </a:p>
                      </a:txBody>
                      <a:tcPr/>
                    </a:tc>
                    <a:tc>
                      <a:txBody>
                        <a:bodyPr/>
                        <a:lstStyle/>
                        <a:p>
                          <a:pPr algn="ctr" latinLnBrk="1">
                            <a:lnSpc>
                              <a:spcPct val="100000"/>
                            </a:lnSpc>
                          </a:pPr>
                          <a:r>
                            <a:rPr lang="en-US" altLang="ko-KR" dirty="0"/>
                            <a:t>0.370</a:t>
                          </a:r>
                          <a:endParaRPr lang="ko-KR" altLang="en-US" dirty="0"/>
                        </a:p>
                      </a:txBody>
                      <a:tcPr/>
                    </a:tc>
                    <a:extLst>
                      <a:ext uri="{0D108BD9-81ED-4DB2-BD59-A6C34878D82A}">
                        <a16:rowId xmlns:a16="http://schemas.microsoft.com/office/drawing/2014/main" val="1412464470"/>
                      </a:ext>
                    </a:extLst>
                  </a:tr>
                </a:tbl>
              </a:graphicData>
            </a:graphic>
          </p:graphicFrame>
        </mc:Fallback>
      </mc:AlternateContent>
    </p:spTree>
    <p:extLst>
      <p:ext uri="{BB962C8B-B14F-4D97-AF65-F5344CB8AC3E}">
        <p14:creationId xmlns:p14="http://schemas.microsoft.com/office/powerpoint/2010/main" val="34560183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1D5760-ADFE-475F-9A4D-3FABFABA8FEC}"/>
              </a:ext>
            </a:extLst>
          </p:cNvPr>
          <p:cNvSpPr>
            <a:spLocks noGrp="1"/>
          </p:cNvSpPr>
          <p:nvPr>
            <p:ph type="title"/>
          </p:nvPr>
        </p:nvSpPr>
        <p:spPr/>
        <p:txBody>
          <a:bodyPr/>
          <a:lstStyle/>
          <a:p>
            <a:r>
              <a:rPr lang="en-US" altLang="ko-KR" dirty="0"/>
              <a:t>Algorithm</a:t>
            </a:r>
            <a:br>
              <a:rPr lang="en-US" altLang="ko-KR" dirty="0"/>
            </a:br>
            <a:r>
              <a:rPr lang="en-US" altLang="ko-KR" sz="2400" dirty="0"/>
              <a:t>loss function and penalty term</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A05EA078-0B4E-4542-A0E3-73C078BCBEBC}"/>
                  </a:ext>
                </a:extLst>
              </p:cNvPr>
              <p:cNvSpPr>
                <a:spLocks noGrp="1"/>
              </p:cNvSpPr>
              <p:nvPr>
                <p:ph sz="half" idx="1"/>
              </p:nvPr>
            </p:nvSpPr>
            <p:spPr>
              <a:xfrm>
                <a:off x="838199" y="1825625"/>
                <a:ext cx="10515599" cy="4351338"/>
              </a:xfrm>
            </p:spPr>
            <p:txBody>
              <a:bodyPr>
                <a:normAutofit lnSpcReduction="10000"/>
              </a:bodyPr>
              <a:lstStyle/>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r>
                      <a:rPr lang="en-US" altLang="ko-KR" sz="2800" b="0" i="0" smtClean="0">
                        <a:latin typeface="Cambria Math" panose="02040503050406030204" pitchFamily="18" charset="0"/>
                      </a:rPr>
                      <m:t>+</m:t>
                    </m:r>
                    <m:r>
                      <a:rPr lang="ko-KR" altLang="en-US" sz="2800" b="0" i="1" smtClean="0">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endParaRPr lang="en-US" altLang="ko-KR" sz="2800" dirty="0"/>
              </a:p>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oMath>
                </a14:m>
                <a:r>
                  <a:rPr lang="ko-KR" altLang="en-US" sz="2800" dirty="0"/>
                  <a:t> </a:t>
                </a:r>
                <a:r>
                  <a:rPr lang="en-US" altLang="ko-KR" sz="2800" dirty="0"/>
                  <a:t>is a linear regression loss function</a:t>
                </a:r>
              </a:p>
              <a:p>
                <a14:m>
                  <m:oMath xmlns:m="http://schemas.openxmlformats.org/officeDocument/2006/math">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ko-KR" altLang="en-US" sz="2800" dirty="0"/>
                  <a:t> </a:t>
                </a:r>
                <a:r>
                  <a:rPr lang="en-US" altLang="ko-KR" sz="2800" dirty="0"/>
                  <a:t>is a penalty term which is learning parameter’s square shape</a:t>
                </a:r>
              </a:p>
              <a:p>
                <a14:m>
                  <m:oMath xmlns:m="http://schemas.openxmlformats.org/officeDocument/2006/math">
                    <m:r>
                      <a:rPr lang="ko-KR" altLang="en-US" i="1">
                        <a:latin typeface="Cambria Math" panose="02040503050406030204" pitchFamily="18" charset="0"/>
                      </a:rPr>
                      <m:t>𝛼</m:t>
                    </m:r>
                    <m:d>
                      <m:dPr>
                        <m:ctrlPr>
                          <a:rPr lang="en-US" altLang="ko-KR" sz="2800" b="0" i="1" smtClean="0">
                            <a:latin typeface="Cambria Math" panose="02040503050406030204" pitchFamily="18" charset="0"/>
                            <a:ea typeface="Cambria Math" panose="02040503050406030204" pitchFamily="18" charset="0"/>
                          </a:rPr>
                        </m:ctrlPr>
                      </m:dPr>
                      <m:e>
                        <m:r>
                          <a:rPr lang="en-US" altLang="ko-KR" sz="2800" b="0" i="1" smtClean="0">
                            <a:latin typeface="Cambria Math" panose="02040503050406030204" pitchFamily="18" charset="0"/>
                            <a:ea typeface="Cambria Math" panose="02040503050406030204" pitchFamily="18" charset="0"/>
                          </a:rPr>
                          <m:t>≥0</m:t>
                        </m:r>
                      </m:e>
                    </m:d>
                  </m:oMath>
                </a14:m>
                <a:r>
                  <a:rPr lang="en-US" altLang="ko-KR" sz="2800" dirty="0"/>
                  <a:t> is </a:t>
                </a:r>
                <a:r>
                  <a:rPr lang="en-US" altLang="ko-KR" dirty="0"/>
                  <a:t>a parameter that adjusts the intensity of normalization</a:t>
                </a:r>
              </a:p>
              <a:p>
                <a:r>
                  <a:rPr lang="en-US" altLang="ko-KR" sz="2800" dirty="0"/>
                  <a:t>If a, b is in</a:t>
                </a:r>
                <a:r>
                  <a:rPr lang="en-US" altLang="ko-KR" dirty="0"/>
                  <a:t>creasing,</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en-US" altLang="ko-KR" dirty="0"/>
                  <a:t> is increase, and linear regression loss function value increase</a:t>
                </a:r>
              </a:p>
              <a:p>
                <a:r>
                  <a:rPr lang="en-US" altLang="ko-KR" sz="2800" dirty="0"/>
                  <a:t>By making a, b minimize,</a:t>
                </a:r>
                <a14:m>
                  <m:oMath xmlns:m="http://schemas.openxmlformats.org/officeDocument/2006/math">
                    <m:r>
                      <a:rPr lang="en-US" altLang="ko-KR" b="0" i="0" smtClean="0">
                        <a:latin typeface="Cambria Math" panose="02040503050406030204" pitchFamily="18" charset="0"/>
                      </a:rPr>
                      <m:t>  </m:t>
                    </m:r>
                    <m:r>
                      <a:rPr lang="en-US" altLang="ko-KR" b="0" i="1" smtClean="0">
                        <a:latin typeface="Cambria Math" panose="02040503050406030204" pitchFamily="18" charset="0"/>
                      </a:rPr>
                      <m:t> </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en-US" altLang="ko-KR" dirty="0"/>
                  <a:t> is</a:t>
                </a:r>
                <a:r>
                  <a:rPr lang="en-US" altLang="ko-KR" sz="2800" dirty="0"/>
                  <a:t> minimized and linear regression loss function minimized</a:t>
                </a:r>
              </a:p>
            </p:txBody>
          </p:sp>
        </mc:Choice>
        <mc:Fallback xmlns="">
          <p:sp>
            <p:nvSpPr>
              <p:cNvPr id="3" name="내용 개체 틀 2">
                <a:extLst>
                  <a:ext uri="{FF2B5EF4-FFF2-40B4-BE49-F238E27FC236}">
                    <a16:creationId xmlns:a16="http://schemas.microsoft.com/office/drawing/2014/main" id="{A05EA078-0B4E-4542-A0E3-73C078BCBEBC}"/>
                  </a:ext>
                </a:extLst>
              </p:cNvPr>
              <p:cNvSpPr>
                <a:spLocks noGrp="1" noRot="1" noChangeAspect="1" noMove="1" noResize="1" noEditPoints="1" noAdjustHandles="1" noChangeArrowheads="1" noChangeShapeType="1" noTextEdit="1"/>
              </p:cNvSpPr>
              <p:nvPr>
                <p:ph sz="half" idx="1"/>
              </p:nvPr>
            </p:nvSpPr>
            <p:spPr>
              <a:xfrm>
                <a:off x="838199" y="1825625"/>
                <a:ext cx="10515599" cy="4351338"/>
              </a:xfrm>
              <a:blipFill>
                <a:blip r:embed="rId2"/>
                <a:stretch>
                  <a:fillRect l="-986" r="-58" b="-420"/>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DF68B9E3-0466-4F7A-A6A7-F1B9180B69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3303306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fontScale="92500"/>
          </a:bodyPr>
          <a:lstStyle/>
          <a:p>
            <a:r>
              <a:rPr lang="en-US" altLang="ko-KR" dirty="0"/>
              <a:t>Import </a:t>
            </a:r>
            <a:r>
              <a:rPr lang="en-US" altLang="ko-KR" dirty="0" err="1"/>
              <a:t>numpy</a:t>
            </a:r>
            <a:r>
              <a:rPr lang="en-US" altLang="ko-KR" dirty="0"/>
              <a:t>, </a:t>
            </a:r>
            <a:r>
              <a:rPr lang="en-US" altLang="ko-KR" dirty="0" err="1"/>
              <a:t>PolynomialFeatures</a:t>
            </a:r>
            <a:r>
              <a:rPr lang="en-US" altLang="ko-KR" dirty="0"/>
              <a:t>, Ridge, </a:t>
            </a:r>
            <a:r>
              <a:rPr lang="en-US" altLang="ko-KR" dirty="0" err="1"/>
              <a:t>mean_squared_error</a:t>
            </a:r>
            <a:endParaRPr lang="en-US" altLang="ko-KR" dirty="0"/>
          </a:p>
          <a:p>
            <a:r>
              <a:rPr lang="en-US" altLang="ko-KR" dirty="0"/>
              <a:t>Set training data and test data</a:t>
            </a:r>
          </a:p>
          <a:p>
            <a:r>
              <a:rPr lang="en-US" altLang="ko-KR" dirty="0"/>
              <a:t>Construct a six-order linear regression model</a:t>
            </a:r>
          </a:p>
          <a:p>
            <a:r>
              <a:rPr lang="en-US" altLang="ko-KR" dirty="0"/>
              <a:t>Conversion</a:t>
            </a:r>
            <a:r>
              <a:rPr lang="ko-KR" altLang="en-US" dirty="0"/>
              <a:t> </a:t>
            </a:r>
            <a:r>
              <a:rPr lang="en-US" altLang="ko-KR" dirty="0"/>
              <a:t>of</a:t>
            </a:r>
            <a:r>
              <a:rPr lang="ko-KR" altLang="en-US" dirty="0"/>
              <a:t> </a:t>
            </a:r>
            <a:r>
              <a:rPr lang="en-US" altLang="ko-KR" dirty="0"/>
              <a:t>the</a:t>
            </a:r>
            <a:r>
              <a:rPr lang="ko-KR" altLang="en-US" dirty="0"/>
              <a:t> </a:t>
            </a:r>
            <a:r>
              <a:rPr lang="en-US" altLang="ko-KR" dirty="0"/>
              <a:t>results</a:t>
            </a:r>
            <a:r>
              <a:rPr lang="ko-KR" altLang="en-US" dirty="0"/>
              <a:t> </a:t>
            </a:r>
            <a:r>
              <a:rPr lang="en-US" altLang="ko-KR" dirty="0"/>
              <a:t>into</a:t>
            </a:r>
            <a:r>
              <a:rPr lang="ko-KR" altLang="en-US" dirty="0"/>
              <a:t> </a:t>
            </a:r>
            <a:r>
              <a:rPr lang="en-US" altLang="ko-KR" dirty="0"/>
              <a:t>an</a:t>
            </a:r>
            <a:r>
              <a:rPr lang="ko-KR" altLang="en-US" dirty="0"/>
              <a:t> </a:t>
            </a:r>
            <a:r>
              <a:rPr lang="en-US" altLang="ko-KR" dirty="0"/>
              <a:t>array</a:t>
            </a:r>
            <a:r>
              <a:rPr lang="ko-KR" altLang="en-US" dirty="0"/>
              <a:t> </a:t>
            </a:r>
            <a:r>
              <a:rPr lang="en-US" altLang="ko-KR" dirty="0"/>
              <a:t>after</a:t>
            </a:r>
            <a:r>
              <a:rPr lang="ko-KR" altLang="en-US" dirty="0"/>
              <a:t> </a:t>
            </a:r>
            <a:r>
              <a:rPr lang="en-US" altLang="ko-KR" dirty="0"/>
              <a:t>learning</a:t>
            </a:r>
            <a:r>
              <a:rPr lang="ko-KR" altLang="en-US" dirty="0"/>
              <a:t> </a:t>
            </a:r>
            <a:r>
              <a:rPr lang="en-US" altLang="ko-KR" dirty="0"/>
              <a:t>the</a:t>
            </a:r>
            <a:r>
              <a:rPr lang="ko-KR" altLang="en-US" dirty="0"/>
              <a:t> </a:t>
            </a:r>
            <a:r>
              <a:rPr lang="en-US" altLang="ko-KR" dirty="0"/>
              <a:t>characteristics</a:t>
            </a:r>
            <a:r>
              <a:rPr lang="ko-KR" altLang="en-US" dirty="0"/>
              <a:t> </a:t>
            </a:r>
            <a:r>
              <a:rPr lang="en-US" altLang="ko-KR" dirty="0"/>
              <a:t>of</a:t>
            </a:r>
            <a:r>
              <a:rPr lang="ko-KR" altLang="en-US" dirty="0"/>
              <a:t> </a:t>
            </a:r>
            <a:r>
              <a:rPr lang="en-US" altLang="ko-KR" dirty="0"/>
              <a:t>the</a:t>
            </a:r>
            <a:r>
              <a:rPr lang="ko-KR" altLang="en-US" dirty="0"/>
              <a:t> </a:t>
            </a:r>
            <a:r>
              <a:rPr lang="en-US" altLang="ko-KR" dirty="0"/>
              <a:t>learning data in the sixth equation</a:t>
            </a:r>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DB4E4D8D-7F59-4DA1-8564-22A7BAB83C8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690688"/>
            <a:ext cx="5181600" cy="3573517"/>
          </a:xfrm>
        </p:spPr>
      </p:pic>
    </p:spTree>
    <p:extLst>
      <p:ext uri="{BB962C8B-B14F-4D97-AF65-F5344CB8AC3E}">
        <p14:creationId xmlns:p14="http://schemas.microsoft.com/office/powerpoint/2010/main" val="8600495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a:bodyPr>
          <a:lstStyle/>
          <a:p>
            <a:r>
              <a:rPr lang="en-US" altLang="ko-KR" dirty="0"/>
              <a:t>Make ridge model and </a:t>
            </a:r>
            <a:r>
              <a:rPr lang="en-US" altLang="ko-KR" dirty="0">
                <a:solidFill>
                  <a:srgbClr val="000000"/>
                </a:solidFill>
              </a:rPr>
              <a:t>learn</a:t>
            </a:r>
            <a:r>
              <a:rPr lang="en-US" altLang="ko-KR" b="0" i="0" dirty="0">
                <a:solidFill>
                  <a:srgbClr val="000000"/>
                </a:solidFill>
                <a:effectLst/>
              </a:rPr>
              <a:t> as a dependent variable of 6th-order learning outcomes and learning data</a:t>
            </a:r>
          </a:p>
          <a:p>
            <a:r>
              <a:rPr lang="en-US" altLang="ko-KR" dirty="0"/>
              <a:t>Predict output results of models made by learning from rigid regression</a:t>
            </a:r>
          </a:p>
          <a:p>
            <a:r>
              <a:rPr lang="en-US" altLang="ko-KR" dirty="0"/>
              <a:t>Calculation of mean square error</a:t>
            </a:r>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내용 개체 틀 8">
            <a:extLst>
              <a:ext uri="{FF2B5EF4-FFF2-40B4-BE49-F238E27FC236}">
                <a16:creationId xmlns:a16="http://schemas.microsoft.com/office/drawing/2014/main" id="{8C4A49CA-E746-4843-8CBD-E4ACDD40379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1690688"/>
            <a:ext cx="5181600" cy="3295684"/>
          </a:xfrm>
        </p:spPr>
      </p:pic>
    </p:spTree>
    <p:extLst>
      <p:ext uri="{BB962C8B-B14F-4D97-AF65-F5344CB8AC3E}">
        <p14:creationId xmlns:p14="http://schemas.microsoft.com/office/powerpoint/2010/main" val="3249153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Adjust normalization strength with</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oMath>
                </a14:m>
                <a:endParaRPr lang="ko-KR" altLang="en-US" dirty="0"/>
              </a:p>
            </p:txBody>
          </p:sp>
        </mc:Choice>
        <mc:Fallback xmlns="">
          <p:sp>
            <p:nvSpPr>
              <p:cNvPr id="2" name="제목 1">
                <a:extLst>
                  <a:ext uri="{FF2B5EF4-FFF2-40B4-BE49-F238E27FC236}">
                    <a16:creationId xmlns:a16="http://schemas.microsoft.com/office/drawing/2014/main" id="{C62B5975-9DE0-4663-B191-B96441AA5B6E}"/>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r>
                  <a:rPr lang="en-US" altLang="ko-KR" b="0" i="0" dirty="0">
                    <a:solidFill>
                      <a:srgbClr val="000000"/>
                    </a:solidFill>
                    <a:effectLst/>
                  </a:rPr>
                  <a:t>If the</a:t>
                </a:r>
                <a14:m>
                  <m:oMath xmlns:m="http://schemas.openxmlformats.org/officeDocument/2006/math">
                    <m:r>
                      <a:rPr lang="en-US" altLang="ko-KR" b="0" i="0" smtClean="0"/>
                      <m:t> </m:t>
                    </m:r>
                    <m:r>
                      <a:rPr lang="ko-KR" altLang="en-US" i="1"/>
                      <m:t>𝛼</m:t>
                    </m:r>
                    <m:r>
                      <a:rPr lang="en-US" altLang="ko-KR" b="0" i="1" smtClean="0"/>
                      <m:t> </m:t>
                    </m:r>
                  </m:oMath>
                </a14:m>
                <a:r>
                  <a:rPr lang="en-US" altLang="ko-KR" b="0" i="0" dirty="0">
                    <a:solidFill>
                      <a:srgbClr val="000000"/>
                    </a:solidFill>
                    <a:effectLst/>
                  </a:rPr>
                  <a:t>value is large, the increase in learning parameters decreases and the graph shape becomes simple.</a:t>
                </a:r>
              </a:p>
              <a:p>
                <a:r>
                  <a:rPr lang="en-US" altLang="ko-KR" b="0" i="0" dirty="0">
                    <a:solidFill>
                      <a:srgbClr val="000000"/>
                    </a:solidFill>
                    <a:effectLst/>
                  </a:rPr>
                  <a:t>Conversely, if the</a:t>
                </a:r>
                <a14:m>
                  <m:oMath xmlns:m="http://schemas.openxmlformats.org/officeDocument/2006/math">
                    <m:r>
                      <a:rPr lang="en-US" altLang="ko-KR" b="0" i="0" smtClean="0"/>
                      <m:t> </m:t>
                    </m:r>
                    <m:r>
                      <a:rPr lang="ko-KR" altLang="en-US" i="1"/>
                      <m:t>𝛼</m:t>
                    </m:r>
                    <m:r>
                      <a:rPr lang="en-US" altLang="ko-KR" b="0" i="1" smtClean="0"/>
                      <m:t> </m:t>
                    </m:r>
                  </m:oMath>
                </a14:m>
                <a:r>
                  <a:rPr lang="en-US" altLang="ko-KR" b="0" i="0" dirty="0">
                    <a:solidFill>
                      <a:srgbClr val="000000"/>
                    </a:solidFill>
                    <a:effectLst/>
                  </a:rPr>
                  <a:t>value is small, a penalty when the absolute value of the learning parameter increases is hardly given, making the model complicated.</a:t>
                </a:r>
              </a:p>
              <a:p>
                <a:r>
                  <a:rPr lang="en-US" altLang="ko-KR" b="0" i="0" dirty="0">
                    <a:solidFill>
                      <a:srgbClr val="000000"/>
                    </a:solidFill>
                    <a:effectLst/>
                  </a:rPr>
                  <a:t>If</a:t>
                </a:r>
                <a14:m>
                  <m:oMath xmlns:m="http://schemas.openxmlformats.org/officeDocument/2006/math">
                    <m:r>
                      <a:rPr lang="en-US" altLang="ko-KR" b="0" i="0" smtClean="0"/>
                      <m:t> </m:t>
                    </m:r>
                    <m:r>
                      <a:rPr lang="ko-KR" altLang="en-US" i="1"/>
                      <m:t>𝛼</m:t>
                    </m:r>
                    <m:r>
                      <a:rPr lang="en-US" altLang="ko-KR" b="0" i="1" smtClean="0"/>
                      <m:t> </m:t>
                    </m:r>
                  </m:oMath>
                </a14:m>
                <a:r>
                  <a:rPr lang="en-US" altLang="ko-KR" b="0" i="0" dirty="0">
                    <a:solidFill>
                      <a:srgbClr val="000000"/>
                    </a:solidFill>
                    <a:effectLst/>
                  </a:rPr>
                  <a:t>= 0, it is the same state as linear regression without normalization.</a:t>
                </a:r>
                <a:endParaRPr lang="ko-KR" altLang="en-US" dirty="0"/>
              </a:p>
            </p:txBody>
          </p:sp>
        </mc:Choice>
        <mc:Fallback>
          <p:sp>
            <p:nvSpPr>
              <p:cNvPr id="3" name="내용 개체 틀 2">
                <a:extLst>
                  <a:ext uri="{FF2B5EF4-FFF2-40B4-BE49-F238E27FC236}">
                    <a16:creationId xmlns:a16="http://schemas.microsoft.com/office/drawing/2014/main" id="{012C5217-A6B7-43AC-BE3A-C85336288F79}"/>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025620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LASSO regression</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a:bodyPr>
          <a:lstStyle/>
          <a:p>
            <a:r>
              <a:rPr lang="en-US" altLang="ko-KR" b="0" i="0" dirty="0">
                <a:solidFill>
                  <a:srgbClr val="000000"/>
                </a:solidFill>
                <a:effectLst/>
                <a:latin typeface="noto"/>
              </a:rPr>
              <a:t>In rigid regression, the graph is circular as shown in the right picture because the penalty term is the sum of the learning parameters squared.</a:t>
            </a:r>
          </a:p>
          <a:p>
            <a:r>
              <a:rPr lang="en-US" altLang="ko-KR" b="0" i="0">
                <a:solidFill>
                  <a:srgbClr val="000000"/>
                </a:solidFill>
                <a:effectLst/>
                <a:latin typeface="noto"/>
              </a:rPr>
              <a:t>In LASSO regression, the penalty term is the sum of the absolute values, so the graph is square as shown in the figure on the right.</a:t>
            </a:r>
            <a:endParaRPr lang="en-US" altLang="ko-KR"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13" name="내용 개체 틀 12">
            <a:extLst>
              <a:ext uri="{FF2B5EF4-FFF2-40B4-BE49-F238E27FC236}">
                <a16:creationId xmlns:a16="http://schemas.microsoft.com/office/drawing/2014/main" id="{C36E266A-4D03-4E2A-8572-CDE0925283CC}"/>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1690688"/>
            <a:ext cx="5181600" cy="3644881"/>
          </a:xfrm>
        </p:spPr>
      </p:pic>
    </p:spTree>
    <p:extLst>
      <p:ext uri="{BB962C8B-B14F-4D97-AF65-F5344CB8AC3E}">
        <p14:creationId xmlns:p14="http://schemas.microsoft.com/office/powerpoint/2010/main" val="41882244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LASSO regression</a:t>
            </a:r>
            <a:endParaRPr lang="ko-KR" altLang="en-US" dirty="0"/>
          </a:p>
        </p:txBody>
      </p:sp>
      <mc:AlternateContent xmlns:mc="http://schemas.openxmlformats.org/markup-compatibility/2006">
        <mc:Choice xmlns:a14="http://schemas.microsoft.com/office/drawing/2010/main" Requires="a14">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r>
                      <a:rPr lang="en-US" altLang="ko-KR" sz="2800" b="0" i="0" smtClean="0">
                        <a:latin typeface="Cambria Math" panose="02040503050406030204" pitchFamily="18" charset="0"/>
                      </a:rPr>
                      <m:t>+</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𝑎</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𝑏</m:t>
                    </m:r>
                    <m:r>
                      <a:rPr lang="en-US" altLang="ko-KR" sz="2800" b="0" i="1" smtClean="0">
                        <a:latin typeface="Cambria Math" panose="02040503050406030204" pitchFamily="18" charset="0"/>
                        <a:ea typeface="Cambria Math" panose="02040503050406030204" pitchFamily="18" charset="0"/>
                      </a:rPr>
                      <m:t>|)</m:t>
                    </m:r>
                  </m:oMath>
                </a14:m>
                <a:endParaRPr lang="en-US" altLang="ko-KR" sz="2800" dirty="0"/>
              </a:p>
              <a:p>
                <a:r>
                  <a:rPr lang="en-US" altLang="ko-KR" dirty="0"/>
                  <a:t>Ridge regression and LASSO regression are the same in that the increase in learning parameters decreases as the penalty term is added</a:t>
                </a:r>
              </a:p>
              <a:p>
                <a:r>
                  <a:rPr lang="en-US" altLang="ko-KR" dirty="0"/>
                  <a:t>In LASSO regression, there is a difference that the </a:t>
                </a:r>
                <a14:m>
                  <m:oMath xmlns:m="http://schemas.openxmlformats.org/officeDocument/2006/math">
                    <m:r>
                      <a:rPr lang="en-US" altLang="ko-KR" i="1" dirty="0" smtClean="0">
                        <a:latin typeface="Cambria Math" panose="02040503050406030204" pitchFamily="18" charset="0"/>
                      </a:rPr>
                      <m:t>𝑏</m:t>
                    </m:r>
                  </m:oMath>
                </a14:m>
                <a:r>
                  <a:rPr lang="en-US" altLang="ko-KR" dirty="0"/>
                  <a:t> learning parameter is 0 at optimum solution</a:t>
                </a:r>
              </a:p>
              <a:p>
                <a:r>
                  <a:rPr lang="en-US" altLang="ko-KR" dirty="0"/>
                  <a:t>Therefore, in LASSO regression, the </a:t>
                </a:r>
                <a14:m>
                  <m:oMath xmlns:m="http://schemas.openxmlformats.org/officeDocument/2006/math">
                    <m:r>
                      <a:rPr lang="en-US" altLang="ko-KR" i="1" dirty="0" smtClean="0">
                        <a:latin typeface="Cambria Math" panose="02040503050406030204" pitchFamily="18" charset="0"/>
                      </a:rPr>
                      <m:t>𝑏</m:t>
                    </m:r>
                  </m:oMath>
                </a14:m>
                <a:r>
                  <a:rPr lang="en-US" altLang="ko-KR" dirty="0"/>
                  <a:t> parameter tends to become 0</a:t>
                </a:r>
              </a:p>
              <a:p>
                <a:endParaRPr lang="ko-KR" altLang="en-US" dirty="0"/>
              </a:p>
            </p:txBody>
          </p:sp>
        </mc:Choice>
        <mc:Fallback>
          <p:sp>
            <p:nvSpPr>
              <p:cNvPr id="3" name="내용 개체 틀 2">
                <a:extLst>
                  <a:ext uri="{FF2B5EF4-FFF2-40B4-BE49-F238E27FC236}">
                    <a16:creationId xmlns:a16="http://schemas.microsoft.com/office/drawing/2014/main" id="{012C5217-A6B7-43AC-BE3A-C85336288F79}"/>
                  </a:ext>
                </a:extLst>
              </p:cNvPr>
              <p:cNvSpPr>
                <a:spLocks noGrp="1" noRot="1" noChangeAspect="1" noMove="1" noResize="1" noEditPoints="1" noAdjustHandles="1" noChangeArrowheads="1" noChangeShapeType="1" noTextEdit="1"/>
              </p:cNvSpPr>
              <p:nvPr>
                <p:ph idx="1"/>
              </p:nvPr>
            </p:nvSpPr>
            <p:spPr>
              <a:blipFill>
                <a:blip r:embed="rId2"/>
                <a:stretch>
                  <a:fillRect l="-1043" r="-116"/>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16346597"/>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1413</TotalTime>
  <Words>743</Words>
  <Application>Microsoft Office PowerPoint</Application>
  <PresentationFormat>와이드스크린</PresentationFormat>
  <Paragraphs>172</Paragraphs>
  <Slides>13</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13</vt:i4>
      </vt:variant>
    </vt:vector>
  </HeadingPairs>
  <TitlesOfParts>
    <vt:vector size="18" baseType="lpstr">
      <vt:lpstr>noto</vt:lpstr>
      <vt:lpstr>맑은 고딕</vt:lpstr>
      <vt:lpstr>Arial</vt:lpstr>
      <vt:lpstr>Cambria Math</vt:lpstr>
      <vt:lpstr>Office 테마</vt:lpstr>
      <vt:lpstr>Supervised Learning</vt:lpstr>
      <vt:lpstr>Fundamental concept</vt:lpstr>
      <vt:lpstr>Fundamental concept making practice data</vt:lpstr>
      <vt:lpstr>Learning errors and test errors by order</vt:lpstr>
      <vt:lpstr>Consequences of using normalization for linear regression</vt:lpstr>
      <vt:lpstr>Algorithm only linear regression</vt:lpstr>
      <vt:lpstr>Algorithm linear regression with normalization</vt:lpstr>
      <vt:lpstr>Algorithm loss function and penalty term</vt:lpstr>
      <vt:lpstr>Sample code</vt:lpstr>
      <vt:lpstr>Sample code</vt:lpstr>
      <vt:lpstr>Adjust normalization strength with α</vt:lpstr>
      <vt:lpstr>LASSO regression</vt:lpstr>
      <vt:lpstr>LASSO regression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신 주영</dc:creator>
  <cp:lastModifiedBy>신 주영</cp:lastModifiedBy>
  <cp:revision>48</cp:revision>
  <dcterms:created xsi:type="dcterms:W3CDTF">2022-03-30T03:21:26Z</dcterms:created>
  <dcterms:modified xsi:type="dcterms:W3CDTF">2022-04-11T01:48:01Z</dcterms:modified>
</cp:coreProperties>
</file>