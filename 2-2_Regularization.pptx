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9" r:id="rId13"/>
    <p:sldId id="268"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3E645E-E2A4-4C06-A95F-CE6822496B6D}"/>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A0079BBF-A226-40E2-81EA-427D89358D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D0FA0E9-BA33-4BAD-89EC-11D9A0E5B828}"/>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522CDDC1-04D8-4DE1-B4F8-61BA02F30B4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43618C9-FD19-4A5B-BFA3-E65AA38636B5}"/>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920730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FAE3C4C-8505-4C6E-A362-D56753125F2C}"/>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BE43865-9094-45AB-AA41-8FA726760A3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69AC607-01E8-4774-AF93-B3DE7374F0D2}"/>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1A77C115-1834-43BE-9423-AD98CB13DC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C01FF4E-753C-48D0-821D-370D8E787806}"/>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828053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1FF101-27A1-4E8C-85C7-68899664D6D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1234B4C-03C4-4FFD-9186-09D6C9B6C7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B10198C0-3733-499D-9CB5-5DD412D64527}"/>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AD050F9E-ED34-4A97-84CA-D5244AC56BC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057A787-EC40-46A6-AC4A-DD95E10A0EAD}"/>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2833893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17DE68-3C24-4BE5-BFE3-381D3C4CF9D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252A226-DFD3-4EA3-BC62-E859A91BA7F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1827AF3-5E43-4A52-9F31-57B777505D37}"/>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FFF54CF4-D7DC-45C0-8004-393BA99CC241}"/>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7B81A39E-1513-4174-BC18-864B32E4897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379A0BF-5805-4CA7-8E67-B9420BC02B44}"/>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3347663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0CDEAB-689A-4ACE-B6D9-6C4DF0652D04}"/>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5044452-286C-4926-9380-5E487CA94C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C8D03A7-EDAF-44F0-BB3F-5A1B0915532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E9E2D91-AFE1-4F73-B58B-428B1B24E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C4387DDF-2BBA-40AD-9007-AB985383F7D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423BBCFF-B7DA-44B4-A5B4-6959D1BBD221}"/>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8" name="바닥글 개체 틀 7">
            <a:extLst>
              <a:ext uri="{FF2B5EF4-FFF2-40B4-BE49-F238E27FC236}">
                <a16:creationId xmlns:a16="http://schemas.microsoft.com/office/drawing/2014/main" id="{F3E4E16E-7770-40A5-A580-25F6C451658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0D19EA8-327B-41D8-98E9-9AA220747E8D}"/>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42503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860477-B01A-49B5-90EC-F4169A615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ACBC916-D33C-4D23-9CA6-F68702CC917D}"/>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4" name="바닥글 개체 틀 3">
            <a:extLst>
              <a:ext uri="{FF2B5EF4-FFF2-40B4-BE49-F238E27FC236}">
                <a16:creationId xmlns:a16="http://schemas.microsoft.com/office/drawing/2014/main" id="{FBADF844-6D77-4E25-A802-89461F9D5F28}"/>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864353A-46E4-4740-9360-A25B7E3776C0}"/>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45614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9BBEAEB9-C336-4DF5-B7D9-14AA04BB6380}"/>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3" name="바닥글 개체 틀 2">
            <a:extLst>
              <a:ext uri="{FF2B5EF4-FFF2-40B4-BE49-F238E27FC236}">
                <a16:creationId xmlns:a16="http://schemas.microsoft.com/office/drawing/2014/main" id="{B12C234D-3E17-4951-BECE-4EE0DBDAE8B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0BA5109-ECCA-4C46-B233-5246697ADD37}"/>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97383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FDFA3AF-5D4A-4BA9-B7A7-1B8F69077B6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8FC5C61-9712-411F-992D-C7B2F12155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269CE8-DE45-43B8-BEEE-1A601D33F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5622817-716C-4426-8A21-1E469CB036F0}"/>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15B4180C-34AF-4B70-8B97-9D057E29B78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DB4501E-F127-44AB-B726-7CF75BACBF42}"/>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2470693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8E562A-DC21-4028-84CA-FC52E6AA209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33309AA0-D846-4EFD-BD12-85A307E797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FD3FE0F-F1D7-41F3-A0FA-197B90049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2019DBD-BCBE-4B1F-BD8B-73E945722E1B}"/>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A7276515-BF87-48C2-97A4-9B33327DFF3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DAADEC0-8C7C-4224-B239-61B2A6DF340D}"/>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567491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44747E-496D-4E51-9C2F-41401B7735F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D2909F39-D250-46AE-B081-54A9CA3AAB1E}"/>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AF4D27F-A7DF-497B-B76B-0B3F2CFD9891}"/>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20170295-3126-4DAC-A692-30CED232B3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F795014-DB95-48D1-A262-2BD89356364F}"/>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428476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24F7A76-5F2B-4241-A175-555D5E648234}"/>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00BC974-7677-4E8D-AFDD-E27FC997220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6C1391F-FA79-4489-9D58-AC62C6C7C6DF}"/>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3C29926F-69F2-47C1-B6B7-F4A6DAB1907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755537D-E309-46A2-AF64-813F2AABB393}"/>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866159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3DDD17B-2078-48CA-A9EA-F6D8B19A94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470B9EC-47BC-4286-9380-E0B7BAB87E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806479D-7F85-4998-9991-651C97177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74A49CC9-CCDE-48DE-9F48-C3483985E6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72F9CE54-E664-427B-BA62-D6EAA49DAE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3768708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Regularization</a:t>
            </a:r>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49FE3E3-7358-4C11-8798-66570DF0002A}"/>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349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dirty="0"/>
              <a:t>Normalization is used as a way to prevent over-fitting of the model</a:t>
            </a:r>
          </a:p>
          <a:p>
            <a:r>
              <a:rPr lang="en-US" altLang="ko-KR" dirty="0"/>
              <a:t>In over-fitting, the error between the execution result and the correct answer data is very small, but the error between the result of executing the model with test data and the correct answer data is very large</a:t>
            </a:r>
            <a:endParaRPr lang="ko-KR" altLang="en-US" dirty="0"/>
          </a:p>
        </p:txBody>
      </p:sp>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2791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E29B7F-4E03-43C7-850F-72266A26D36C}"/>
              </a:ext>
            </a:extLst>
          </p:cNvPr>
          <p:cNvSpPr>
            <a:spLocks noGrp="1"/>
          </p:cNvSpPr>
          <p:nvPr>
            <p:ph type="title"/>
          </p:nvPr>
        </p:nvSpPr>
        <p:spPr/>
        <p:txBody>
          <a:bodyPr/>
          <a:lstStyle/>
          <a:p>
            <a:r>
              <a:rPr lang="en-US" altLang="ko-KR" dirty="0"/>
              <a:t>Fundamental concept</a:t>
            </a:r>
            <a:br>
              <a:rPr lang="en-US" altLang="ko-KR" dirty="0"/>
            </a:br>
            <a:r>
              <a:rPr lang="en-US" altLang="ko-KR" sz="2400" dirty="0"/>
              <a:t>making practice data</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3004C253-95F7-40CB-9025-032A70D4D9D8}"/>
                  </a:ext>
                </a:extLst>
              </p:cNvPr>
              <p:cNvSpPr>
                <a:spLocks noGrp="1"/>
              </p:cNvSpPr>
              <p:nvPr>
                <p:ph sz="half" idx="1"/>
              </p:nvPr>
            </p:nvSpPr>
            <p:spPr/>
            <p:txBody>
              <a:bodyPr/>
              <a:lstStyle/>
              <a:p>
                <a:r>
                  <a:rPr lang="en-US" altLang="ko-KR" b="0" i="0" dirty="0">
                    <a:solidFill>
                      <a:srgbClr val="000000"/>
                    </a:solidFill>
                    <a:effectLst/>
                  </a:rPr>
                  <a:t>We created data by adding random numbers to the function </a:t>
                </a: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func>
                      <m:funcPr>
                        <m:ctrlPr>
                          <a:rPr lang="en-US" altLang="ko-KR" b="0" i="1" smtClean="0">
                            <a:solidFill>
                              <a:srgbClr val="000000"/>
                            </a:solidFill>
                            <a:effectLst/>
                            <a:latin typeface="Cambria Math" panose="02040503050406030204" pitchFamily="18" charset="0"/>
                          </a:rPr>
                        </m:ctrlPr>
                      </m:funcPr>
                      <m:fName>
                        <m:r>
                          <m:rPr>
                            <m:sty m:val="p"/>
                          </m:rPr>
                          <a:rPr lang="en-US" altLang="ko-KR" b="0" i="1" smtClean="0">
                            <a:solidFill>
                              <a:srgbClr val="000000"/>
                            </a:solidFill>
                            <a:effectLst/>
                            <a:latin typeface="Cambria Math" panose="02040503050406030204" pitchFamily="18" charset="0"/>
                          </a:rPr>
                          <m:t>sin</m:t>
                        </m:r>
                      </m:fName>
                      <m:e>
                        <m:d>
                          <m:dPr>
                            <m:ctrlPr>
                              <a:rPr lang="en-US" altLang="ko-KR" b="0" i="1" smtClean="0">
                                <a:solidFill>
                                  <a:srgbClr val="000000"/>
                                </a:solidFill>
                                <a:effectLst/>
                                <a:latin typeface="Cambria Math" panose="02040503050406030204" pitchFamily="18" charset="0"/>
                              </a:rPr>
                            </m:ctrlPr>
                          </m:dPr>
                          <m:e>
                            <m:r>
                              <a:rPr lang="en-US" altLang="ko-KR" b="0" i="1" smtClean="0">
                                <a:solidFill>
                                  <a:srgbClr val="000000"/>
                                </a:solidFill>
                                <a:effectLst/>
                                <a:latin typeface="Cambria Math" panose="02040503050406030204" pitchFamily="18" charset="0"/>
                              </a:rPr>
                              <m:t>2</m:t>
                            </m:r>
                            <m:r>
                              <a:rPr lang="en-US" altLang="ko-KR" b="0" i="1" smtClean="0">
                                <a:solidFill>
                                  <a:srgbClr val="000000"/>
                                </a:solidFill>
                                <a:effectLst/>
                                <a:latin typeface="Cambria Math" panose="02040503050406030204" pitchFamily="18" charset="0"/>
                              </a:rPr>
                              <m:t>𝜋𝜒</m:t>
                            </m:r>
                          </m:e>
                        </m:d>
                      </m:e>
                    </m:func>
                  </m:oMath>
                </a14:m>
                <a:endParaRPr lang="en-US" altLang="ko-KR" dirty="0"/>
              </a:p>
              <a:p>
                <a:r>
                  <a:rPr lang="en-US" altLang="ko-KR" dirty="0"/>
                  <a:t>We’ll apply linear regression to this data to make it a machine learning model</a:t>
                </a:r>
              </a:p>
              <a:p>
                <a:r>
                  <a:rPr lang="en-US" altLang="ko-KR" dirty="0"/>
                  <a:t>When the order is increased, we’ll check how the learning error and test error change</a:t>
                </a:r>
                <a:endParaRPr lang="ko-KR" altLang="en-US" dirty="0"/>
              </a:p>
            </p:txBody>
          </p:sp>
        </mc:Choice>
        <mc:Fallback xmlns="">
          <p:sp>
            <p:nvSpPr>
              <p:cNvPr id="3" name="내용 개체 틀 2">
                <a:extLst>
                  <a:ext uri="{FF2B5EF4-FFF2-40B4-BE49-F238E27FC236}">
                    <a16:creationId xmlns:a16="http://schemas.microsoft.com/office/drawing/2014/main" id="{3004C253-95F7-40CB-9025-032A70D4D9D8}"/>
                  </a:ext>
                </a:extLst>
              </p:cNvPr>
              <p:cNvSpPr>
                <a:spLocks noGrp="1" noRot="1" noChangeAspect="1" noMove="1" noResize="1" noEditPoints="1" noAdjustHandles="1" noChangeArrowheads="1" noChangeShapeType="1" noTextEdit="1"/>
              </p:cNvSpPr>
              <p:nvPr>
                <p:ph sz="half" idx="1"/>
              </p:nvPr>
            </p:nvSpPr>
            <p:spPr>
              <a:blipFill>
                <a:blip r:embed="rId2"/>
                <a:stretch>
                  <a:fillRect l="-2118" t="-2381" r="-2000"/>
                </a:stretch>
              </a:blipFill>
            </p:spPr>
            <p:txBody>
              <a:bodyPr/>
              <a:lstStyle/>
              <a:p>
                <a:r>
                  <a:rPr lang="ko-KR" altLang="en-US">
                    <a:noFill/>
                  </a:rPr>
                  <a:t> </a:t>
                </a:r>
              </a:p>
            </p:txBody>
          </p:sp>
        </mc:Fallback>
      </mc:AlternateContent>
      <p:pic>
        <p:nvPicPr>
          <p:cNvPr id="7" name="내용 개체 틀 6">
            <a:extLst>
              <a:ext uri="{FF2B5EF4-FFF2-40B4-BE49-F238E27FC236}">
                <a16:creationId xmlns:a16="http://schemas.microsoft.com/office/drawing/2014/main" id="{03476510-8DD3-401E-8EF3-71CA8A78B9D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046273"/>
            <a:ext cx="5181600" cy="3910041"/>
          </a:xfrm>
        </p:spPr>
      </p:pic>
      <p:pic>
        <p:nvPicPr>
          <p:cNvPr id="5" name="그림 4">
            <a:extLst>
              <a:ext uri="{FF2B5EF4-FFF2-40B4-BE49-F238E27FC236}">
                <a16:creationId xmlns:a16="http://schemas.microsoft.com/office/drawing/2014/main" id="{308C5408-F85B-41D2-AD6C-AD7855A73A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59676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Learning errors and test errors by order</a:t>
            </a:r>
            <a:endParaRPr lang="ko-KR" altLang="en-US" dirty="0"/>
          </a:p>
        </p:txBody>
      </p:sp>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p:txBody>
          <a:bodyPr>
            <a:normAutofit lnSpcReduction="10000"/>
          </a:bodyPr>
          <a:lstStyle/>
          <a:p>
            <a:r>
              <a:rPr lang="en-US" altLang="ko-KR" dirty="0"/>
              <a:t>As</a:t>
            </a:r>
            <a:r>
              <a:rPr lang="ko-KR" altLang="en-US" dirty="0"/>
              <a:t> </a:t>
            </a:r>
            <a:r>
              <a:rPr lang="en-US" altLang="ko-KR" dirty="0"/>
              <a:t>the</a:t>
            </a:r>
            <a:r>
              <a:rPr lang="ko-KR" altLang="en-US" dirty="0"/>
              <a:t> </a:t>
            </a:r>
            <a:r>
              <a:rPr lang="en-US" altLang="ko-KR" dirty="0"/>
              <a:t>order</a:t>
            </a:r>
            <a:r>
              <a:rPr lang="ko-KR" altLang="en-US" dirty="0"/>
              <a:t> </a:t>
            </a:r>
            <a:r>
              <a:rPr lang="en-US" altLang="ko-KR" dirty="0"/>
              <a:t>increases,</a:t>
            </a:r>
            <a:r>
              <a:rPr lang="ko-KR" altLang="en-US" dirty="0"/>
              <a:t> </a:t>
            </a:r>
            <a:r>
              <a:rPr lang="en-US" altLang="ko-KR" dirty="0"/>
              <a:t>the</a:t>
            </a:r>
            <a:r>
              <a:rPr lang="ko-KR" altLang="en-US" dirty="0"/>
              <a:t> </a:t>
            </a:r>
            <a:r>
              <a:rPr lang="en-US" altLang="ko-KR" dirty="0"/>
              <a:t>learning</a:t>
            </a:r>
            <a:r>
              <a:rPr lang="ko-KR" altLang="en-US" dirty="0"/>
              <a:t> </a:t>
            </a:r>
            <a:r>
              <a:rPr lang="en-US" altLang="ko-KR" dirty="0"/>
              <a:t>error</a:t>
            </a:r>
            <a:r>
              <a:rPr lang="ko-KR" altLang="en-US" dirty="0"/>
              <a:t> </a:t>
            </a:r>
            <a:r>
              <a:rPr lang="en-US" altLang="ko-KR" dirty="0"/>
              <a:t>gradually</a:t>
            </a:r>
            <a:r>
              <a:rPr lang="ko-KR" altLang="en-US" dirty="0"/>
              <a:t> </a:t>
            </a:r>
            <a:r>
              <a:rPr lang="en-US" altLang="ko-KR" dirty="0"/>
              <a:t>decreases</a:t>
            </a:r>
          </a:p>
          <a:p>
            <a:r>
              <a:rPr lang="en-US" altLang="ko-KR" dirty="0"/>
              <a:t>The test error increases as the order increases</a:t>
            </a:r>
          </a:p>
          <a:p>
            <a:r>
              <a:rPr lang="en-US" altLang="ko-KR" b="0" i="0" dirty="0">
                <a:solidFill>
                  <a:srgbClr val="000000"/>
                </a:solidFill>
                <a:effectLst/>
              </a:rPr>
              <a:t>The sixth-order linear regression is a complex model, so learning errors are reduced, but over-fitting occurs and cannot be called a generalized model.</a:t>
            </a:r>
            <a:endParaRPr lang="ko-KR" altLang="en-US" dirty="0"/>
          </a:p>
        </p:txBody>
      </p:sp>
      <p:graphicFrame>
        <p:nvGraphicFramePr>
          <p:cNvPr id="6" name="표 6">
            <a:extLst>
              <a:ext uri="{FF2B5EF4-FFF2-40B4-BE49-F238E27FC236}">
                <a16:creationId xmlns:a16="http://schemas.microsoft.com/office/drawing/2014/main" id="{04AE283B-08F1-450E-A369-B3ECC640DD57}"/>
              </a:ext>
            </a:extLst>
          </p:cNvPr>
          <p:cNvGraphicFramePr>
            <a:graphicFrameLocks noGrp="1"/>
          </p:cNvGraphicFramePr>
          <p:nvPr>
            <p:ph sz="half" idx="2"/>
            <p:extLst>
              <p:ext uri="{D42A27DB-BD31-4B8C-83A1-F6EECF244321}">
                <p14:modId xmlns:p14="http://schemas.microsoft.com/office/powerpoint/2010/main" val="3624785141"/>
              </p:ext>
            </p:extLst>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0.618</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0.176</a:t>
                      </a:r>
                      <a:endParaRPr lang="ko-KR" altLang="en-US" dirty="0"/>
                    </a:p>
                  </a:txBody>
                  <a:tcPr/>
                </a:tc>
                <a:tc>
                  <a:txBody>
                    <a:bodyPr/>
                    <a:lstStyle/>
                    <a:p>
                      <a:pPr algn="ctr" latinLnBrk="1"/>
                      <a:r>
                        <a:rPr lang="en-US" altLang="ko-KR" dirty="0"/>
                        <a:t>0.193</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0.081</a:t>
                      </a:r>
                      <a:endParaRPr lang="ko-KR" altLang="en-US" dirty="0"/>
                    </a:p>
                  </a:txBody>
                  <a:tcPr/>
                </a:tc>
                <a:tc>
                  <a:txBody>
                    <a:bodyPr/>
                    <a:lstStyle/>
                    <a:p>
                      <a:pPr algn="ctr" latinLnBrk="1"/>
                      <a:r>
                        <a:rPr lang="en-US" altLang="ko-KR" dirty="0"/>
                        <a:t>0.492</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0.024</a:t>
                      </a:r>
                      <a:endParaRPr lang="ko-KR" altLang="en-US" dirty="0"/>
                    </a:p>
                  </a:txBody>
                  <a:tcPr/>
                </a:tc>
                <a:tc>
                  <a:txBody>
                    <a:bodyPr/>
                    <a:lstStyle/>
                    <a:p>
                      <a:pPr algn="ctr" latinLnBrk="1"/>
                      <a:r>
                        <a:rPr lang="en-US" altLang="ko-KR" dirty="0"/>
                        <a:t>3.472</a:t>
                      </a:r>
                      <a:endParaRPr lang="ko-KR" altLang="en-US" dirty="0"/>
                    </a:p>
                  </a:txBody>
                  <a:tcPr/>
                </a:tc>
                <a:extLst>
                  <a:ext uri="{0D108BD9-81ED-4DB2-BD59-A6C34878D82A}">
                    <a16:rowId xmlns:a16="http://schemas.microsoft.com/office/drawing/2014/main" val="1208870466"/>
                  </a:ext>
                </a:extLst>
              </a:tr>
            </a:tbl>
          </a:graphicData>
        </a:graphic>
      </p:graphicFrame>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47850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Consequences of using normalization for linear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p:txBody>
          <a:bodyPr/>
          <a:lstStyle/>
          <a:p>
            <a:r>
              <a:rPr lang="en-US" altLang="ko-KR" b="0" i="0" dirty="0">
                <a:solidFill>
                  <a:srgbClr val="000000"/>
                </a:solidFill>
                <a:effectLst/>
              </a:rPr>
              <a:t>Normalization prevents over-fitting by adding a penalty term to the loss function</a:t>
            </a:r>
          </a:p>
          <a:p>
            <a:r>
              <a:rPr lang="en-US" altLang="ko-KR" b="0" i="0" dirty="0">
                <a:solidFill>
                  <a:srgbClr val="000000"/>
                </a:solidFill>
                <a:effectLst/>
              </a:rPr>
              <a:t>When the order increased, the test error did not increase, so that over-fitting could be prevented</a:t>
            </a:r>
          </a:p>
          <a:p>
            <a:r>
              <a:rPr lang="en-US" altLang="ko-KR" dirty="0">
                <a:solidFill>
                  <a:srgbClr val="000000"/>
                </a:solidFill>
              </a:rPr>
              <a:t>We’re going to regularization method as a ridge regression</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8" name="표 6">
            <a:extLst>
              <a:ext uri="{FF2B5EF4-FFF2-40B4-BE49-F238E27FC236}">
                <a16:creationId xmlns:a16="http://schemas.microsoft.com/office/drawing/2014/main" id="{444CCF21-D6DC-4B60-959C-6D9BF1D03F02}"/>
              </a:ext>
            </a:extLst>
          </p:cNvPr>
          <p:cNvGraphicFramePr>
            <a:graphicFrameLocks noGrp="1"/>
          </p:cNvGraphicFramePr>
          <p:nvPr>
            <p:ph sz="half" idx="2"/>
            <p:extLst>
              <p:ext uri="{D42A27DB-BD31-4B8C-83A1-F6EECF244321}">
                <p14:modId xmlns:p14="http://schemas.microsoft.com/office/powerpoint/2010/main" val="3538857500"/>
              </p:ext>
            </p:extLst>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0.612</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0.372</a:t>
                      </a:r>
                      <a:endParaRPr lang="ko-KR" altLang="en-US" dirty="0"/>
                    </a:p>
                  </a:txBody>
                  <a:tcPr/>
                </a:tc>
                <a:tc>
                  <a:txBody>
                    <a:bodyPr/>
                    <a:lstStyle/>
                    <a:p>
                      <a:pPr algn="ctr" latinLnBrk="1"/>
                      <a:r>
                        <a:rPr lang="en-US" altLang="ko-KR" dirty="0"/>
                        <a:t>0.532</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0.301</a:t>
                      </a:r>
                      <a:endParaRPr lang="ko-KR" altLang="en-US" dirty="0"/>
                    </a:p>
                  </a:txBody>
                  <a:tcPr/>
                </a:tc>
                <a:tc>
                  <a:txBody>
                    <a:bodyPr/>
                    <a:lstStyle/>
                    <a:p>
                      <a:pPr algn="ctr" latinLnBrk="1"/>
                      <a:r>
                        <a:rPr lang="en-US" altLang="ko-KR" dirty="0"/>
                        <a:t>0.394</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0.159</a:t>
                      </a:r>
                      <a:endParaRPr lang="ko-KR" altLang="en-US" dirty="0"/>
                    </a:p>
                  </a:txBody>
                  <a:tcPr/>
                </a:tc>
                <a:tc>
                  <a:txBody>
                    <a:bodyPr/>
                    <a:lstStyle/>
                    <a:p>
                      <a:pPr algn="ctr" latinLnBrk="1"/>
                      <a:r>
                        <a:rPr lang="en-US" altLang="ko-KR" dirty="0"/>
                        <a:t>0.331</a:t>
                      </a:r>
                      <a:endParaRPr lang="ko-KR" altLang="en-US" dirty="0"/>
                    </a:p>
                  </a:txBody>
                  <a:tcPr/>
                </a:tc>
                <a:extLst>
                  <a:ext uri="{0D108BD9-81ED-4DB2-BD59-A6C34878D82A}">
                    <a16:rowId xmlns:a16="http://schemas.microsoft.com/office/drawing/2014/main" val="1208870466"/>
                  </a:ext>
                </a:extLst>
              </a:tr>
            </a:tbl>
          </a:graphicData>
        </a:graphic>
      </p:graphicFrame>
    </p:spTree>
    <p:extLst>
      <p:ext uri="{BB962C8B-B14F-4D97-AF65-F5344CB8AC3E}">
        <p14:creationId xmlns:p14="http://schemas.microsoft.com/office/powerpoint/2010/main" val="2401848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only linear regression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dirty="0"/>
              <a:t>As the order increases, the absolute value of the learning parameter gradually increases.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533421685"/>
                  </p:ext>
                </p:extLst>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533421685"/>
                  </p:ext>
                </p:extLst>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endParaRPr lang="ko-KR"/>
                        </a:p>
                      </a:txBody>
                      <a:tcPr>
                        <a:blipFill>
                          <a:blip r:embed="rId3"/>
                          <a:stretch>
                            <a:fillRect l="-64634" t="-8197" r="-503049" b="-598361"/>
                          </a:stretch>
                        </a:blipFill>
                      </a:tcPr>
                    </a:tc>
                    <a:tc>
                      <a:txBody>
                        <a:bodyPr/>
                        <a:lstStyle/>
                        <a:p>
                          <a:endParaRPr lang="ko-KR"/>
                        </a:p>
                      </a:txBody>
                      <a:tcPr>
                        <a:blipFill>
                          <a:blip r:embed="rId3"/>
                          <a:stretch>
                            <a:fillRect l="-164634" t="-8197" r="-403049" b="-598361"/>
                          </a:stretch>
                        </a:blipFill>
                      </a:tcPr>
                    </a:tc>
                    <a:tc>
                      <a:txBody>
                        <a:bodyPr/>
                        <a:lstStyle/>
                        <a:p>
                          <a:endParaRPr lang="ko-KR"/>
                        </a:p>
                      </a:txBody>
                      <a:tcPr>
                        <a:blipFill>
                          <a:blip r:embed="rId3"/>
                          <a:stretch>
                            <a:fillRect l="-263030" t="-8197" r="-300606" b="-598361"/>
                          </a:stretch>
                        </a:blipFill>
                      </a:tcPr>
                    </a:tc>
                    <a:tc>
                      <a:txBody>
                        <a:bodyPr/>
                        <a:lstStyle/>
                        <a:p>
                          <a:endParaRPr lang="ko-KR"/>
                        </a:p>
                      </a:txBody>
                      <a:tcPr>
                        <a:blipFill>
                          <a:blip r:embed="rId3"/>
                          <a:stretch>
                            <a:fillRect l="-365244" t="-8197" r="-202439" b="-598361"/>
                          </a:stretch>
                        </a:blipFill>
                      </a:tcPr>
                    </a:tc>
                    <a:tc>
                      <a:txBody>
                        <a:bodyPr/>
                        <a:lstStyle/>
                        <a:p>
                          <a:endParaRPr lang="ko-KR"/>
                        </a:p>
                      </a:txBody>
                      <a:tcPr>
                        <a:blipFill>
                          <a:blip r:embed="rId3"/>
                          <a:stretch>
                            <a:fillRect l="-465244" t="-8197" r="-102439" b="-598361"/>
                          </a:stretch>
                        </a:blipFill>
                      </a:tcPr>
                    </a:tc>
                    <a:tc>
                      <a:txBody>
                        <a:bodyPr/>
                        <a:lstStyle/>
                        <a:p>
                          <a:endParaRPr lang="ko-KR"/>
                        </a:p>
                      </a:txBody>
                      <a:tcPr>
                        <a:blipFill>
                          <a:blip r:embed="rId3"/>
                          <a:stretch>
                            <a:fillRect l="-565244" t="-8197" r="-2439" b="-598361"/>
                          </a:stretch>
                        </a:blipFill>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64008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701121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linear regression with</a:t>
            </a:r>
            <a:r>
              <a:rPr lang="ko-KR" altLang="en-US" sz="2400" dirty="0"/>
              <a:t> </a:t>
            </a:r>
            <a:r>
              <a:rPr lang="en-US" altLang="ko-KR" sz="2400" dirty="0"/>
              <a:t>normalization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b="0" i="0" dirty="0">
                <a:solidFill>
                  <a:srgbClr val="000000"/>
                </a:solidFill>
                <a:effectLst/>
              </a:rPr>
              <a:t>Normalization reduces the increase in learning parameters.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1958769026"/>
                  </p:ext>
                </p:extLst>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1958769026"/>
                  </p:ext>
                </p:extLst>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endParaRPr lang="ko-KR"/>
                        </a:p>
                      </a:txBody>
                      <a:tcPr>
                        <a:blipFill>
                          <a:blip r:embed="rId3"/>
                          <a:stretch>
                            <a:fillRect l="-64634" t="-8197" r="-503049" b="-524590"/>
                          </a:stretch>
                        </a:blipFill>
                      </a:tcPr>
                    </a:tc>
                    <a:tc>
                      <a:txBody>
                        <a:bodyPr/>
                        <a:lstStyle/>
                        <a:p>
                          <a:endParaRPr lang="ko-KR"/>
                        </a:p>
                      </a:txBody>
                      <a:tcPr>
                        <a:blipFill>
                          <a:blip r:embed="rId3"/>
                          <a:stretch>
                            <a:fillRect l="-164634" t="-8197" r="-403049" b="-524590"/>
                          </a:stretch>
                        </a:blipFill>
                      </a:tcPr>
                    </a:tc>
                    <a:tc>
                      <a:txBody>
                        <a:bodyPr/>
                        <a:lstStyle/>
                        <a:p>
                          <a:endParaRPr lang="ko-KR"/>
                        </a:p>
                      </a:txBody>
                      <a:tcPr>
                        <a:blipFill>
                          <a:blip r:embed="rId3"/>
                          <a:stretch>
                            <a:fillRect l="-263030" t="-8197" r="-300606" b="-524590"/>
                          </a:stretch>
                        </a:blipFill>
                      </a:tcPr>
                    </a:tc>
                    <a:tc>
                      <a:txBody>
                        <a:bodyPr/>
                        <a:lstStyle/>
                        <a:p>
                          <a:endParaRPr lang="ko-KR"/>
                        </a:p>
                      </a:txBody>
                      <a:tcPr>
                        <a:blipFill>
                          <a:blip r:embed="rId3"/>
                          <a:stretch>
                            <a:fillRect l="-365244" t="-8197" r="-202439" b="-524590"/>
                          </a:stretch>
                        </a:blipFill>
                      </a:tcPr>
                    </a:tc>
                    <a:tc>
                      <a:txBody>
                        <a:bodyPr/>
                        <a:lstStyle/>
                        <a:p>
                          <a:endParaRPr lang="ko-KR"/>
                        </a:p>
                      </a:txBody>
                      <a:tcPr>
                        <a:blipFill>
                          <a:blip r:embed="rId3"/>
                          <a:stretch>
                            <a:fillRect l="-465244" t="-8197" r="-102439" b="-524590"/>
                          </a:stretch>
                        </a:blipFill>
                      </a:tcPr>
                    </a:tc>
                    <a:tc>
                      <a:txBody>
                        <a:bodyPr/>
                        <a:lstStyle/>
                        <a:p>
                          <a:endParaRPr lang="ko-KR"/>
                        </a:p>
                      </a:txBody>
                      <a:tcPr>
                        <a:blipFill>
                          <a:blip r:embed="rId3"/>
                          <a:stretch>
                            <a:fillRect l="-565244" t="-8197" r="-2439" b="-524590"/>
                          </a:stretch>
                        </a:blipFill>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3456018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Algorithm</a:t>
            </a:r>
            <a:br>
              <a:rPr lang="en-US" altLang="ko-KR" dirty="0"/>
            </a:br>
            <a:r>
              <a:rPr lang="en-US" altLang="ko-KR" sz="2400" dirty="0"/>
              <a:t>loss function and penalty term</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a:xfrm>
                <a:off x="838199" y="1825625"/>
                <a:ext cx="10515599" cy="4351338"/>
              </a:xfrm>
            </p:spPr>
            <p:txBody>
              <a:bodyPr>
                <a:normAutofit lnSpcReduction="10000"/>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sz="2800" b="0" i="1" smtClean="0">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oMath>
                </a14:m>
                <a:r>
                  <a:rPr lang="ko-KR" altLang="en-US" sz="2800" dirty="0"/>
                  <a:t> </a:t>
                </a:r>
                <a:r>
                  <a:rPr lang="en-US" altLang="ko-KR" sz="2800" dirty="0"/>
                  <a:t>is a linear regression loss function</a:t>
                </a:r>
              </a:p>
              <a:p>
                <a14:m>
                  <m:oMath xmlns:m="http://schemas.openxmlformats.org/officeDocument/2006/math">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ko-KR" altLang="en-US" sz="2800" dirty="0"/>
                  <a:t> </a:t>
                </a:r>
                <a:r>
                  <a:rPr lang="en-US" altLang="ko-KR" sz="2800" dirty="0"/>
                  <a:t>is a penalty term which is learning parameter’s square shape</a:t>
                </a:r>
              </a:p>
              <a:p>
                <a14:m>
                  <m:oMath xmlns:m="http://schemas.openxmlformats.org/officeDocument/2006/math">
                    <m:r>
                      <a:rPr lang="ko-KR" altLang="en-US" i="1">
                        <a:latin typeface="Cambria Math" panose="02040503050406030204" pitchFamily="18" charset="0"/>
                      </a:rPr>
                      <m:t>𝛼</m:t>
                    </m:r>
                    <m:d>
                      <m:dPr>
                        <m:ctrlPr>
                          <a:rPr lang="en-US" altLang="ko-KR" sz="2800" b="0" i="1" smtClean="0">
                            <a:latin typeface="Cambria Math" panose="02040503050406030204" pitchFamily="18" charset="0"/>
                            <a:ea typeface="Cambria Math" panose="02040503050406030204" pitchFamily="18" charset="0"/>
                          </a:rPr>
                        </m:ctrlPr>
                      </m:dPr>
                      <m:e>
                        <m:r>
                          <a:rPr lang="en-US" altLang="ko-KR" sz="2800" b="0" i="1" smtClean="0">
                            <a:latin typeface="Cambria Math" panose="02040503050406030204" pitchFamily="18" charset="0"/>
                            <a:ea typeface="Cambria Math" panose="02040503050406030204" pitchFamily="18" charset="0"/>
                          </a:rPr>
                          <m:t>≥0</m:t>
                        </m:r>
                      </m:e>
                    </m:d>
                  </m:oMath>
                </a14:m>
                <a:r>
                  <a:rPr lang="en-US" altLang="ko-KR" sz="2800" dirty="0"/>
                  <a:t> is </a:t>
                </a:r>
                <a:r>
                  <a:rPr lang="en-US" altLang="ko-KR" dirty="0"/>
                  <a:t>a parameter that adjusts the intensity of normalization</a:t>
                </a:r>
              </a:p>
              <a:p>
                <a:r>
                  <a:rPr lang="en-US" altLang="ko-KR" sz="2800" dirty="0"/>
                  <a:t>If a, b is in</a:t>
                </a:r>
                <a:r>
                  <a:rPr lang="en-US" altLang="ko-KR" dirty="0"/>
                  <a:t>creasing,</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 increase, and linear regression loss function value increase</a:t>
                </a:r>
              </a:p>
              <a:p>
                <a:r>
                  <a:rPr lang="en-US" altLang="ko-KR" sz="2800" dirty="0"/>
                  <a:t>By making a, b minimize,</a:t>
                </a:r>
                <a14:m>
                  <m:oMath xmlns:m="http://schemas.openxmlformats.org/officeDocument/2006/math">
                    <m:r>
                      <a:rPr lang="en-US" altLang="ko-KR" b="0" i="0" smtClean="0">
                        <a:latin typeface="Cambria Math" panose="02040503050406030204" pitchFamily="18" charset="0"/>
                      </a:rPr>
                      <m:t>  </m:t>
                    </m:r>
                    <m:r>
                      <a:rPr lang="en-US" altLang="ko-KR" b="0" i="1"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a:t>
                </a:r>
                <a:r>
                  <a:rPr lang="en-US" altLang="ko-KR" sz="2800" dirty="0"/>
                  <a:t> minimized and linear regression loss function minimized</a:t>
                </a:r>
              </a:p>
            </p:txBody>
          </p:sp>
        </mc:Choice>
        <mc:Fallback xmlns="">
          <p:sp>
            <p:nvSpPr>
              <p:cNvPr id="3" name="내용 개체 틀 2">
                <a:extLst>
                  <a:ext uri="{FF2B5EF4-FFF2-40B4-BE49-F238E27FC236}">
                    <a16:creationId xmlns:a16="http://schemas.microsoft.com/office/drawing/2014/main" id="{A05EA078-0B4E-4542-A0E3-73C078BCBEBC}"/>
                  </a:ext>
                </a:extLst>
              </p:cNvPr>
              <p:cNvSpPr>
                <a:spLocks noGrp="1" noRot="1" noChangeAspect="1" noMove="1" noResize="1" noEditPoints="1" noAdjustHandles="1" noChangeArrowheads="1" noChangeShapeType="1" noTextEdit="1"/>
              </p:cNvSpPr>
              <p:nvPr>
                <p:ph sz="half" idx="1"/>
              </p:nvPr>
            </p:nvSpPr>
            <p:spPr>
              <a:xfrm>
                <a:off x="838199" y="1825625"/>
                <a:ext cx="10515599" cy="4351338"/>
              </a:xfrm>
              <a:blipFill>
                <a:blip r:embed="rId2"/>
                <a:stretch>
                  <a:fillRect l="-986" r="-58" b="-420"/>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330330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fontScale="92500"/>
          </a:bodyPr>
          <a:lstStyle/>
          <a:p>
            <a:r>
              <a:rPr lang="en-US" altLang="ko-KR" dirty="0"/>
              <a:t>Import </a:t>
            </a:r>
            <a:r>
              <a:rPr lang="en-US" altLang="ko-KR" dirty="0" err="1"/>
              <a:t>numpy</a:t>
            </a:r>
            <a:r>
              <a:rPr lang="en-US" altLang="ko-KR" dirty="0"/>
              <a:t>, </a:t>
            </a:r>
            <a:r>
              <a:rPr lang="en-US" altLang="ko-KR" dirty="0" err="1"/>
              <a:t>PolynomialFeatures</a:t>
            </a:r>
            <a:r>
              <a:rPr lang="en-US" altLang="ko-KR" dirty="0"/>
              <a:t>, Ridge, </a:t>
            </a:r>
            <a:r>
              <a:rPr lang="en-US" altLang="ko-KR" dirty="0" err="1"/>
              <a:t>mean_squared_error</a:t>
            </a:r>
            <a:endParaRPr lang="en-US" altLang="ko-KR" dirty="0"/>
          </a:p>
          <a:p>
            <a:r>
              <a:rPr lang="en-US" altLang="ko-KR" dirty="0"/>
              <a:t>Set training data and test data</a:t>
            </a:r>
          </a:p>
          <a:p>
            <a:r>
              <a:rPr lang="en-US" altLang="ko-KR" dirty="0"/>
              <a:t>Construct a six-order linear regression model</a:t>
            </a:r>
          </a:p>
          <a:p>
            <a:r>
              <a:rPr lang="en-US" altLang="ko-KR" dirty="0"/>
              <a:t>Conversion</a:t>
            </a:r>
            <a:r>
              <a:rPr lang="ko-KR" altLang="en-US" dirty="0"/>
              <a:t> </a:t>
            </a:r>
            <a:r>
              <a:rPr lang="en-US" altLang="ko-KR" dirty="0"/>
              <a:t>of</a:t>
            </a:r>
            <a:r>
              <a:rPr lang="ko-KR" altLang="en-US" dirty="0"/>
              <a:t> </a:t>
            </a:r>
            <a:r>
              <a:rPr lang="en-US" altLang="ko-KR" dirty="0"/>
              <a:t>the</a:t>
            </a:r>
            <a:r>
              <a:rPr lang="ko-KR" altLang="en-US" dirty="0"/>
              <a:t> </a:t>
            </a:r>
            <a:r>
              <a:rPr lang="en-US" altLang="ko-KR" dirty="0"/>
              <a:t>results</a:t>
            </a:r>
            <a:r>
              <a:rPr lang="ko-KR" altLang="en-US" dirty="0"/>
              <a:t> </a:t>
            </a:r>
            <a:r>
              <a:rPr lang="en-US" altLang="ko-KR" dirty="0"/>
              <a:t>into</a:t>
            </a:r>
            <a:r>
              <a:rPr lang="ko-KR" altLang="en-US" dirty="0"/>
              <a:t> </a:t>
            </a:r>
            <a:r>
              <a:rPr lang="en-US" altLang="ko-KR" dirty="0"/>
              <a:t>an</a:t>
            </a:r>
            <a:r>
              <a:rPr lang="ko-KR" altLang="en-US" dirty="0"/>
              <a:t> </a:t>
            </a:r>
            <a:r>
              <a:rPr lang="en-US" altLang="ko-KR" dirty="0"/>
              <a:t>array</a:t>
            </a:r>
            <a:r>
              <a:rPr lang="ko-KR" altLang="en-US" dirty="0"/>
              <a:t> </a:t>
            </a:r>
            <a:r>
              <a:rPr lang="en-US" altLang="ko-KR" dirty="0"/>
              <a:t>after</a:t>
            </a:r>
            <a:r>
              <a:rPr lang="ko-KR" altLang="en-US" dirty="0"/>
              <a:t> </a:t>
            </a:r>
            <a:r>
              <a:rPr lang="en-US" altLang="ko-KR" dirty="0"/>
              <a:t>learning</a:t>
            </a:r>
            <a:r>
              <a:rPr lang="ko-KR" altLang="en-US" dirty="0"/>
              <a:t> </a:t>
            </a:r>
            <a:r>
              <a:rPr lang="en-US" altLang="ko-KR" dirty="0"/>
              <a:t>the</a:t>
            </a:r>
            <a:r>
              <a:rPr lang="ko-KR" altLang="en-US" dirty="0"/>
              <a:t> </a:t>
            </a:r>
            <a:r>
              <a:rPr lang="en-US" altLang="ko-KR" dirty="0"/>
              <a:t>characteristics</a:t>
            </a:r>
            <a:r>
              <a:rPr lang="ko-KR" altLang="en-US" dirty="0"/>
              <a:t> </a:t>
            </a:r>
            <a:r>
              <a:rPr lang="en-US" altLang="ko-KR" dirty="0"/>
              <a:t>of</a:t>
            </a:r>
            <a:r>
              <a:rPr lang="ko-KR" altLang="en-US" dirty="0"/>
              <a:t> </a:t>
            </a:r>
            <a:r>
              <a:rPr lang="en-US" altLang="ko-KR" dirty="0"/>
              <a:t>the</a:t>
            </a:r>
            <a:r>
              <a:rPr lang="ko-KR" altLang="en-US" dirty="0"/>
              <a:t> </a:t>
            </a:r>
            <a:r>
              <a:rPr lang="en-US" altLang="ko-KR" dirty="0"/>
              <a:t>learning data in the sixth equation</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DB4E4D8D-7F59-4DA1-8564-22A7BAB83C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690688"/>
            <a:ext cx="5181600" cy="3573517"/>
          </a:xfrm>
        </p:spPr>
      </p:pic>
    </p:spTree>
    <p:extLst>
      <p:ext uri="{BB962C8B-B14F-4D97-AF65-F5344CB8AC3E}">
        <p14:creationId xmlns:p14="http://schemas.microsoft.com/office/powerpoint/2010/main" val="86004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dirty="0"/>
              <a:t>Make ridge model and </a:t>
            </a:r>
            <a:r>
              <a:rPr lang="en-US" altLang="ko-KR" dirty="0">
                <a:solidFill>
                  <a:srgbClr val="000000"/>
                </a:solidFill>
              </a:rPr>
              <a:t>learn</a:t>
            </a:r>
            <a:r>
              <a:rPr lang="en-US" altLang="ko-KR" b="0" i="0" dirty="0">
                <a:solidFill>
                  <a:srgbClr val="000000"/>
                </a:solidFill>
                <a:effectLst/>
              </a:rPr>
              <a:t> as a dependent variable of 6th-order learning outcomes and learning data</a:t>
            </a:r>
          </a:p>
          <a:p>
            <a:r>
              <a:rPr lang="en-US" altLang="ko-KR" dirty="0"/>
              <a:t>Predict output results of models made by learning from rigid regression</a:t>
            </a:r>
          </a:p>
          <a:p>
            <a:r>
              <a:rPr lang="en-US" altLang="ko-KR" dirty="0"/>
              <a:t>Calculation of mean square error</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C4A49CA-E746-4843-8CBD-E4ACDD40379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295684"/>
          </a:xfrm>
        </p:spPr>
      </p:pic>
    </p:spTree>
    <p:extLst>
      <p:ext uri="{BB962C8B-B14F-4D97-AF65-F5344CB8AC3E}">
        <p14:creationId xmlns:p14="http://schemas.microsoft.com/office/powerpoint/2010/main" val="3249153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Adjust normalization strength with</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oMath>
                </a14:m>
                <a:endParaRPr lang="ko-KR" altLang="en-US" dirty="0"/>
              </a:p>
            </p:txBody>
          </p:sp>
        </mc:Choice>
        <mc:Fallback xmlns="">
          <p:sp>
            <p:nvSpPr>
              <p:cNvPr id="2" name="제목 1">
                <a:extLst>
                  <a:ext uri="{FF2B5EF4-FFF2-40B4-BE49-F238E27FC236}">
                    <a16:creationId xmlns:a16="http://schemas.microsoft.com/office/drawing/2014/main" id="{C62B5975-9DE0-4663-B191-B96441AA5B6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b="0" i="0" dirty="0">
                    <a:solidFill>
                      <a:srgbClr val="000000"/>
                    </a:solidFill>
                    <a:effectLst/>
                  </a:rPr>
                  <a:t>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large, the increase in learning parameters decreases and the graph shape becomes simple.</a:t>
                </a:r>
              </a:p>
              <a:p>
                <a:r>
                  <a:rPr lang="en-US" altLang="ko-KR" b="0" i="0" dirty="0">
                    <a:solidFill>
                      <a:srgbClr val="000000"/>
                    </a:solidFill>
                    <a:effectLst/>
                  </a:rPr>
                  <a:t>Conversely, 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small, a penalty when the absolute value of the learning parameter increases is hardly given, making the model complicated.</a:t>
                </a:r>
              </a:p>
              <a:p>
                <a:r>
                  <a:rPr lang="en-US" altLang="ko-KR" b="0" i="0" dirty="0">
                    <a:solidFill>
                      <a:srgbClr val="000000"/>
                    </a:solidFill>
                    <a:effectLst/>
                  </a:rPr>
                  <a:t>If</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 0, it is the same state as linear regression without normalization.</a:t>
                </a:r>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02562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LASSO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b="0" i="0" dirty="0">
                <a:solidFill>
                  <a:srgbClr val="000000"/>
                </a:solidFill>
                <a:effectLst/>
                <a:latin typeface="noto"/>
              </a:rPr>
              <a:t>In rigid regression, the graph is circular as shown in the right picture because the penalty term is the sum of the learning parameters squared.</a:t>
            </a:r>
          </a:p>
          <a:p>
            <a:r>
              <a:rPr lang="en-US" altLang="ko-KR" b="0" i="0">
                <a:solidFill>
                  <a:srgbClr val="000000"/>
                </a:solidFill>
                <a:effectLst/>
                <a:latin typeface="noto"/>
              </a:rPr>
              <a:t>In LASSO regression, the penalty term is the sum of the absolute values, so the graph is square as shown in the figure on the right.</a:t>
            </a:r>
            <a:endParaRPr lang="en-US" altLang="ko-KR"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C36E266A-4D03-4E2A-8572-CDE0925283C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644881"/>
          </a:xfrm>
        </p:spPr>
      </p:pic>
    </p:spTree>
    <p:extLst>
      <p:ext uri="{BB962C8B-B14F-4D97-AF65-F5344CB8AC3E}">
        <p14:creationId xmlns:p14="http://schemas.microsoft.com/office/powerpoint/2010/main" val="4188224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LASSO regression</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𝑎</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𝑏</m:t>
                    </m:r>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r>
                  <a:rPr lang="en-US" altLang="ko-KR" dirty="0"/>
                  <a:t>Ridge regression and LASSO regression are the same in that the increase in learning parameters decreases as the penalty term is added</a:t>
                </a:r>
              </a:p>
              <a:p>
                <a:r>
                  <a:rPr lang="en-US" altLang="ko-KR" dirty="0"/>
                  <a:t>In LASSO regression, there is a difference that the </a:t>
                </a:r>
                <a14:m>
                  <m:oMath xmlns:m="http://schemas.openxmlformats.org/officeDocument/2006/math">
                    <m:r>
                      <a:rPr lang="en-US" altLang="ko-KR" i="1" dirty="0" smtClean="0">
                        <a:latin typeface="Cambria Math" panose="02040503050406030204" pitchFamily="18" charset="0"/>
                      </a:rPr>
                      <m:t>𝑏</m:t>
                    </m:r>
                  </m:oMath>
                </a14:m>
                <a:r>
                  <a:rPr lang="en-US" altLang="ko-KR" dirty="0"/>
                  <a:t> learning parameter is 0 at optimum solution</a:t>
                </a:r>
              </a:p>
              <a:p>
                <a:r>
                  <a:rPr lang="en-US" altLang="ko-KR" dirty="0"/>
                  <a:t>Therefore, in LASSO regression, the </a:t>
                </a:r>
                <a14:m>
                  <m:oMath xmlns:m="http://schemas.openxmlformats.org/officeDocument/2006/math">
                    <m:r>
                      <a:rPr lang="en-US" altLang="ko-KR" i="1" dirty="0" smtClean="0">
                        <a:latin typeface="Cambria Math" panose="02040503050406030204" pitchFamily="18" charset="0"/>
                      </a:rPr>
                      <m:t>𝑏</m:t>
                    </m:r>
                  </m:oMath>
                </a14:m>
                <a:r>
                  <a:rPr lang="en-US" altLang="ko-KR" dirty="0"/>
                  <a:t> parameter tends to become 0</a:t>
                </a:r>
              </a:p>
              <a:p>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2"/>
                <a:stretch>
                  <a:fillRect l="-1043" r="-11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1634659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1413</TotalTime>
  <Words>747</Words>
  <Application>Microsoft Office PowerPoint</Application>
  <PresentationFormat>와이드스크린</PresentationFormat>
  <Paragraphs>174</Paragraphs>
  <Slides>13</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13</vt:i4>
      </vt:variant>
    </vt:vector>
  </HeadingPairs>
  <TitlesOfParts>
    <vt:vector size="18" baseType="lpstr">
      <vt:lpstr>noto</vt:lpstr>
      <vt:lpstr>맑은 고딕</vt:lpstr>
      <vt:lpstr>Arial</vt:lpstr>
      <vt:lpstr>Cambria Math</vt:lpstr>
      <vt:lpstr>Office 테마</vt:lpstr>
      <vt:lpstr>Supervised Learning</vt:lpstr>
      <vt:lpstr>Fundamental concept</vt:lpstr>
      <vt:lpstr>Fundamental concept making practice data</vt:lpstr>
      <vt:lpstr>Learning errors and test errors by order</vt:lpstr>
      <vt:lpstr>Consequences of using normalization for linear regression</vt:lpstr>
      <vt:lpstr>Algorithm only linear regression</vt:lpstr>
      <vt:lpstr>Algorithm linear regression with normalization</vt:lpstr>
      <vt:lpstr>Algorithm loss function and penalty term</vt:lpstr>
      <vt:lpstr>Sample code</vt:lpstr>
      <vt:lpstr>Sample code</vt:lpstr>
      <vt:lpstr>Adjust normalization strength with α</vt:lpstr>
      <vt:lpstr>LASSO regression</vt:lpstr>
      <vt:lpstr>LASSO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49</cp:revision>
  <dcterms:created xsi:type="dcterms:W3CDTF">2022-03-30T03:21:26Z</dcterms:created>
  <dcterms:modified xsi:type="dcterms:W3CDTF">2022-04-12T13:09:56Z</dcterms:modified>
</cp:coreProperties>
</file>