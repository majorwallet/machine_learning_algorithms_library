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49A74F8-D04F-4CE7-B712-F1582A727543}"/>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0B54B52B-4F25-4919-84DD-85B746A2E9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FEF8F1AD-0F77-45E5-9FB1-1015E8C40AF8}"/>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5" name="바닥글 개체 틀 4">
            <a:extLst>
              <a:ext uri="{FF2B5EF4-FFF2-40B4-BE49-F238E27FC236}">
                <a16:creationId xmlns:a16="http://schemas.microsoft.com/office/drawing/2014/main" id="{5EC99B7E-F526-4256-9D97-E33DD021C4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22EADE-CE2A-459B-9BAF-EA48867115A6}"/>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2206700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7B5F404-3668-4926-AC4A-FC64785970E1}"/>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FB2E2FB-F32A-492D-B75B-19DFC480C899}"/>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F46DBD3-18EC-4799-AC10-3DFB9DC82804}"/>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5" name="바닥글 개체 틀 4">
            <a:extLst>
              <a:ext uri="{FF2B5EF4-FFF2-40B4-BE49-F238E27FC236}">
                <a16:creationId xmlns:a16="http://schemas.microsoft.com/office/drawing/2014/main" id="{3C2355F9-B118-4641-B570-C4003C6D173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09C50D0-781A-48B6-B389-96A3CDD27F2C}"/>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1132432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BCD262-0A03-44C2-897E-DD6D26372CEB}"/>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8F02C7C-C3B2-488E-A38C-8D175D4445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87CBFA13-9A2B-44D7-AB6F-A31DE0C12F99}"/>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5" name="바닥글 개체 틀 4">
            <a:extLst>
              <a:ext uri="{FF2B5EF4-FFF2-40B4-BE49-F238E27FC236}">
                <a16:creationId xmlns:a16="http://schemas.microsoft.com/office/drawing/2014/main" id="{09B901E1-9797-440D-8A08-5B2C4A462E3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A81FDE2-DEC0-4214-AE07-3B19CDF79A5E}"/>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3890726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F148740-6A1D-4C57-9B69-D850EDA3143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78DF19-B2E6-412C-ACD5-7C2A119127B8}"/>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988EDE6F-4225-448F-9F21-4E295F5DEFD9}"/>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42DF4B08-3EF4-4B85-972E-CEBCE4069127}"/>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6" name="바닥글 개체 틀 5">
            <a:extLst>
              <a:ext uri="{FF2B5EF4-FFF2-40B4-BE49-F238E27FC236}">
                <a16:creationId xmlns:a16="http://schemas.microsoft.com/office/drawing/2014/main" id="{A348E214-A9BE-4525-8F74-45DBEF4B04B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BA3C6B4-E40C-4CC7-B5CF-35EAD1FB655A}"/>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2550941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C630CA8-A58A-44FF-96F7-930A6F52CDB5}"/>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C5AA0C05-B330-4913-9B4E-C93659F212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B78F0516-A984-49CC-8F01-300064ACF34A}"/>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F37ED327-9C20-4CC7-AA2C-5CD543D304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ED3201C-A098-4EE2-B46A-176E2913B798}"/>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B73B8C9-134D-4235-B8EE-C33DFF3B3C35}"/>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8" name="바닥글 개체 틀 7">
            <a:extLst>
              <a:ext uri="{FF2B5EF4-FFF2-40B4-BE49-F238E27FC236}">
                <a16:creationId xmlns:a16="http://schemas.microsoft.com/office/drawing/2014/main" id="{57DAE664-24CC-4DB4-AFF7-66E1E84A0AE6}"/>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435AE2D-B372-4E56-BB99-6FE44872025D}"/>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2634230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9A0235A-9292-46A8-A472-06A3B647ECC5}"/>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B299B65-CBBC-4ABD-A110-53BE765C4387}"/>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4" name="바닥글 개체 틀 3">
            <a:extLst>
              <a:ext uri="{FF2B5EF4-FFF2-40B4-BE49-F238E27FC236}">
                <a16:creationId xmlns:a16="http://schemas.microsoft.com/office/drawing/2014/main" id="{38A87ABB-24FC-44D8-973C-4D3E9531B0F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A3CF3880-6CB7-488A-8E23-BA03BCC9E462}"/>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1033490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A40FBA46-F02A-46CB-85B1-189F2AF6A937}"/>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3" name="바닥글 개체 틀 2">
            <a:extLst>
              <a:ext uri="{FF2B5EF4-FFF2-40B4-BE49-F238E27FC236}">
                <a16:creationId xmlns:a16="http://schemas.microsoft.com/office/drawing/2014/main" id="{24E7D8B9-1925-40E6-9503-C6DB2652AA7B}"/>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500D925-F35D-4295-AB85-18CA89E3741A}"/>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4232787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0EB76E9-85B3-4D36-8F64-E12617BE032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65F69E5-320A-4B69-982C-E605BFE22E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4F48BDDE-EC02-4F36-B6F9-829666039E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09A7445-34DA-44DF-9609-B6FBB281D4E7}"/>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6" name="바닥글 개체 틀 5">
            <a:extLst>
              <a:ext uri="{FF2B5EF4-FFF2-40B4-BE49-F238E27FC236}">
                <a16:creationId xmlns:a16="http://schemas.microsoft.com/office/drawing/2014/main" id="{5F9B293F-08C5-4F81-B205-46957CEDEBD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8508160-18D4-4D1A-B42D-F961D3C1B133}"/>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854105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594289-3C4A-4B6D-A048-9FE3F980BD2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6CABABE-6354-4276-8C9A-0E2C5B5BF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E38C31AD-F038-4E46-99E8-0E20B7B302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C09439E-6890-40AB-A9D2-BFBCAEB82A01}"/>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6" name="바닥글 개체 틀 5">
            <a:extLst>
              <a:ext uri="{FF2B5EF4-FFF2-40B4-BE49-F238E27FC236}">
                <a16:creationId xmlns:a16="http://schemas.microsoft.com/office/drawing/2014/main" id="{4C514091-9630-42F9-884B-8A79828D628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A5D168E-D777-4A8D-9C1E-FC8BC0E160D3}"/>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1562020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C29E1C4-4DE9-4955-9FCA-388C662ED573}"/>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857FC6F-3F62-4E23-A8D1-5D4BF16780A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6C5523-EFB2-45EB-971C-2B5A4945FF3C}"/>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5" name="바닥글 개체 틀 4">
            <a:extLst>
              <a:ext uri="{FF2B5EF4-FFF2-40B4-BE49-F238E27FC236}">
                <a16:creationId xmlns:a16="http://schemas.microsoft.com/office/drawing/2014/main" id="{D98C3261-DEF1-4C26-8A39-C6B3464FB0C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B08906A-6B8C-4AA6-A1F7-86D4514849DC}"/>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808523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DDCD7D7-8D80-492C-9E0B-2017E9F7773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E3E2858B-4718-4FB7-AA64-2F13BA820695}"/>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44F49C-6FDD-4810-9F0E-59D97EF6776D}"/>
              </a:ext>
            </a:extLst>
          </p:cNvPr>
          <p:cNvSpPr>
            <a:spLocks noGrp="1"/>
          </p:cNvSpPr>
          <p:nvPr>
            <p:ph type="dt" sz="half" idx="10"/>
          </p:nvPr>
        </p:nvSpPr>
        <p:spPr/>
        <p:txBody>
          <a:bodyPr/>
          <a:lstStyle/>
          <a:p>
            <a:fld id="{4B38782C-B2BC-4E96-BAAE-68BA8333DA9B}" type="datetimeFigureOut">
              <a:rPr lang="ko-KR" altLang="en-US" smtClean="0"/>
              <a:t>2022-04-11</a:t>
            </a:fld>
            <a:endParaRPr lang="ko-KR" altLang="en-US"/>
          </a:p>
        </p:txBody>
      </p:sp>
      <p:sp>
        <p:nvSpPr>
          <p:cNvPr id="5" name="바닥글 개체 틀 4">
            <a:extLst>
              <a:ext uri="{FF2B5EF4-FFF2-40B4-BE49-F238E27FC236}">
                <a16:creationId xmlns:a16="http://schemas.microsoft.com/office/drawing/2014/main" id="{F2BB7C03-C0D9-4B04-BA80-145EC82CE0C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426DE6A-7ECA-4B32-A4D1-43E2540FEB7F}"/>
              </a:ext>
            </a:extLst>
          </p:cNvPr>
          <p:cNvSpPr>
            <a:spLocks noGrp="1"/>
          </p:cNvSpPr>
          <p:nvPr>
            <p:ph type="sldNum" sz="quarter" idx="12"/>
          </p:nvPr>
        </p:nvSpPr>
        <p:spPr/>
        <p:txBody>
          <a:body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2366255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D21D908-E006-422D-9503-C644D590D5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E6C92239-92E5-4774-B7F0-ECCAA9A7D0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FDCC8C-80C2-4CD2-B163-F3D6D618BC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38782C-B2BC-4E96-BAAE-68BA8333DA9B}" type="datetimeFigureOut">
              <a:rPr lang="ko-KR" altLang="en-US" smtClean="0"/>
              <a:t>2022-04-11</a:t>
            </a:fld>
            <a:endParaRPr lang="ko-KR" altLang="en-US"/>
          </a:p>
        </p:txBody>
      </p:sp>
      <p:sp>
        <p:nvSpPr>
          <p:cNvPr id="5" name="바닥글 개체 틀 4">
            <a:extLst>
              <a:ext uri="{FF2B5EF4-FFF2-40B4-BE49-F238E27FC236}">
                <a16:creationId xmlns:a16="http://schemas.microsoft.com/office/drawing/2014/main" id="{E5C80C27-3FC0-4259-9EE6-9DDBF0D048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46FAE7-C23D-43DD-B308-0C7CED2F75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A2209-27CE-45BD-A591-600632FF76AF}" type="slidenum">
              <a:rPr lang="ko-KR" altLang="en-US" smtClean="0"/>
              <a:t>‹#›</a:t>
            </a:fld>
            <a:endParaRPr lang="ko-KR" altLang="en-US"/>
          </a:p>
        </p:txBody>
      </p:sp>
    </p:spTree>
    <p:extLst>
      <p:ext uri="{BB962C8B-B14F-4D97-AF65-F5344CB8AC3E}">
        <p14:creationId xmlns:p14="http://schemas.microsoft.com/office/powerpoint/2010/main" val="2510012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4AE12B-9253-4476-8B4B-8DB8BF1F1C70}"/>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C9981ED8-78D5-4954-9570-80C31111BE0D}"/>
              </a:ext>
            </a:extLst>
          </p:cNvPr>
          <p:cNvSpPr>
            <a:spLocks noGrp="1"/>
          </p:cNvSpPr>
          <p:nvPr>
            <p:ph type="subTitle" idx="1"/>
          </p:nvPr>
        </p:nvSpPr>
        <p:spPr/>
        <p:txBody>
          <a:bodyPr/>
          <a:lstStyle/>
          <a:p>
            <a:r>
              <a:rPr lang="en-US" altLang="ko-KR" dirty="0"/>
              <a:t>Random Forest</a:t>
            </a:r>
            <a:endParaRPr lang="ko-KR" altLang="en-US" dirty="0"/>
          </a:p>
        </p:txBody>
      </p:sp>
      <p:pic>
        <p:nvPicPr>
          <p:cNvPr id="4" name="그림 3">
            <a:extLst>
              <a:ext uri="{FF2B5EF4-FFF2-40B4-BE49-F238E27FC236}">
                <a16:creationId xmlns:a16="http://schemas.microsoft.com/office/drawing/2014/main" id="{083D9930-4228-4CFB-81BF-02C3E802C3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244139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7DE5FE-A3D3-45B0-BFB4-0367CD00BCBC}"/>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900EDC93-A9E9-41F3-80A9-31320E69C0EA}"/>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Random forest is a method of combining various models to create a high-performance model.</a:t>
            </a:r>
          </a:p>
          <a:p>
            <a:pPr algn="l">
              <a:buFont typeface="Arial" panose="020B0604020202020204" pitchFamily="34" charset="0"/>
              <a:buChar char="•"/>
            </a:pPr>
            <a:r>
              <a:rPr lang="en-US" altLang="ko-KR" b="0" i="0" dirty="0">
                <a:solidFill>
                  <a:srgbClr val="000000"/>
                </a:solidFill>
                <a:effectLst/>
              </a:rPr>
              <a:t>It can be used for both regression and classification problems.</a:t>
            </a:r>
          </a:p>
          <a:p>
            <a:pPr algn="l">
              <a:buFont typeface="Arial" panose="020B0604020202020204" pitchFamily="34" charset="0"/>
              <a:buChar char="•"/>
            </a:pPr>
            <a:r>
              <a:rPr lang="en-US" altLang="ko-KR" b="0" i="0" dirty="0">
                <a:solidFill>
                  <a:srgbClr val="000000"/>
                </a:solidFill>
                <a:effectLst/>
              </a:rPr>
              <a:t>Similar algorithms include gradient boosting.</a:t>
            </a:r>
          </a:p>
          <a:p>
            <a:r>
              <a:rPr lang="en-US" altLang="ko-KR" b="0" i="0" dirty="0">
                <a:solidFill>
                  <a:srgbClr val="000000"/>
                </a:solidFill>
                <a:effectLst/>
              </a:rPr>
              <a:t>Random forest uses multiple models called decision trees to increase accuracy than using a single decision tree.</a:t>
            </a:r>
          </a:p>
          <a:p>
            <a:r>
              <a:rPr lang="en-US" altLang="ko-KR" b="0" i="0" dirty="0">
                <a:solidFill>
                  <a:srgbClr val="000000"/>
                </a:solidFill>
                <a:effectLst/>
              </a:rPr>
              <a:t>Random forest is used for both classification and regression problems, but this section exemplifies the classification problem.</a:t>
            </a:r>
            <a:endParaRPr lang="ko-KR" altLang="en-US" dirty="0"/>
          </a:p>
        </p:txBody>
      </p:sp>
      <p:pic>
        <p:nvPicPr>
          <p:cNvPr id="4" name="그림 3">
            <a:extLst>
              <a:ext uri="{FF2B5EF4-FFF2-40B4-BE49-F238E27FC236}">
                <a16:creationId xmlns:a16="http://schemas.microsoft.com/office/drawing/2014/main" id="{6F39F4E8-4893-441D-9248-1751AF29A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79694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315246-B940-4CC1-B4F7-F43558B2F8EC}"/>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5DD90288-C4C2-4FF1-A453-CB0369D1C1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6034" y="1453699"/>
            <a:ext cx="5299932" cy="3332680"/>
          </a:xfrm>
        </p:spPr>
      </p:pic>
      <p:sp>
        <p:nvSpPr>
          <p:cNvPr id="7" name="내용 개체 틀 2">
            <a:extLst>
              <a:ext uri="{FF2B5EF4-FFF2-40B4-BE49-F238E27FC236}">
                <a16:creationId xmlns:a16="http://schemas.microsoft.com/office/drawing/2014/main" id="{520A3CD2-CC43-4FF1-A9F2-9F90B4453969}"/>
              </a:ext>
            </a:extLst>
          </p:cNvPr>
          <p:cNvSpPr txBox="1">
            <a:spLocks/>
          </p:cNvSpPr>
          <p:nvPr/>
        </p:nvSpPr>
        <p:spPr>
          <a:xfrm>
            <a:off x="838200" y="4786416"/>
            <a:ext cx="10515600" cy="1325563"/>
          </a:xfrm>
          <a:prstGeom prst="rect">
            <a:avLst/>
          </a:prstGeom>
        </p:spPr>
        <p:txBody>
          <a:bodyPr vert="horz" lIns="91440" tIns="45720" rIns="91440" bIns="45720" rtlCol="0">
            <a:normAutofit fontScale="92500"/>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Arial" panose="020B0604020202020204" pitchFamily="34" charset="0"/>
              <a:buChar char="•"/>
            </a:pPr>
            <a:r>
              <a:rPr lang="en-US" altLang="ko-KR" b="0" i="0" dirty="0">
                <a:solidFill>
                  <a:srgbClr val="000000"/>
                </a:solidFill>
                <a:effectLst/>
              </a:rPr>
              <a:t>The most predictive results are obtained as the final classification result by collecting the predictive results from each decision tree.</a:t>
            </a:r>
          </a:p>
          <a:p>
            <a:pPr algn="l">
              <a:buFont typeface="Arial" panose="020B0604020202020204" pitchFamily="34" charset="0"/>
              <a:buChar char="•"/>
            </a:pPr>
            <a:r>
              <a:rPr lang="en-US" altLang="ko-KR" b="0" i="0" dirty="0">
                <a:solidFill>
                  <a:srgbClr val="000000"/>
                </a:solidFill>
                <a:effectLst/>
              </a:rPr>
              <a:t>Random forest should be different for each decision tree.</a:t>
            </a:r>
          </a:p>
        </p:txBody>
      </p:sp>
      <p:pic>
        <p:nvPicPr>
          <p:cNvPr id="10" name="그림 9">
            <a:extLst>
              <a:ext uri="{FF2B5EF4-FFF2-40B4-BE49-F238E27FC236}">
                <a16:creationId xmlns:a16="http://schemas.microsoft.com/office/drawing/2014/main" id="{282D9C72-5AED-4FAB-8574-A0677A1B5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023249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mc:AlternateContent xmlns:mc="http://schemas.openxmlformats.org/markup-compatibility/2006">
        <mc:Choice xmlns:a14="http://schemas.microsoft.com/office/drawing/2010/main" Requires="a14">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fontScale="92500"/>
              </a:bodyPr>
              <a:lstStyle/>
              <a:p>
                <a:pPr algn="l">
                  <a:buFont typeface="Arial" panose="020B0604020202020204" pitchFamily="34" charset="0"/>
                  <a:buChar char="•"/>
                </a:pPr>
                <a:r>
                  <a:rPr lang="en-US" altLang="ko-KR" b="0" i="0" dirty="0">
                    <a:solidFill>
                      <a:srgbClr val="000000"/>
                    </a:solidFill>
                    <a:effectLst/>
                  </a:rPr>
                  <a:t>When dividing learning data, impurity, which represents the imbalance of data, is digitized and used.</a:t>
                </a:r>
              </a:p>
              <a:p>
                <a:pPr algn="l">
                  <a:buFont typeface="Arial" panose="020B0604020202020204" pitchFamily="34" charset="0"/>
                  <a:buChar char="•"/>
                </a:pPr>
                <a:r>
                  <a:rPr lang="en-US" altLang="ko-KR" b="0" i="0" dirty="0">
                    <a:solidFill>
                      <a:srgbClr val="000000"/>
                    </a:solidFill>
                    <a:effectLst/>
                  </a:rPr>
                  <a:t>The decision tree divides the data so that the impurity is reduced.</a:t>
                </a:r>
              </a:p>
              <a:p>
                <a:pPr algn="l">
                  <a:buFont typeface="Arial" panose="020B0604020202020204" pitchFamily="34" charset="0"/>
                  <a:buChar char="•"/>
                </a:pPr>
                <a:r>
                  <a:rPr lang="en-US" altLang="ko-KR" b="0" i="0" dirty="0">
                    <a:solidFill>
                      <a:srgbClr val="000000"/>
                    </a:solidFill>
                    <a:effectLst/>
                  </a:rPr>
                  <a:t>If there are many of the same labels in the divided group, the impurity decreases.</a:t>
                </a:r>
              </a:p>
              <a:p>
                <a:pPr algn="l">
                  <a:buFont typeface="Arial" panose="020B0604020202020204" pitchFamily="34" charset="0"/>
                  <a:buChar char="•"/>
                </a:pPr>
                <a:r>
                  <a:rPr lang="en-US" altLang="ko-KR" b="0" i="0" dirty="0">
                    <a:solidFill>
                      <a:srgbClr val="000000"/>
                    </a:solidFill>
                    <a:effectLst/>
                  </a:rPr>
                  <a:t>If there are many other labels in the divided group, the impurity increases.</a:t>
                </a:r>
              </a:p>
              <a:p>
                <a:pPr algn="l">
                  <a:buFont typeface="Arial" panose="020B0604020202020204" pitchFamily="34" charset="0"/>
                  <a:buChar char="•"/>
                </a:pPr>
                <a:r>
                  <a:rPr lang="en-US" altLang="ko-KR" b="0" i="0" dirty="0">
                    <a:solidFill>
                      <a:srgbClr val="000000"/>
                    </a:solidFill>
                    <a:effectLst/>
                  </a:rPr>
                  <a:t>There are several indicators of impurities, where Gini index will be used.</a:t>
                </a:r>
              </a:p>
              <a:p>
                <a:r>
                  <a:rPr lang="en-US" altLang="ko-KR" b="0" i="0" dirty="0">
                    <a:solidFill>
                      <a:srgbClr val="000000"/>
                    </a:solidFill>
                    <a:effectLst/>
                  </a:rPr>
                  <a:t>Gini index: </a:t>
                </a:r>
                <a14:m>
                  <m:oMath xmlns:m="http://schemas.openxmlformats.org/officeDocument/2006/math">
                    <m:r>
                      <a:rPr lang="en-US" altLang="ko-KR" i="1" smtClean="0">
                        <a:latin typeface="Cambria Math" panose="02040503050406030204" pitchFamily="18" charset="0"/>
                      </a:rPr>
                      <m:t>−</m:t>
                    </m:r>
                    <m:nary>
                      <m:naryPr>
                        <m:chr m:val="∑"/>
                        <m:ctrlPr>
                          <a:rPr lang="en-US" altLang="ko-KR" i="1" smtClean="0">
                            <a:latin typeface="Cambria Math" panose="02040503050406030204" pitchFamily="18" charset="0"/>
                          </a:rPr>
                        </m:ctrlPr>
                      </m:naryPr>
                      <m:sub>
                        <m:r>
                          <m:rPr>
                            <m:sty m:val="p"/>
                            <m:brk m:alnAt="23"/>
                          </m:rPr>
                          <a:rPr lang="en-US" altLang="ko-KR" i="1">
                            <a:latin typeface="Cambria Math" panose="02040503050406030204" pitchFamily="18" charset="0"/>
                          </a:rPr>
                          <m:t>i</m:t>
                        </m:r>
                        <m:r>
                          <a:rPr lang="en-US" altLang="ko-KR" i="1">
                            <a:latin typeface="Cambria Math" panose="02040503050406030204" pitchFamily="18" charset="0"/>
                          </a:rPr>
                          <m:t>=1</m:t>
                        </m:r>
                      </m:sub>
                      <m:sup>
                        <m:r>
                          <m:rPr>
                            <m:sty m:val="p"/>
                          </m:rPr>
                          <a:rPr lang="en-US" altLang="ko-KR" i="1">
                            <a:latin typeface="Cambria Math" panose="02040503050406030204" pitchFamily="18" charset="0"/>
                          </a:rPr>
                          <m:t>c</m:t>
                        </m:r>
                      </m:sup>
                      <m:e>
                        <m:sSubSup>
                          <m:sSubSupPr>
                            <m:ctrlPr>
                              <a:rPr lang="en-US" altLang="ko-KR" i="1" smtClean="0">
                                <a:latin typeface="Cambria Math" panose="02040503050406030204" pitchFamily="18" charset="0"/>
                              </a:rPr>
                            </m:ctrlPr>
                          </m:sSubSupPr>
                          <m:e>
                            <m:r>
                              <m:rPr>
                                <m:sty m:val="p"/>
                              </m:rPr>
                              <a:rPr lang="en-US" altLang="ko-KR" i="1">
                                <a:latin typeface="Cambria Math" panose="02040503050406030204" pitchFamily="18" charset="0"/>
                              </a:rPr>
                              <m:t>p</m:t>
                            </m:r>
                          </m:e>
                          <m:sub>
                            <m:r>
                              <m:rPr>
                                <m:sty m:val="p"/>
                              </m:rPr>
                              <a:rPr lang="en-US" altLang="ko-KR" i="1">
                                <a:latin typeface="Cambria Math" panose="02040503050406030204" pitchFamily="18" charset="0"/>
                              </a:rPr>
                              <m:t>i</m:t>
                            </m:r>
                          </m:sub>
                          <m:sup>
                            <m:r>
                              <a:rPr lang="en-US" altLang="ko-KR" i="1">
                                <a:latin typeface="Cambria Math" panose="02040503050406030204" pitchFamily="18" charset="0"/>
                              </a:rPr>
                              <m:t>2</m:t>
                            </m:r>
                          </m:sup>
                        </m:sSubSup>
                      </m:e>
                    </m:nary>
                  </m:oMath>
                </a14:m>
                <a:endParaRPr lang="en-US" altLang="ko-KR" b="0" i="0" dirty="0">
                  <a:solidFill>
                    <a:srgbClr val="000000"/>
                  </a:solidFill>
                  <a:effectLst/>
                </a:endParaRPr>
              </a:p>
              <a:p>
                <a:pPr algn="l">
                  <a:buFont typeface="Arial" panose="020B0604020202020204" pitchFamily="34" charset="0"/>
                  <a:buChar char="•"/>
                </a:pPr>
                <a:endParaRPr lang="en-US" altLang="ko-KR" b="0" i="0" dirty="0">
                  <a:solidFill>
                    <a:srgbClr val="000000"/>
                  </a:solidFill>
                  <a:effectLst/>
                </a:endParaRPr>
              </a:p>
            </p:txBody>
          </p:sp>
        </mc:Choice>
        <mc:Fallback>
          <p:sp>
            <p:nvSpPr>
              <p:cNvPr id="3" name="내용 개체 틀 2">
                <a:extLst>
                  <a:ext uri="{FF2B5EF4-FFF2-40B4-BE49-F238E27FC236}">
                    <a16:creationId xmlns:a16="http://schemas.microsoft.com/office/drawing/2014/main" id="{72808C1D-23B4-4CD4-8789-373E2FB34C31}"/>
                  </a:ext>
                </a:extLst>
              </p:cNvPr>
              <p:cNvSpPr>
                <a:spLocks noGrp="1" noRot="1" noChangeAspect="1" noMove="1" noResize="1" noEditPoints="1" noAdjustHandles="1" noChangeArrowheads="1" noChangeShapeType="1" noTextEdit="1"/>
              </p:cNvSpPr>
              <p:nvPr>
                <p:ph idx="1"/>
              </p:nvPr>
            </p:nvSpPr>
            <p:spPr>
              <a:blipFill>
                <a:blip r:embed="rId2"/>
                <a:stretch>
                  <a:fillRect l="-928" t="-2101" r="-290" b="-2521"/>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056013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In this case, </a:t>
                </a:r>
                <a14:m>
                  <m:oMath xmlns:m="http://schemas.openxmlformats.org/officeDocument/2006/math">
                    <m:r>
                      <a:rPr lang="en-US" altLang="ko-KR" b="0" i="1" dirty="0" smtClean="0">
                        <a:solidFill>
                          <a:srgbClr val="000000"/>
                        </a:solidFill>
                        <a:effectLst/>
                        <a:latin typeface="Cambria Math" panose="02040503050406030204" pitchFamily="18" charset="0"/>
                      </a:rPr>
                      <m:t>𝑐</m:t>
                    </m:r>
                  </m:oMath>
                </a14:m>
                <a:r>
                  <a:rPr lang="en-US" altLang="ko-KR" b="0" i="0" dirty="0">
                    <a:solidFill>
                      <a:srgbClr val="000000"/>
                    </a:solidFill>
                    <a:effectLst/>
                  </a:rPr>
                  <a:t> is the number of labels and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𝑝</m:t>
                        </m:r>
                      </m:e>
                      <m:sub>
                        <m:r>
                          <a:rPr lang="en-US" altLang="ko-KR" b="0" i="1" smtClean="0">
                            <a:solidFill>
                              <a:srgbClr val="000000"/>
                            </a:solidFill>
                            <a:effectLst/>
                            <a:latin typeface="Cambria Math" panose="02040503050406030204" pitchFamily="18" charset="0"/>
                          </a:rPr>
                          <m:t>𝑖</m:t>
                        </m:r>
                      </m:sub>
                    </m:sSub>
                  </m:oMath>
                </a14:m>
                <a:r>
                  <a:rPr lang="en-US" altLang="ko-KR" b="0" i="0" dirty="0">
                    <a:solidFill>
                      <a:srgbClr val="000000"/>
                    </a:solidFill>
                    <a:effectLst/>
                  </a:rPr>
                  <a:t> is the number of labels divided by the number of data.</a:t>
                </a:r>
              </a:p>
              <a:p>
                <a:pPr algn="l">
                  <a:buFont typeface="Arial" panose="020B0604020202020204" pitchFamily="34" charset="0"/>
                  <a:buChar char="•"/>
                </a:pPr>
                <a:r>
                  <a:rPr lang="en-US" altLang="ko-KR" b="0" i="0" dirty="0">
                    <a:solidFill>
                      <a:srgbClr val="000000"/>
                    </a:solidFill>
                    <a:effectLst/>
                  </a:rPr>
                  <a:t>The Gini coefficient and the weighted average using it are calculated according to the method of dividing the data.</a:t>
                </a:r>
              </a:p>
              <a:p>
                <a:pPr marL="914400" lvl="1" indent="-457200" algn="l">
                  <a:buFont typeface="+mj-lt"/>
                  <a:buAutoNum type="arabicPeriod"/>
                </a:pPr>
                <a:r>
                  <a:rPr lang="en-US" altLang="ko-KR" b="0" i="0" dirty="0">
                    <a:solidFill>
                      <a:srgbClr val="000000"/>
                    </a:solidFill>
                    <a:effectLst/>
                  </a:rPr>
                  <a:t>Calculate all features of one area and the impurity of the object to be divided</a:t>
                </a:r>
              </a:p>
              <a:p>
                <a:pPr marL="914400" lvl="1" indent="-457200" algn="l">
                  <a:buFont typeface="+mj-lt"/>
                  <a:buAutoNum type="arabicPeriod"/>
                </a:pPr>
                <a:r>
                  <a:rPr lang="en-US" altLang="ko-KR" b="0" i="0" dirty="0">
                    <a:solidFill>
                      <a:srgbClr val="000000"/>
                    </a:solidFill>
                    <a:effectLst/>
                  </a:rPr>
                  <a:t>Divide areas to minimize impurities.</a:t>
                </a:r>
              </a:p>
              <a:p>
                <a:pPr marL="914400" lvl="1" indent="-457200" algn="l">
                  <a:buFont typeface="+mj-lt"/>
                  <a:buAutoNum type="arabicPeriod"/>
                </a:pPr>
                <a:r>
                  <a:rPr lang="en-US" altLang="ko-KR" b="0" i="0" dirty="0">
                    <a:solidFill>
                      <a:srgbClr val="000000"/>
                    </a:solidFill>
                    <a:effectLst/>
                  </a:rPr>
                  <a:t>After dividing, repeat 1~2 steps in each area.</a:t>
                </a:r>
              </a:p>
            </p:txBody>
          </p:sp>
        </mc:Choice>
        <mc:Fallback xmlns="">
          <p:sp>
            <p:nvSpPr>
              <p:cNvPr id="3" name="내용 개체 틀 2">
                <a:extLst>
                  <a:ext uri="{FF2B5EF4-FFF2-40B4-BE49-F238E27FC236}">
                    <a16:creationId xmlns:a16="http://schemas.microsoft.com/office/drawing/2014/main" id="{72808C1D-23B4-4CD4-8789-373E2FB34C31}"/>
                  </a:ext>
                </a:extLst>
              </p:cNvPr>
              <p:cNvSpPr>
                <a:spLocks noGrp="1" noRot="1" noChangeAspect="1" noMove="1" noResize="1" noEditPoints="1" noAdjustHandles="1" noChangeArrowheads="1" noChangeShapeType="1" noTextEdit="1"/>
              </p:cNvSpPr>
              <p:nvPr>
                <p:ph idx="1"/>
              </p:nvPr>
            </p:nvSpPr>
            <p:spPr>
              <a:blipFill>
                <a:blip r:embed="rId2"/>
                <a:stretch>
                  <a:fillRect l="-1043" t="-2381" r="-2029"/>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80828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p:pic>
        <p:nvPicPr>
          <p:cNvPr id="6" name="내용 개체 틀 5">
            <a:extLst>
              <a:ext uri="{FF2B5EF4-FFF2-40B4-BE49-F238E27FC236}">
                <a16:creationId xmlns:a16="http://schemas.microsoft.com/office/drawing/2014/main" id="{A7BA0206-9517-4236-BF57-1D2972BB96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4676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random forest</a:t>
            </a:r>
            <a:endParaRPr lang="ko-KR" altLang="en-US" dirty="0"/>
          </a:p>
        </p:txBody>
      </p:sp>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Bootstrap: A method of "increasing" learning data by performing random recovery extractions from learning data several times. In one learning data, several learning data with different contents are generated and the learning data placed in each decision tree is different.</a:t>
            </a:r>
          </a:p>
          <a:p>
            <a:pPr algn="l">
              <a:buFont typeface="Arial" panose="020B0604020202020204" pitchFamily="34" charset="0"/>
              <a:buChar char="•"/>
            </a:pPr>
            <a:r>
              <a:rPr lang="en-US" altLang="ko-KR" b="0" i="0" dirty="0">
                <a:solidFill>
                  <a:srgbClr val="000000"/>
                </a:solidFill>
                <a:effectLst/>
              </a:rPr>
              <a:t>Certain optional choices: Choose and use only a few features randomly when learning the decision tree with bootstrap learning data.</a:t>
            </a:r>
          </a:p>
          <a:p>
            <a:pPr algn="l">
              <a:buFont typeface="Arial" panose="020B0604020202020204" pitchFamily="34" charset="0"/>
              <a:buChar char="•"/>
            </a:pPr>
            <a:r>
              <a:rPr lang="en-US" altLang="ko-KR" b="0" i="0" dirty="0">
                <a:solidFill>
                  <a:srgbClr val="000000"/>
                </a:solidFill>
                <a:effectLst/>
              </a:rPr>
              <a:t>Random forest learns to have different classification results using the above method.</a:t>
            </a:r>
          </a:p>
          <a:p>
            <a:pPr algn="l">
              <a:buFont typeface="Arial" panose="020B0604020202020204" pitchFamily="34" charset="0"/>
              <a:buChar char="•"/>
            </a:pPr>
            <a:endParaRPr lang="en-US" altLang="ko-KR" b="0" i="0" dirty="0">
              <a:solidFill>
                <a:srgbClr val="000000"/>
              </a:solidFill>
              <a:effectLst/>
            </a:endParaRPr>
          </a:p>
        </p:txBody>
      </p:sp>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03568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1EFC03-3DC4-4C42-83C6-3E413EB1A1BB}"/>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052339E1-D84F-40EE-9143-EC1E1A86EC69}"/>
              </a:ext>
            </a:extLst>
          </p:cNvPr>
          <p:cNvSpPr>
            <a:spLocks noGrp="1"/>
          </p:cNvSpPr>
          <p:nvPr>
            <p:ph sz="half" idx="1"/>
          </p:nvPr>
        </p:nvSpPr>
        <p:spPr/>
        <p:txBody>
          <a:bodyPr/>
          <a:lstStyle/>
          <a:p>
            <a:r>
              <a:rPr lang="en-US" altLang="ko-KR" dirty="0"/>
              <a:t>Import libraries</a:t>
            </a:r>
          </a:p>
          <a:p>
            <a:r>
              <a:rPr lang="en-US" altLang="ko-KR" dirty="0"/>
              <a:t>Make dataset</a:t>
            </a:r>
          </a:p>
          <a:p>
            <a:r>
              <a:rPr lang="en-US" altLang="ko-KR" dirty="0"/>
              <a:t>Set train and test </a:t>
            </a:r>
            <a:r>
              <a:rPr lang="en-US" altLang="ko-KR" dirty="0" err="1"/>
              <a:t>datas</a:t>
            </a:r>
            <a:endParaRPr lang="en-US" altLang="ko-KR" dirty="0"/>
          </a:p>
          <a:p>
            <a:r>
              <a:rPr lang="en-US" altLang="ko-KR" dirty="0"/>
              <a:t>Make Random Forest model</a:t>
            </a:r>
          </a:p>
          <a:p>
            <a:r>
              <a:rPr lang="en-US" altLang="ko-KR" dirty="0"/>
              <a:t>Train data into model</a:t>
            </a:r>
          </a:p>
          <a:p>
            <a:r>
              <a:rPr lang="en-US" altLang="ko-KR" dirty="0"/>
              <a:t>Calculate accuracy</a:t>
            </a:r>
            <a:endParaRPr lang="ko-KR" altLang="en-US" dirty="0"/>
          </a:p>
        </p:txBody>
      </p:sp>
      <p:pic>
        <p:nvPicPr>
          <p:cNvPr id="6" name="내용 개체 틀 5">
            <a:extLst>
              <a:ext uri="{FF2B5EF4-FFF2-40B4-BE49-F238E27FC236}">
                <a16:creationId xmlns:a16="http://schemas.microsoft.com/office/drawing/2014/main" id="{78B7B985-CBC0-4015-9817-561FB486716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2995800"/>
          </a:xfrm>
        </p:spPr>
      </p:pic>
      <p:pic>
        <p:nvPicPr>
          <p:cNvPr id="7" name="그림 6">
            <a:extLst>
              <a:ext uri="{FF2B5EF4-FFF2-40B4-BE49-F238E27FC236}">
                <a16:creationId xmlns:a16="http://schemas.microsoft.com/office/drawing/2014/main" id="{0203E297-1E8F-4B85-A386-6D31931DF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그림 8">
            <a:extLst>
              <a:ext uri="{FF2B5EF4-FFF2-40B4-BE49-F238E27FC236}">
                <a16:creationId xmlns:a16="http://schemas.microsoft.com/office/drawing/2014/main" id="{E71DB383-DBC2-41FB-A530-55D59C6D18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956362"/>
            <a:ext cx="3878120" cy="511834"/>
          </a:xfrm>
          <a:prstGeom prst="rect">
            <a:avLst/>
          </a:prstGeom>
        </p:spPr>
      </p:pic>
    </p:spTree>
    <p:extLst>
      <p:ext uri="{BB962C8B-B14F-4D97-AF65-F5344CB8AC3E}">
        <p14:creationId xmlns:p14="http://schemas.microsoft.com/office/powerpoint/2010/main" val="3933130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Importance of feature</a:t>
            </a:r>
            <a:endParaRPr lang="ko-KR" altLang="en-US" dirty="0"/>
          </a:p>
        </p:txBody>
      </p:sp>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r>
              <a:rPr lang="en-US" altLang="ko-KR" dirty="0"/>
              <a:t>Feature of high importance are expected to significantly reduce impurities by using them as criteria for dividing areas.</a:t>
            </a:r>
          </a:p>
          <a:p>
            <a:r>
              <a:rPr lang="en-US" altLang="ko-KR" dirty="0"/>
              <a:t>The feature of low importance is that it is difficult to reduce impurities even when used as a criterion for dividing areas.</a:t>
            </a:r>
          </a:p>
          <a:p>
            <a:r>
              <a:rPr lang="en-US" altLang="ko-KR" dirty="0"/>
              <a:t>In this way, attention should be paid to the importance of features and unnecessary features should be reduced.</a:t>
            </a:r>
          </a:p>
        </p:txBody>
      </p:sp>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67432723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449</Words>
  <Application>Microsoft Office PowerPoint</Application>
  <PresentationFormat>와이드스크린</PresentationFormat>
  <Paragraphs>40</Paragraphs>
  <Slides>9</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맑은 고딕</vt:lpstr>
      <vt:lpstr>Arial</vt:lpstr>
      <vt:lpstr>Cambria Math</vt:lpstr>
      <vt:lpstr>Office 테마</vt:lpstr>
      <vt:lpstr>Supervised Learning</vt:lpstr>
      <vt:lpstr>Fundamental Concept</vt:lpstr>
      <vt:lpstr>Fundamental Concept</vt:lpstr>
      <vt:lpstr>Algorithm Decision Tree</vt:lpstr>
      <vt:lpstr>Algorithm Decision Tree</vt:lpstr>
      <vt:lpstr>Algorithm Decision Tree</vt:lpstr>
      <vt:lpstr>Algorithm random forest</vt:lpstr>
      <vt:lpstr>Sample Code</vt:lpstr>
      <vt:lpstr>Importance of feature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dc:title>
  <dc:creator>신 주영</dc:creator>
  <cp:lastModifiedBy>신 주영</cp:lastModifiedBy>
  <cp:revision>16</cp:revision>
  <dcterms:created xsi:type="dcterms:W3CDTF">2022-04-03T04:53:33Z</dcterms:created>
  <dcterms:modified xsi:type="dcterms:W3CDTF">2022-04-11T02:33:56Z</dcterms:modified>
</cp:coreProperties>
</file>