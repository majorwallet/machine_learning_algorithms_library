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1CE521-827E-4A9D-B4A4-E08B75D3C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0FA017-E9FD-47B7-B644-3C51132F8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966293-7602-417F-B517-A18397865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904C80-B2CE-4B65-B30D-1B9781668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57E35C-2201-4279-8784-9ECB482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30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5DFCB-99C1-4EFC-9E5B-CAB136BDF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BB3F1F-CDA6-414B-9A6E-315DC0554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96094B-69F1-46ED-9450-B32F3C09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8DD6FC-7D4E-4E9F-A281-C53F40397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A0B44E-56F8-47E0-95AD-F48102EE0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44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71390-9A92-4EBB-BD19-32947053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50D584-048C-4D93-8C6A-A5762522E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6D3DFB-3124-4DA0-BBE3-2C0B6EEC0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74C4D0-533E-4BFF-9CC2-5E04F73E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CED19-9F16-463E-A7AA-32B4B31D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29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61D47-8F52-4045-9557-C7F53C063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7A85EF-298E-43B6-A3C6-AE9AFB215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9A97D9-2043-4BBE-A55A-2D2CE2664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A6B999-9D5B-4152-B530-E28E76BAE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8E6382-317B-4C98-BFAD-4C178C4EA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62F42B-0800-4055-B5A2-5C5AAD3E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702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DE610-ADE8-40DA-B85B-F41BBD4BE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00E780-14A0-44F2-A15D-417117CD1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E1EA1F-0FF5-496A-9FFD-9C2666628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C0DDBF-1F11-4F2E-A080-53FF8B7AE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A89BAC-7A14-4829-B782-72418B09AA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7F405D-B981-4D24-99A1-766ABA11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2022-03-29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692D0C-D0E8-48F1-BC5A-7FC50098B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67EFC5-F7AB-48C7-8ECA-13CCDCF2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342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80B00-BE09-4FEF-9197-B8E78C98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720224-11D0-479C-B398-99AA4E23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2022-03-29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E69143-08E0-4CA1-824B-79BFA3A4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C29C7D-A213-4731-ADEE-E66A10B2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30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CF089B-E78F-4D14-922E-4FA824F46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2022-03-29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A3B63D-1F05-4359-B1F0-8103B7C7D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DFF0FC-9445-4493-BE12-9BD9E4DEF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16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A1BB0-03FE-4A66-8489-D789799B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7E23A9-59AD-46CA-85BC-BAA2FB750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3F5870-7B3E-4046-8DF6-37E0F9449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B2D5E0-08B0-4F97-8248-E3B2CA5D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FC494B-9529-4A90-BBFD-77BA3490C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22A210-00D3-4246-8176-98A60575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97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2141A-3768-4A26-AABA-259E88E22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7354E6-1BB3-496F-B450-0299C96D1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723903-027A-45BE-B1BB-507760DA7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B5F5A2-CF49-453F-97A7-E5B6E351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3672E1-3A33-4744-A75E-482329189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8C3FDF-3B4C-4A0E-B364-2E895F6C8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5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9EE02-633E-4D6E-A934-1513AC63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07E4CB-EAFB-4CCA-8D64-7342CE719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B6EB6-C6A2-4A42-A3A7-456060AF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E02531-19C7-41FC-82A3-EB6E4685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B1AAF8-68BB-4158-AC33-0A6A9F82D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205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FD2E7AE-4C4D-473D-8533-4FFB7C1DD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6ED8DB-E7B0-45CC-90E5-4057F11BC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7200FD-53D0-47BD-8E77-DAA63C54E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A0BED6-AF24-4DF0-A0F5-581688AB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DE75E5-3A67-40F9-AA6D-0FA140D7C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6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56FCDAB-C798-499F-8A73-D757D949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A2F9F3-D438-4D44-ACD6-F6D9B9710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74B50-9F08-413E-8DDB-A4643D720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C9942-2545-4F48-A7A7-1164F218558C}" type="datetimeFigureOut">
              <a:rPr lang="ko-KR" altLang="en-US" smtClean="0"/>
              <a:t>2022-03-29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46871F-3FEE-470B-B978-20EBB7685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1DAED7-3EB7-49B7-8241-A2901467C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54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65015-4584-49A2-91EF-79507A042B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Introducing</a:t>
            </a:r>
            <a:br>
              <a:rPr lang="en-US" altLang="ko-KR" dirty="0"/>
            </a:br>
            <a:r>
              <a:rPr lang="en-US" altLang="ko-KR" dirty="0"/>
              <a:t>Machine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CF011A-DCF4-4264-94D1-FC6A992C2D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What is Machine Learning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40F6E5-B323-4506-A730-AB3789672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5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4F84BB-E3D3-4843-AE6C-238424FB8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Machine Learning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390350D-C625-48D5-9288-5D7D78FD2C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92" y="3132880"/>
            <a:ext cx="5705909" cy="1736828"/>
          </a:xfr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715918-4F03-4399-87D2-A12488DF4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05908" cy="4351338"/>
          </a:xfrm>
        </p:spPr>
        <p:txBody>
          <a:bodyPr/>
          <a:lstStyle/>
          <a:p>
            <a:r>
              <a:rPr lang="en-US" altLang="ko-KR" dirty="0"/>
              <a:t>Correlation with AI and ML</a:t>
            </a:r>
          </a:p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E42F3C-093D-406C-83D3-33CBDA70AA93}"/>
              </a:ext>
            </a:extLst>
          </p:cNvPr>
          <p:cNvSpPr/>
          <p:nvPr/>
        </p:nvSpPr>
        <p:spPr>
          <a:xfrm>
            <a:off x="6627303" y="3161856"/>
            <a:ext cx="4726497" cy="29529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97554F-8124-4AA6-9086-068522E6DC18}"/>
              </a:ext>
            </a:extLst>
          </p:cNvPr>
          <p:cNvSpPr txBox="1"/>
          <p:nvPr/>
        </p:nvSpPr>
        <p:spPr>
          <a:xfrm>
            <a:off x="6912528" y="2885758"/>
            <a:ext cx="144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Artificial </a:t>
            </a:r>
            <a:r>
              <a:rPr lang="en-US" altLang="ko-KR" sz="1400" dirty="0" err="1"/>
              <a:t>Intellignece</a:t>
            </a:r>
            <a:endParaRPr lang="ko-KR" altLang="en-US" sz="1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177DDB-20AF-469A-BD93-333374657448}"/>
              </a:ext>
            </a:extLst>
          </p:cNvPr>
          <p:cNvSpPr/>
          <p:nvPr/>
        </p:nvSpPr>
        <p:spPr>
          <a:xfrm>
            <a:off x="6912528" y="3656100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77A748-3250-4D7D-B0B0-DC455D69DF2E}"/>
              </a:ext>
            </a:extLst>
          </p:cNvPr>
          <p:cNvSpPr/>
          <p:nvPr/>
        </p:nvSpPr>
        <p:spPr>
          <a:xfrm>
            <a:off x="7194698" y="4039985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 발표에서 소개하는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알고리즘 등을 이용한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다양한 방법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1DDC7F-74AA-4EE8-8600-1063C52DC5B6}"/>
              </a:ext>
            </a:extLst>
          </p:cNvPr>
          <p:cNvSpPr txBox="1"/>
          <p:nvPr/>
        </p:nvSpPr>
        <p:spPr>
          <a:xfrm>
            <a:off x="7194698" y="3389737"/>
            <a:ext cx="884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Machine</a:t>
            </a:r>
          </a:p>
          <a:p>
            <a:r>
              <a:rPr lang="en-US" altLang="ko-KR" sz="1400" dirty="0"/>
              <a:t>Learning</a:t>
            </a:r>
            <a:endParaRPr lang="ko-KR" altLang="en-US" sz="1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F01DDF2-3527-4136-826D-95EA059213BF}"/>
              </a:ext>
            </a:extLst>
          </p:cNvPr>
          <p:cNvSpPr/>
          <p:nvPr/>
        </p:nvSpPr>
        <p:spPr>
          <a:xfrm>
            <a:off x="9623697" y="3556478"/>
            <a:ext cx="1593908" cy="474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규칙 정하기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361BA5-1D25-47C0-A293-59676BDBA40D}"/>
              </a:ext>
            </a:extLst>
          </p:cNvPr>
          <p:cNvSpPr/>
          <p:nvPr/>
        </p:nvSpPr>
        <p:spPr>
          <a:xfrm>
            <a:off x="9623697" y="4460528"/>
            <a:ext cx="1593908" cy="474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수학적으로 정하기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AB3926-C022-4111-A92E-691E9E91A3F1}"/>
              </a:ext>
            </a:extLst>
          </p:cNvPr>
          <p:cNvSpPr/>
          <p:nvPr/>
        </p:nvSpPr>
        <p:spPr>
          <a:xfrm>
            <a:off x="9623697" y="5364578"/>
            <a:ext cx="1593908" cy="474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기타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87CD591-EC4D-497E-859D-BD489CF71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1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A1A2-970E-4757-94C1-090CB4F5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Type of Machine Learning</a:t>
            </a:r>
            <a:br>
              <a:rPr lang="en-US" altLang="ko-KR" dirty="0"/>
            </a:br>
            <a:r>
              <a:rPr lang="en-US" altLang="ko-KR" sz="2400" dirty="0"/>
              <a:t>supervised learning(Classification problem)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3C25F-A956-4CCE-9514-EFB29012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Supervised learning is training a machine learning model by inputting the correct answer to a problem into a computer.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86165F1-EB37-4162-AB50-2E49372DD53E}"/>
              </a:ext>
            </a:extLst>
          </p:cNvPr>
          <p:cNvGraphicFramePr>
            <a:graphicFrameLocks noGrp="1"/>
          </p:cNvGraphicFramePr>
          <p:nvPr/>
        </p:nvGraphicFramePr>
        <p:xfrm>
          <a:off x="1125989" y="3046597"/>
          <a:ext cx="305172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43">
                  <a:extLst>
                    <a:ext uri="{9D8B030D-6E8A-4147-A177-3AD203B41FA5}">
                      <a16:colId xmlns:a16="http://schemas.microsoft.com/office/drawing/2014/main" val="3365037398"/>
                    </a:ext>
                  </a:extLst>
                </a:gridCol>
                <a:gridCol w="1017243">
                  <a:extLst>
                    <a:ext uri="{9D8B030D-6E8A-4147-A177-3AD203B41FA5}">
                      <a16:colId xmlns:a16="http://schemas.microsoft.com/office/drawing/2014/main" val="703333826"/>
                    </a:ext>
                  </a:extLst>
                </a:gridCol>
                <a:gridCol w="1017243">
                  <a:extLst>
                    <a:ext uri="{9D8B030D-6E8A-4147-A177-3AD203B41FA5}">
                      <a16:colId xmlns:a16="http://schemas.microsoft.com/office/drawing/2014/main" val="4005302824"/>
                    </a:ext>
                  </a:extLst>
                </a:gridCol>
              </a:tblGrid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성별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389771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남자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682368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여자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944365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남자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69632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150D7D5-FADD-4F18-83E9-FE1E5036921D}"/>
              </a:ext>
            </a:extLst>
          </p:cNvPr>
          <p:cNvSpPr/>
          <p:nvPr/>
        </p:nvSpPr>
        <p:spPr>
          <a:xfrm>
            <a:off x="3163078" y="3409559"/>
            <a:ext cx="1014640" cy="110007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7EFCA50D-B381-4A95-9C77-9802EE7BF5D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4177718" y="3959598"/>
            <a:ext cx="459137" cy="226874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87A066-238F-4D05-BECB-7D8DE44B592A}"/>
              </a:ext>
            </a:extLst>
          </p:cNvPr>
          <p:cNvSpPr txBox="1"/>
          <p:nvPr/>
        </p:nvSpPr>
        <p:spPr>
          <a:xfrm>
            <a:off x="4636855" y="3863306"/>
            <a:ext cx="1343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Dependent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variable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D8592F-20FD-43A8-A9BB-3F5531B03985}"/>
              </a:ext>
            </a:extLst>
          </p:cNvPr>
          <p:cNvSpPr/>
          <p:nvPr/>
        </p:nvSpPr>
        <p:spPr>
          <a:xfrm>
            <a:off x="1133798" y="3409559"/>
            <a:ext cx="2029280" cy="110007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C5D3DB5-BF49-425A-BD7B-269F87A45535}"/>
              </a:ext>
            </a:extLst>
          </p:cNvPr>
          <p:cNvCxnSpPr>
            <a:cxnSpLocks/>
            <a:stCxn id="5" idx="1"/>
            <a:endCxn id="19" idx="0"/>
          </p:cNvCxnSpPr>
          <p:nvPr/>
        </p:nvCxnSpPr>
        <p:spPr>
          <a:xfrm rot="10800000" flipV="1">
            <a:off x="720309" y="3778116"/>
            <a:ext cx="405680" cy="866457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AD6CCD7-8E67-4686-819B-2520B01C781C}"/>
              </a:ext>
            </a:extLst>
          </p:cNvPr>
          <p:cNvSpPr txBox="1"/>
          <p:nvPr/>
        </p:nvSpPr>
        <p:spPr>
          <a:xfrm>
            <a:off x="261722" y="4644574"/>
            <a:ext cx="917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feature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6" name="표 36">
            <a:extLst>
              <a:ext uri="{FF2B5EF4-FFF2-40B4-BE49-F238E27FC236}">
                <a16:creationId xmlns:a16="http://schemas.microsoft.com/office/drawing/2014/main" id="{8A7A6017-B38F-403E-AF07-9F38BBEC9D99}"/>
              </a:ext>
            </a:extLst>
          </p:cNvPr>
          <p:cNvGraphicFramePr>
            <a:graphicFrameLocks noGrp="1"/>
          </p:cNvGraphicFramePr>
          <p:nvPr/>
        </p:nvGraphicFramePr>
        <p:xfrm>
          <a:off x="1133799" y="5448035"/>
          <a:ext cx="30439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640">
                  <a:extLst>
                    <a:ext uri="{9D8B030D-6E8A-4147-A177-3AD203B41FA5}">
                      <a16:colId xmlns:a16="http://schemas.microsoft.com/office/drawing/2014/main" val="1315925744"/>
                    </a:ext>
                  </a:extLst>
                </a:gridCol>
                <a:gridCol w="1014640">
                  <a:extLst>
                    <a:ext uri="{9D8B030D-6E8A-4147-A177-3AD203B41FA5}">
                      <a16:colId xmlns:a16="http://schemas.microsoft.com/office/drawing/2014/main" val="3606161248"/>
                    </a:ext>
                  </a:extLst>
                </a:gridCol>
                <a:gridCol w="1014640">
                  <a:extLst>
                    <a:ext uri="{9D8B030D-6E8A-4147-A177-3AD203B41FA5}">
                      <a16:colId xmlns:a16="http://schemas.microsoft.com/office/drawing/2014/main" val="1431941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성별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13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36299"/>
                  </a:ext>
                </a:extLst>
              </a:tr>
            </a:tbl>
          </a:graphicData>
        </a:graphic>
      </p:graphicFrame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9BEA6D4-55AA-4C66-9E9B-B8E8011F3260}"/>
              </a:ext>
            </a:extLst>
          </p:cNvPr>
          <p:cNvCxnSpPr/>
          <p:nvPr/>
        </p:nvCxnSpPr>
        <p:spPr>
          <a:xfrm>
            <a:off x="4503604" y="5833174"/>
            <a:ext cx="124716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그림 40">
            <a:extLst>
              <a:ext uri="{FF2B5EF4-FFF2-40B4-BE49-F238E27FC236}">
                <a16:creationId xmlns:a16="http://schemas.microsoft.com/office/drawing/2014/main" id="{9CBE43F6-A085-4176-8DEC-B5CD37181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069" y="4881561"/>
            <a:ext cx="2174513" cy="2172801"/>
          </a:xfrm>
          <a:prstGeom prst="rect">
            <a:avLst/>
          </a:prstGeom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91E09A3-12D1-409C-9691-7EE37B4493BD}"/>
              </a:ext>
            </a:extLst>
          </p:cNvPr>
          <p:cNvCxnSpPr/>
          <p:nvPr/>
        </p:nvCxnSpPr>
        <p:spPr>
          <a:xfrm>
            <a:off x="8817455" y="5843327"/>
            <a:ext cx="124716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AC6B437-DCDB-452B-92D6-54A1A157C8DB}"/>
              </a:ext>
            </a:extLst>
          </p:cNvPr>
          <p:cNvSpPr txBox="1"/>
          <p:nvPr/>
        </p:nvSpPr>
        <p:spPr>
          <a:xfrm>
            <a:off x="8979316" y="5473995"/>
            <a:ext cx="909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predict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4C2D1A4-DE17-4F26-805C-9C7EB82BDFC4}"/>
              </a:ext>
            </a:extLst>
          </p:cNvPr>
          <p:cNvSpPr/>
          <p:nvPr/>
        </p:nvSpPr>
        <p:spPr>
          <a:xfrm>
            <a:off x="10636898" y="5648508"/>
            <a:ext cx="64633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남자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F5BE21-7285-4FE2-A3DC-D993A60861A2}"/>
              </a:ext>
            </a:extLst>
          </p:cNvPr>
          <p:cNvSpPr txBox="1">
            <a:spLocks noChangeAspect="1"/>
          </p:cNvSpPr>
          <p:nvPr/>
        </p:nvSpPr>
        <p:spPr>
          <a:xfrm>
            <a:off x="6289070" y="2678147"/>
            <a:ext cx="4735207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Classify problems that predict classifications such</a:t>
            </a:r>
          </a:p>
          <a:p>
            <a:r>
              <a:rPr lang="en-US" altLang="ko-KR" sz="1400" dirty="0"/>
              <a:t>     as 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Binary classification of gender into male and 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Multiclass classification to classify by multiple</a:t>
            </a:r>
          </a:p>
          <a:p>
            <a:r>
              <a:rPr lang="en-US" altLang="ko-KR" sz="1400" dirty="0"/>
              <a:t>    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Solve as a classification problem if the variable</a:t>
            </a:r>
          </a:p>
          <a:p>
            <a:r>
              <a:rPr lang="en-US" altLang="ko-KR" sz="1400" dirty="0"/>
              <a:t>     corresponding to the data representing the correct</a:t>
            </a:r>
          </a:p>
          <a:p>
            <a:r>
              <a:rPr lang="en-US" altLang="ko-KR" sz="1400" dirty="0"/>
              <a:t>     answer is a discrete value rather than a continuous</a:t>
            </a:r>
          </a:p>
          <a:p>
            <a:r>
              <a:rPr lang="en-US" altLang="ko-KR" sz="1400" dirty="0"/>
              <a:t>    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Feature data are independent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Correct answer data is the dependent variable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C09681-B6F6-4421-9A69-67FABEA1A2BD}"/>
              </a:ext>
            </a:extLst>
          </p:cNvPr>
          <p:cNvSpPr txBox="1"/>
          <p:nvPr/>
        </p:nvSpPr>
        <p:spPr>
          <a:xfrm>
            <a:off x="4716667" y="5473995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C4E88B1-7D9F-46EC-9296-3F3DD5031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A1A2-970E-4757-94C1-090CB4F5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Type of Machine Learning</a:t>
            </a:r>
            <a:br>
              <a:rPr lang="en-US" altLang="ko-KR" dirty="0"/>
            </a:br>
            <a:r>
              <a:rPr lang="en-US" altLang="ko-KR" sz="2400" dirty="0"/>
              <a:t>supervised learning(Regression problem)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3C25F-A956-4CCE-9514-EFB29012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Supervised learning is training a machine learning model by inputting the correct answer to a problem into a computer.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86165F1-EB37-4162-AB50-2E49372DD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177612"/>
              </p:ext>
            </p:extLst>
          </p:nvPr>
        </p:nvGraphicFramePr>
        <p:xfrm>
          <a:off x="838199" y="3046597"/>
          <a:ext cx="356924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749">
                  <a:extLst>
                    <a:ext uri="{9D8B030D-6E8A-4147-A177-3AD203B41FA5}">
                      <a16:colId xmlns:a16="http://schemas.microsoft.com/office/drawing/2014/main" val="3365037398"/>
                    </a:ext>
                  </a:extLst>
                </a:gridCol>
                <a:gridCol w="1189749">
                  <a:extLst>
                    <a:ext uri="{9D8B030D-6E8A-4147-A177-3AD203B41FA5}">
                      <a16:colId xmlns:a16="http://schemas.microsoft.com/office/drawing/2014/main" val="703333826"/>
                    </a:ext>
                  </a:extLst>
                </a:gridCol>
                <a:gridCol w="1189749">
                  <a:extLst>
                    <a:ext uri="{9D8B030D-6E8A-4147-A177-3AD203B41FA5}">
                      <a16:colId xmlns:a16="http://schemas.microsoft.com/office/drawing/2014/main" val="4005302824"/>
                    </a:ext>
                  </a:extLst>
                </a:gridCol>
              </a:tblGrid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신발 크기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389771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682368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240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944365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230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69632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150D7D5-FADD-4F18-83E9-FE1E5036921D}"/>
              </a:ext>
            </a:extLst>
          </p:cNvPr>
          <p:cNvSpPr/>
          <p:nvPr/>
        </p:nvSpPr>
        <p:spPr>
          <a:xfrm>
            <a:off x="3228392" y="3409559"/>
            <a:ext cx="1179054" cy="110007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7EFCA50D-B381-4A95-9C77-9802EE7BF5D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4407446" y="3959598"/>
            <a:ext cx="344916" cy="226874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87A066-238F-4D05-BECB-7D8DE44B592A}"/>
              </a:ext>
            </a:extLst>
          </p:cNvPr>
          <p:cNvSpPr txBox="1"/>
          <p:nvPr/>
        </p:nvSpPr>
        <p:spPr>
          <a:xfrm>
            <a:off x="4752362" y="3863306"/>
            <a:ext cx="1343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Dependent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variable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D8592F-20FD-43A8-A9BB-3F5531B03985}"/>
              </a:ext>
            </a:extLst>
          </p:cNvPr>
          <p:cNvSpPr/>
          <p:nvPr/>
        </p:nvSpPr>
        <p:spPr>
          <a:xfrm>
            <a:off x="838197" y="3409559"/>
            <a:ext cx="2390193" cy="110007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C5D3DB5-BF49-425A-BD7B-269F87A45535}"/>
              </a:ext>
            </a:extLst>
          </p:cNvPr>
          <p:cNvCxnSpPr>
            <a:cxnSpLocks/>
            <a:stCxn id="5" idx="1"/>
            <a:endCxn id="19" idx="0"/>
          </p:cNvCxnSpPr>
          <p:nvPr/>
        </p:nvCxnSpPr>
        <p:spPr>
          <a:xfrm rot="10800000" flipV="1">
            <a:off x="571019" y="3778116"/>
            <a:ext cx="267180" cy="866457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AD6CCD7-8E67-4686-819B-2520B01C781C}"/>
              </a:ext>
            </a:extLst>
          </p:cNvPr>
          <p:cNvSpPr txBox="1"/>
          <p:nvPr/>
        </p:nvSpPr>
        <p:spPr>
          <a:xfrm>
            <a:off x="112432" y="4644574"/>
            <a:ext cx="917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feature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6" name="표 36">
            <a:extLst>
              <a:ext uri="{FF2B5EF4-FFF2-40B4-BE49-F238E27FC236}">
                <a16:creationId xmlns:a16="http://schemas.microsoft.com/office/drawing/2014/main" id="{8A7A6017-B38F-403E-AF07-9F38BBEC9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730217"/>
              </p:ext>
            </p:extLst>
          </p:nvPr>
        </p:nvGraphicFramePr>
        <p:xfrm>
          <a:off x="838199" y="5448035"/>
          <a:ext cx="356924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749">
                  <a:extLst>
                    <a:ext uri="{9D8B030D-6E8A-4147-A177-3AD203B41FA5}">
                      <a16:colId xmlns:a16="http://schemas.microsoft.com/office/drawing/2014/main" val="1315925744"/>
                    </a:ext>
                  </a:extLst>
                </a:gridCol>
                <a:gridCol w="1189749">
                  <a:extLst>
                    <a:ext uri="{9D8B030D-6E8A-4147-A177-3AD203B41FA5}">
                      <a16:colId xmlns:a16="http://schemas.microsoft.com/office/drawing/2014/main" val="3606161248"/>
                    </a:ext>
                  </a:extLst>
                </a:gridCol>
                <a:gridCol w="1189749">
                  <a:extLst>
                    <a:ext uri="{9D8B030D-6E8A-4147-A177-3AD203B41FA5}">
                      <a16:colId xmlns:a16="http://schemas.microsoft.com/office/drawing/2014/main" val="1431941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신발 크기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13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36299"/>
                  </a:ext>
                </a:extLst>
              </a:tr>
            </a:tbl>
          </a:graphicData>
        </a:graphic>
      </p:graphicFrame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9BEA6D4-55AA-4C66-9E9B-B8E8011F3260}"/>
              </a:ext>
            </a:extLst>
          </p:cNvPr>
          <p:cNvCxnSpPr/>
          <p:nvPr/>
        </p:nvCxnSpPr>
        <p:spPr>
          <a:xfrm>
            <a:off x="4709340" y="5833174"/>
            <a:ext cx="124716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그림 40">
            <a:extLst>
              <a:ext uri="{FF2B5EF4-FFF2-40B4-BE49-F238E27FC236}">
                <a16:creationId xmlns:a16="http://schemas.microsoft.com/office/drawing/2014/main" id="{9CBE43F6-A085-4176-8DEC-B5CD37181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069" y="4881561"/>
            <a:ext cx="2174513" cy="2172801"/>
          </a:xfrm>
          <a:prstGeom prst="rect">
            <a:avLst/>
          </a:prstGeom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91E09A3-12D1-409C-9691-7EE37B4493BD}"/>
              </a:ext>
            </a:extLst>
          </p:cNvPr>
          <p:cNvCxnSpPr/>
          <p:nvPr/>
        </p:nvCxnSpPr>
        <p:spPr>
          <a:xfrm>
            <a:off x="8817455" y="5843327"/>
            <a:ext cx="124716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AC6B437-DCDB-452B-92D6-54A1A157C8DB}"/>
              </a:ext>
            </a:extLst>
          </p:cNvPr>
          <p:cNvSpPr txBox="1"/>
          <p:nvPr/>
        </p:nvSpPr>
        <p:spPr>
          <a:xfrm>
            <a:off x="8979316" y="5473995"/>
            <a:ext cx="909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predict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4C2D1A4-DE17-4F26-805C-9C7EB82BDFC4}"/>
              </a:ext>
            </a:extLst>
          </p:cNvPr>
          <p:cNvSpPr/>
          <p:nvPr/>
        </p:nvSpPr>
        <p:spPr>
          <a:xfrm>
            <a:off x="10636898" y="5648508"/>
            <a:ext cx="64633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남자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F5BE21-7285-4FE2-A3DC-D993A60861A2}"/>
              </a:ext>
            </a:extLst>
          </p:cNvPr>
          <p:cNvSpPr txBox="1">
            <a:spLocks noChangeAspect="1"/>
          </p:cNvSpPr>
          <p:nvPr/>
        </p:nvSpPr>
        <p:spPr>
          <a:xfrm>
            <a:off x="6289069" y="3703703"/>
            <a:ext cx="51912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Another method of supervised learning is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 regression problem is to make predictions by attaching</a:t>
            </a:r>
          </a:p>
          <a:p>
            <a:r>
              <a:rPr lang="en-US" altLang="ko-KR" sz="1400" dirty="0"/>
              <a:t>     meaning to the large and small values of numeric values.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C09681-B6F6-4421-9A69-67FABEA1A2BD}"/>
              </a:ext>
            </a:extLst>
          </p:cNvPr>
          <p:cNvSpPr txBox="1"/>
          <p:nvPr/>
        </p:nvSpPr>
        <p:spPr>
          <a:xfrm>
            <a:off x="4922403" y="5473995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C7B73CA-C8F3-41B8-BCAA-50FD439B8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3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23065-563E-4DE7-B64E-DA4D2323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Correlation with</a:t>
            </a:r>
            <a:br>
              <a:rPr lang="en-US" altLang="ko-KR" dirty="0"/>
            </a:br>
            <a:r>
              <a:rPr lang="en-US" altLang="ko-KR" dirty="0"/>
              <a:t>classification and regression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4AF710-9CE5-42C0-95CF-05B9D19D9E29}"/>
              </a:ext>
            </a:extLst>
          </p:cNvPr>
          <p:cNvSpPr/>
          <p:nvPr/>
        </p:nvSpPr>
        <p:spPr>
          <a:xfrm>
            <a:off x="2913719" y="2434068"/>
            <a:ext cx="6612836" cy="29529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D3C7C-7D07-4510-8198-F7257D3EE3A0}"/>
              </a:ext>
            </a:extLst>
          </p:cNvPr>
          <p:cNvSpPr txBox="1"/>
          <p:nvPr/>
        </p:nvSpPr>
        <p:spPr>
          <a:xfrm>
            <a:off x="3193529" y="2153585"/>
            <a:ext cx="144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Supervised</a:t>
            </a:r>
          </a:p>
          <a:p>
            <a:r>
              <a:rPr lang="en-US" altLang="ko-KR" sz="1400" dirty="0"/>
              <a:t>Learning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F404AD-6E9F-47EE-AF14-0FC738C8F3F0}"/>
              </a:ext>
            </a:extLst>
          </p:cNvPr>
          <p:cNvSpPr/>
          <p:nvPr/>
        </p:nvSpPr>
        <p:spPr>
          <a:xfrm>
            <a:off x="3396962" y="2919542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CAE767-36D5-42E7-8BAB-3926008535BB}"/>
              </a:ext>
            </a:extLst>
          </p:cNvPr>
          <p:cNvSpPr/>
          <p:nvPr/>
        </p:nvSpPr>
        <p:spPr>
          <a:xfrm>
            <a:off x="3679132" y="3303427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Logistic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Regression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err="1">
                <a:solidFill>
                  <a:schemeClr val="tx1"/>
                </a:solidFill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A9938-8C50-4CB6-88EA-68904BCC886A}"/>
              </a:ext>
            </a:extLst>
          </p:cNvPr>
          <p:cNvSpPr txBox="1"/>
          <p:nvPr/>
        </p:nvSpPr>
        <p:spPr>
          <a:xfrm>
            <a:off x="3679132" y="2653179"/>
            <a:ext cx="1236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Classification</a:t>
            </a:r>
          </a:p>
          <a:p>
            <a:r>
              <a:rPr lang="en-US" altLang="ko-KR" sz="1400" dirty="0"/>
              <a:t>problem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D5A238-58E7-4051-8AC1-1D1BA0F42EA4}"/>
              </a:ext>
            </a:extLst>
          </p:cNvPr>
          <p:cNvSpPr/>
          <p:nvPr/>
        </p:nvSpPr>
        <p:spPr>
          <a:xfrm>
            <a:off x="6576410" y="2919542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CA0B20-A6EF-4CB6-A07A-B3DCA0CFF436}"/>
              </a:ext>
            </a:extLst>
          </p:cNvPr>
          <p:cNvSpPr/>
          <p:nvPr/>
        </p:nvSpPr>
        <p:spPr>
          <a:xfrm>
            <a:off x="6858580" y="3303427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Linear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Regression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err="1">
                <a:solidFill>
                  <a:schemeClr val="tx1"/>
                </a:solidFill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D0AD4D-E69A-436D-9B06-C938CE69DA0A}"/>
              </a:ext>
            </a:extLst>
          </p:cNvPr>
          <p:cNvSpPr txBox="1"/>
          <p:nvPr/>
        </p:nvSpPr>
        <p:spPr>
          <a:xfrm>
            <a:off x="6858580" y="2653179"/>
            <a:ext cx="1063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Regression</a:t>
            </a:r>
          </a:p>
          <a:p>
            <a:r>
              <a:rPr lang="en-US" altLang="ko-KR" sz="1400" dirty="0"/>
              <a:t>problem</a:t>
            </a:r>
            <a:endParaRPr lang="ko-KR" altLang="en-US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84E381-E039-4325-99AD-3744B935D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23065-563E-4DE7-B64E-DA4D2323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Supervised Learning Algorithms and</a:t>
            </a:r>
            <a:br>
              <a:rPr lang="en-US" altLang="ko-KR" dirty="0"/>
            </a:br>
            <a:r>
              <a:rPr lang="en-US" altLang="ko-KR" dirty="0"/>
              <a:t>Classification and Regression Problems</a:t>
            </a:r>
            <a:endParaRPr lang="ko-KR" altLang="en-US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950B744E-F322-4B5B-A42A-B0EB2648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484642"/>
              </p:ext>
            </p:extLst>
          </p:nvPr>
        </p:nvGraphicFramePr>
        <p:xfrm>
          <a:off x="1063690" y="2259217"/>
          <a:ext cx="988947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284">
                  <a:extLst>
                    <a:ext uri="{9D8B030D-6E8A-4147-A177-3AD203B41FA5}">
                      <a16:colId xmlns:a16="http://schemas.microsoft.com/office/drawing/2014/main" val="2933820052"/>
                    </a:ext>
                  </a:extLst>
                </a:gridCol>
                <a:gridCol w="5171895">
                  <a:extLst>
                    <a:ext uri="{9D8B030D-6E8A-4147-A177-3AD203B41FA5}">
                      <a16:colId xmlns:a16="http://schemas.microsoft.com/office/drawing/2014/main" val="1516757694"/>
                    </a:ext>
                  </a:extLst>
                </a:gridCol>
                <a:gridCol w="1804149">
                  <a:extLst>
                    <a:ext uri="{9D8B030D-6E8A-4147-A177-3AD203B41FA5}">
                      <a16:colId xmlns:a16="http://schemas.microsoft.com/office/drawing/2014/main" val="210477781"/>
                    </a:ext>
                  </a:extLst>
                </a:gridCol>
                <a:gridCol w="1767143">
                  <a:extLst>
                    <a:ext uri="{9D8B030D-6E8A-4147-A177-3AD203B41FA5}">
                      <a16:colId xmlns:a16="http://schemas.microsoft.com/office/drawing/2014/main" val="991450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Algorithm 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Classification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Regression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983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Linear regression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81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Regularization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02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Logistic regression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Support vector machine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2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Support vector machine using kernel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612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Naïve Bayes classification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971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Random forest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89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Neural network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05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k-nearest neighbors algorithm, </a:t>
                      </a:r>
                      <a:r>
                        <a:rPr lang="en-US" altLang="ko-KR" dirty="0" err="1"/>
                        <a:t>kNN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7384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84005DA1-283C-4C70-92AA-7AA6205B1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6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A1A2-970E-4757-94C1-090CB4F5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Type of Machine Learning</a:t>
            </a:r>
            <a:br>
              <a:rPr lang="en-US" altLang="ko-KR" dirty="0"/>
            </a:br>
            <a:r>
              <a:rPr lang="en-US" altLang="ko-KR" sz="2400" dirty="0"/>
              <a:t>unsupervised learning(principal component analysis)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3C25F-A956-4CCE-9514-EFB29012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Supervised learning is a method of learning by combining independent and dependent variables. Whereas unsupervised learning is a method in which there is no dependent variable indicating the correct answer</a:t>
            </a:r>
            <a:endParaRPr lang="ko-KR" altLang="en-US" dirty="0"/>
          </a:p>
        </p:txBody>
      </p:sp>
      <p:graphicFrame>
        <p:nvGraphicFramePr>
          <p:cNvPr id="4" name="표 6">
            <a:extLst>
              <a:ext uri="{FF2B5EF4-FFF2-40B4-BE49-F238E27FC236}">
                <a16:creationId xmlns:a16="http://schemas.microsoft.com/office/drawing/2014/main" id="{0C875F86-E76B-4AF9-B9A6-F3A4F139C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668738"/>
              </p:ext>
            </p:extLst>
          </p:nvPr>
        </p:nvGraphicFramePr>
        <p:xfrm>
          <a:off x="1406850" y="3733453"/>
          <a:ext cx="326778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947">
                  <a:extLst>
                    <a:ext uri="{9D8B030D-6E8A-4147-A177-3AD203B41FA5}">
                      <a16:colId xmlns:a16="http://schemas.microsoft.com/office/drawing/2014/main" val="3935813768"/>
                    </a:ext>
                  </a:extLst>
                </a:gridCol>
                <a:gridCol w="816947">
                  <a:extLst>
                    <a:ext uri="{9D8B030D-6E8A-4147-A177-3AD203B41FA5}">
                      <a16:colId xmlns:a16="http://schemas.microsoft.com/office/drawing/2014/main" val="1025174063"/>
                    </a:ext>
                  </a:extLst>
                </a:gridCol>
                <a:gridCol w="816947">
                  <a:extLst>
                    <a:ext uri="{9D8B030D-6E8A-4147-A177-3AD203B41FA5}">
                      <a16:colId xmlns:a16="http://schemas.microsoft.com/office/drawing/2014/main" val="1135877483"/>
                    </a:ext>
                  </a:extLst>
                </a:gridCol>
                <a:gridCol w="816947">
                  <a:extLst>
                    <a:ext uri="{9D8B030D-6E8A-4147-A177-3AD203B41FA5}">
                      <a16:colId xmlns:a16="http://schemas.microsoft.com/office/drawing/2014/main" val="575719366"/>
                    </a:ext>
                  </a:extLst>
                </a:gridCol>
              </a:tblGrid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국어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220500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526723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537890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2573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286854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52469"/>
                  </a:ext>
                </a:extLst>
              </a:tr>
            </a:tbl>
          </a:graphicData>
        </a:graphic>
      </p:graphicFrame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DAE305A-4FC6-42A3-98D1-F315BC0EEE19}"/>
              </a:ext>
            </a:extLst>
          </p:cNvPr>
          <p:cNvCxnSpPr>
            <a:cxnSpLocks/>
          </p:cNvCxnSpPr>
          <p:nvPr/>
        </p:nvCxnSpPr>
        <p:spPr>
          <a:xfrm>
            <a:off x="4961267" y="4909443"/>
            <a:ext cx="326833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14B980F-B984-4A5D-A71D-E5DAF022FB4A}"/>
              </a:ext>
            </a:extLst>
          </p:cNvPr>
          <p:cNvSpPr txBox="1"/>
          <p:nvPr/>
        </p:nvSpPr>
        <p:spPr>
          <a:xfrm>
            <a:off x="4942819" y="4215898"/>
            <a:ext cx="3220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Principal</a:t>
            </a:r>
            <a:r>
              <a:rPr lang="ko-KR" altLang="en-US" dirty="0"/>
              <a:t> </a:t>
            </a:r>
            <a:r>
              <a:rPr lang="en-US" altLang="ko-KR" dirty="0"/>
              <a:t>component</a:t>
            </a:r>
            <a:r>
              <a:rPr lang="ko-KR" altLang="en-US" dirty="0"/>
              <a:t> </a:t>
            </a:r>
            <a:r>
              <a:rPr lang="en-US" altLang="ko-KR" dirty="0"/>
              <a:t>analysis</a:t>
            </a:r>
          </a:p>
          <a:p>
            <a:pPr algn="ctr"/>
            <a:r>
              <a:rPr lang="en-US" altLang="ko-KR" dirty="0"/>
              <a:t>(dimensionality reduction)</a:t>
            </a:r>
            <a:endParaRPr lang="ko-KR" altLang="en-US" dirty="0"/>
          </a:p>
        </p:txBody>
      </p:sp>
      <p:graphicFrame>
        <p:nvGraphicFramePr>
          <p:cNvPr id="11" name="표 11">
            <a:extLst>
              <a:ext uri="{FF2B5EF4-FFF2-40B4-BE49-F238E27FC236}">
                <a16:creationId xmlns:a16="http://schemas.microsoft.com/office/drawing/2014/main" id="{C50AF250-2862-4ED1-B9DC-B57E7BB10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404577"/>
              </p:ext>
            </p:extLst>
          </p:nvPr>
        </p:nvGraphicFramePr>
        <p:xfrm>
          <a:off x="8431690" y="3733453"/>
          <a:ext cx="191484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849">
                  <a:extLst>
                    <a:ext uri="{9D8B030D-6E8A-4147-A177-3AD203B41FA5}">
                      <a16:colId xmlns:a16="http://schemas.microsoft.com/office/drawing/2014/main" val="3358591330"/>
                    </a:ext>
                  </a:extLst>
                </a:gridCol>
              </a:tblGrid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첫 번째 성분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63140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-56.1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846739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-54.3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302415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49.1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86842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56.6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689098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4.6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090840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6C5E1EFD-EF94-4356-B6F2-CB79CE0E4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2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A1A2-970E-4757-94C1-090CB4F5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Type of Machine Learning</a:t>
            </a:r>
            <a:br>
              <a:rPr lang="en-US" altLang="ko-KR" dirty="0"/>
            </a:br>
            <a:r>
              <a:rPr lang="en-US" altLang="ko-KR" sz="2400" dirty="0"/>
              <a:t>unsupervised learning(</a:t>
            </a:r>
            <a:r>
              <a:rPr lang="en-US" altLang="ko-KR" sz="2400" dirty="0" err="1"/>
              <a:t>clusting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3C25F-A956-4CCE-9514-EFB29012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Supervised learning is a method of learning by combining independent and dependent variables. Whereas unsupervised learning is a method in which there is no dependent variable indicating the correct answer</a:t>
            </a:r>
          </a:p>
          <a:p>
            <a:r>
              <a:rPr lang="en-US" altLang="ko-KR" dirty="0"/>
              <a:t>Clustering is the classification of input data into several groups.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8C6AA1-F655-4732-A776-27E3BEB40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9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23065-563E-4DE7-B64E-DA4D2323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Correlation with</a:t>
            </a:r>
            <a:br>
              <a:rPr lang="en-US" altLang="ko-KR" dirty="0"/>
            </a:br>
            <a:r>
              <a:rPr lang="en-US" altLang="ko-KR" dirty="0"/>
              <a:t>dimensionality reduction and clustering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4AF710-9CE5-42C0-95CF-05B9D19D9E29}"/>
              </a:ext>
            </a:extLst>
          </p:cNvPr>
          <p:cNvSpPr/>
          <p:nvPr/>
        </p:nvSpPr>
        <p:spPr>
          <a:xfrm>
            <a:off x="2913719" y="2434068"/>
            <a:ext cx="6612836" cy="29529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D3C7C-7D07-4510-8198-F7257D3EE3A0}"/>
              </a:ext>
            </a:extLst>
          </p:cNvPr>
          <p:cNvSpPr txBox="1"/>
          <p:nvPr/>
        </p:nvSpPr>
        <p:spPr>
          <a:xfrm>
            <a:off x="3193529" y="2172458"/>
            <a:ext cx="144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Unsupervised</a:t>
            </a:r>
          </a:p>
          <a:p>
            <a:r>
              <a:rPr lang="en-US" altLang="ko-KR" sz="1400" dirty="0"/>
              <a:t>Learning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F404AD-6E9F-47EE-AF14-0FC738C8F3F0}"/>
              </a:ext>
            </a:extLst>
          </p:cNvPr>
          <p:cNvSpPr/>
          <p:nvPr/>
        </p:nvSpPr>
        <p:spPr>
          <a:xfrm>
            <a:off x="3396962" y="2919542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CAE767-36D5-42E7-8BAB-3926008535BB}"/>
              </a:ext>
            </a:extLst>
          </p:cNvPr>
          <p:cNvSpPr/>
          <p:nvPr/>
        </p:nvSpPr>
        <p:spPr>
          <a:xfrm>
            <a:off x="3679132" y="3303427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Principal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Component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Analysis </a:t>
            </a:r>
            <a:r>
              <a:rPr lang="en-US" altLang="ko-KR" sz="1200" dirty="0" err="1">
                <a:solidFill>
                  <a:schemeClr val="tx1"/>
                </a:solidFill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A9938-8C50-4CB6-88EA-68904BCC886A}"/>
              </a:ext>
            </a:extLst>
          </p:cNvPr>
          <p:cNvSpPr txBox="1"/>
          <p:nvPr/>
        </p:nvSpPr>
        <p:spPr>
          <a:xfrm>
            <a:off x="3679132" y="2653179"/>
            <a:ext cx="1385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Dimensionality</a:t>
            </a:r>
          </a:p>
          <a:p>
            <a:r>
              <a:rPr lang="en-US" altLang="ko-KR" sz="1400" dirty="0"/>
              <a:t>reduction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D5A238-58E7-4051-8AC1-1D1BA0F42EA4}"/>
              </a:ext>
            </a:extLst>
          </p:cNvPr>
          <p:cNvSpPr/>
          <p:nvPr/>
        </p:nvSpPr>
        <p:spPr>
          <a:xfrm>
            <a:off x="6576410" y="2919542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CA0B20-A6EF-4CB6-A07A-B3DCA0CFF436}"/>
              </a:ext>
            </a:extLst>
          </p:cNvPr>
          <p:cNvSpPr/>
          <p:nvPr/>
        </p:nvSpPr>
        <p:spPr>
          <a:xfrm>
            <a:off x="6858580" y="3303427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K-means algorithm </a:t>
            </a:r>
            <a:r>
              <a:rPr lang="en-US" altLang="ko-KR" sz="1200" dirty="0" err="1">
                <a:solidFill>
                  <a:schemeClr val="tx1"/>
                </a:solidFill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D0AD4D-E69A-436D-9B06-C938CE69DA0A}"/>
              </a:ext>
            </a:extLst>
          </p:cNvPr>
          <p:cNvSpPr txBox="1"/>
          <p:nvPr/>
        </p:nvSpPr>
        <p:spPr>
          <a:xfrm>
            <a:off x="6807964" y="2752913"/>
            <a:ext cx="975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clustering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74B79E2-707A-4DF8-B4D5-3DA27A535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57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23065-563E-4DE7-B64E-DA4D2323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Supervised Learning Algorithms and</a:t>
            </a:r>
            <a:br>
              <a:rPr lang="en-US" altLang="ko-KR" dirty="0"/>
            </a:br>
            <a:r>
              <a:rPr lang="en-US" altLang="ko-KR" dirty="0"/>
              <a:t>Classification and Regression Problems</a:t>
            </a:r>
            <a:endParaRPr lang="ko-KR" altLang="en-US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950B744E-F322-4B5B-A42A-B0EB2648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572671"/>
              </p:ext>
            </p:extLst>
          </p:nvPr>
        </p:nvGraphicFramePr>
        <p:xfrm>
          <a:off x="838200" y="2259217"/>
          <a:ext cx="105155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237">
                  <a:extLst>
                    <a:ext uri="{9D8B030D-6E8A-4147-A177-3AD203B41FA5}">
                      <a16:colId xmlns:a16="http://schemas.microsoft.com/office/drawing/2014/main" val="2933820052"/>
                    </a:ext>
                  </a:extLst>
                </a:gridCol>
                <a:gridCol w="5701004">
                  <a:extLst>
                    <a:ext uri="{9D8B030D-6E8A-4147-A177-3AD203B41FA5}">
                      <a16:colId xmlns:a16="http://schemas.microsoft.com/office/drawing/2014/main" val="1516757694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210477781"/>
                    </a:ext>
                  </a:extLst>
                </a:gridCol>
                <a:gridCol w="1827244">
                  <a:extLst>
                    <a:ext uri="{9D8B030D-6E8A-4147-A177-3AD203B41FA5}">
                      <a16:colId xmlns:a16="http://schemas.microsoft.com/office/drawing/2014/main" val="991450068"/>
                    </a:ext>
                  </a:extLst>
                </a:gridCol>
              </a:tblGrid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Algorithm 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Dimensionality reduction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clustering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983730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Principal component analysis, PCA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81607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Latent semantic analysis, LSA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027956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Non-negative matrix factorization, NMF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5192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Latent Dirichlet allocation, LDA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21086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k-means algorithm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612845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Gaussian mixture model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971506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Local linear embedding, LLE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89622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T-distributed stochastic neighbor embedding, t-SNE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05388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A6E257F9-D64D-4293-A40E-1E2460126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B5728-BE70-4628-8FF4-38BB3C2D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 of machine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597E7-9A1E-4F30-AFA2-A3D736418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Machine learning is used in various fields.</a:t>
            </a:r>
          </a:p>
          <a:p>
            <a:r>
              <a:rPr lang="en-US" altLang="ko-KR" dirty="0"/>
              <a:t>There are fields that have achieved results, such as automatic classification of documents and automatic translation</a:t>
            </a:r>
          </a:p>
          <a:p>
            <a:r>
              <a:rPr lang="en-US" altLang="ko-KR" dirty="0"/>
              <a:t>Since ancient times, the main concept of machine learning has been used to predict weather information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38541B-2FA1-4584-BA36-AF9064D30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33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601</Words>
  <Application>Microsoft Office PowerPoint</Application>
  <PresentationFormat>와이드스크린</PresentationFormat>
  <Paragraphs>219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Introducing Machine Learning</vt:lpstr>
      <vt:lpstr>Machine Learning</vt:lpstr>
      <vt:lpstr>Type of Machine Learning supervised learning(Classification problem)</vt:lpstr>
      <vt:lpstr>Type of Machine Learning supervised learning(Regression problem)</vt:lpstr>
      <vt:lpstr>Correlation with classification and regression</vt:lpstr>
      <vt:lpstr>Supervised Learning Algorithms and Classification and Regression Problems</vt:lpstr>
      <vt:lpstr>Type of Machine Learning unsupervised learning(principal component analysis)</vt:lpstr>
      <vt:lpstr>Type of Machine Learning unsupervised learning(clusting)</vt:lpstr>
      <vt:lpstr>Correlation with dimensionality reduction and clustering</vt:lpstr>
      <vt:lpstr>Supervised Learning Algorithms and Classification and Regression Problems</vt:lpstr>
      <vt:lpstr>Use of 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33</cp:revision>
  <dcterms:created xsi:type="dcterms:W3CDTF">2022-03-28T02:38:19Z</dcterms:created>
  <dcterms:modified xsi:type="dcterms:W3CDTF">2022-03-29T08:15:46Z</dcterms:modified>
</cp:coreProperties>
</file>