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38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1CE521-827E-4A9D-B4A4-E08B75D3C4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10FA017-E9FD-47B7-B644-3C51132F80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E966293-7602-417F-B517-A183978654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2022-03-28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D904C80-B2CE-4B65-B30D-1B97816681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57E35C-2201-4279-8784-9ECB48289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83017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05DFCB-99C1-4EFC-9E5B-CAB136BDF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0BB3F1F-CDA6-414B-9A6E-315DC05543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D96094B-69F1-46ED-9450-B32F3C099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2022-03-28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8DD6FC-7D4E-4E9F-A281-C53F40397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A0B44E-56F8-47E0-95AD-F48102EE0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24428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971390-9A92-4EBB-BD19-329470537A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850D584-048C-4D93-8C6A-A5762522E5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6D3DFB-3124-4DA0-BBE3-2C0B6EEC0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2022-03-28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C74C4D0-533E-4BFF-9CC2-5E04F73E6D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B6CED19-9F16-463E-A7AA-32B4B31D92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42988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461D47-8F52-4045-9557-C7F53C0630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7A85EF-298E-43B6-A3C6-AE9AFB215D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09A97D9-2043-4BBE-A55A-2D2CE26644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1A6B999-9D5B-4152-B530-E28E76BAEE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2022-03-28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B8E6382-317B-4C98-BFAD-4C178C4EA2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A62F42B-0800-4055-B5A2-5C5AAD3EC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2702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DE610-ADE8-40DA-B85B-F41BBD4BE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100E780-14A0-44F2-A15D-417117CD1A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0E1EA1F-0FF5-496A-9FFD-9C26666288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2C0DDBF-1F11-4F2E-A080-53FF8B7AE2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DA89BAC-7A14-4829-B782-72418B09AAD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57F405D-B981-4D24-99A1-766ABA113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2022-03-28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8692D0C-D0E8-48F1-BC5A-7FC50098B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267EFC5-F7AB-48C7-8ECA-13CCDCF2DA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93420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D80B00-BE09-4FEF-9197-B8E78C989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5720224-11D0-479C-B398-99AA4E23D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2022-03-28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DE69143-08E0-4CA1-824B-79BFA3A4B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CC29C7D-A213-4731-ADEE-E66A10B25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3050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ACF089B-E78F-4D14-922E-4FA824F468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2022-03-28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DA3B63D-1F05-4359-B1F0-8103B7C7D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DFF0FC-9445-4493-BE12-9BD9E4DEF3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1162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EA1BB0-03FE-4A66-8489-D789799B6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27E23A9-59AD-46CA-85BC-BAA2FB7500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D3F5870-7B3E-4046-8DF6-37E0F94491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B2D5E0-08B0-4F97-8248-E3B2CA5D8B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2022-03-28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9FC494B-9529-4A90-BBFD-77BA3490C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122A210-00D3-4246-8176-98A605752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49767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E2141A-3768-4A26-AABA-259E88E22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67354E6-1BB3-496F-B450-0299C96D18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3723903-027A-45BE-B1BB-507760DA70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CB5F5A2-CF49-453F-97A7-E5B6E3513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2022-03-28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D3672E1-3A33-4744-A75E-482329189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C8C3FDF-3B4C-4A0E-B364-2E895F6C8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21592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C9EE02-633E-4D6E-A934-1513AC631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007E4CB-EAFB-4CCA-8D64-7342CE719A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62B6EB6-C6A2-4A42-A3A7-456060AF6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2022-03-28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EE02531-19C7-41FC-82A3-EB6E46857D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9B1AAF8-68BB-4158-AC33-0A6A9F82D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02055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FD2E7AE-4C4D-473D-8533-4FFB7C1DD2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56ED8DB-E7B0-45CC-90E5-4057F11BCF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17200FD-53D0-47BD-8E77-DAA63C54E4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C9942-2545-4F48-A7A7-1164F218558C}" type="datetimeFigureOut">
              <a:rPr lang="ko-KR" altLang="en-US" smtClean="0"/>
              <a:t>2022-03-28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2A0BED6-AF24-4DF0-A0F5-581688AB7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DE75E5-3A67-40F9-AA6D-0FA140D7C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5601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56FCDAB-C798-499F-8A73-D757D9495A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FA2F9F3-D438-4D44-ACD6-F6D9B9710F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F274B50-9F08-413E-8DDB-A4643D72087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3C9942-2545-4F48-A7A7-1164F218558C}" type="datetimeFigureOut">
              <a:rPr lang="ko-KR" altLang="en-US" smtClean="0"/>
              <a:t>2022-03-28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846871F-3FEE-470B-B978-20EBB76853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51DAED7-3EB7-49B7-8241-A2901467C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65378E-56D9-4003-A729-B07E85BC251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05413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A65015-4584-49A2-91EF-79507A042B3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Introducing</a:t>
            </a:r>
            <a:br>
              <a:rPr lang="en-US" altLang="ko-KR" dirty="0"/>
            </a:br>
            <a:r>
              <a:rPr lang="en-US" altLang="ko-KR" dirty="0"/>
              <a:t>Machine Learning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5CF011A-DCF4-4264-94D1-FC6A992C2DC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What is Machine Learning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625565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4F84BB-E3D3-4843-AE6C-238424FB8D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Machine Learning</a:t>
            </a:r>
            <a:endParaRPr lang="ko-KR" altLang="en-US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6390350D-C625-48D5-9288-5D7D78FD2C9F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892" y="3132880"/>
            <a:ext cx="5705909" cy="1736828"/>
          </a:xfr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D715918-4F03-4399-87D2-A12488DF4E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705908" cy="4351338"/>
          </a:xfrm>
        </p:spPr>
        <p:txBody>
          <a:bodyPr/>
          <a:lstStyle/>
          <a:p>
            <a:r>
              <a:rPr lang="en-US" altLang="ko-KR" dirty="0"/>
              <a:t>Correlation with AI and ML</a:t>
            </a:r>
          </a:p>
          <a:p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6E42F3C-093D-406C-83D3-33CBDA70AA93}"/>
              </a:ext>
            </a:extLst>
          </p:cNvPr>
          <p:cNvSpPr/>
          <p:nvPr/>
        </p:nvSpPr>
        <p:spPr>
          <a:xfrm>
            <a:off x="6627303" y="3161856"/>
            <a:ext cx="4726497" cy="2952925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97554F-8124-4AA6-9086-068522E6DC18}"/>
              </a:ext>
            </a:extLst>
          </p:cNvPr>
          <p:cNvSpPr txBox="1"/>
          <p:nvPr/>
        </p:nvSpPr>
        <p:spPr>
          <a:xfrm>
            <a:off x="6912528" y="2857747"/>
            <a:ext cx="14491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Artificial </a:t>
            </a:r>
            <a:r>
              <a:rPr lang="en-US" altLang="ko-KR" sz="1400" dirty="0" err="1"/>
              <a:t>Intellignece</a:t>
            </a:r>
            <a:endParaRPr lang="ko-KR" altLang="en-US" sz="1400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1177DDB-20AF-469A-BD93-333374657448}"/>
              </a:ext>
            </a:extLst>
          </p:cNvPr>
          <p:cNvSpPr/>
          <p:nvPr/>
        </p:nvSpPr>
        <p:spPr>
          <a:xfrm>
            <a:off x="6912528" y="3656100"/>
            <a:ext cx="2491531" cy="212241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877A748-3250-4D7D-B0B0-DC455D69DF2E}"/>
              </a:ext>
            </a:extLst>
          </p:cNvPr>
          <p:cNvSpPr/>
          <p:nvPr/>
        </p:nvSpPr>
        <p:spPr>
          <a:xfrm>
            <a:off x="7194698" y="4039985"/>
            <a:ext cx="1936459" cy="144130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이 발표에서 소개하는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알고리즘 등을 이용한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다양한 방법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1DDC7F-74AA-4EE8-8600-1063C52DC5B6}"/>
              </a:ext>
            </a:extLst>
          </p:cNvPr>
          <p:cNvSpPr txBox="1"/>
          <p:nvPr/>
        </p:nvSpPr>
        <p:spPr>
          <a:xfrm>
            <a:off x="7194698" y="3389737"/>
            <a:ext cx="8848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Machine</a:t>
            </a:r>
          </a:p>
          <a:p>
            <a:r>
              <a:rPr lang="en-US" altLang="ko-KR" sz="1400" dirty="0"/>
              <a:t>Learning</a:t>
            </a:r>
            <a:endParaRPr lang="ko-KR" altLang="en-US" sz="14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F01DDF2-3527-4136-826D-95EA059213BF}"/>
              </a:ext>
            </a:extLst>
          </p:cNvPr>
          <p:cNvSpPr/>
          <p:nvPr/>
        </p:nvSpPr>
        <p:spPr>
          <a:xfrm>
            <a:off x="9623697" y="3556478"/>
            <a:ext cx="1593908" cy="47466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accent2"/>
                </a:solidFill>
              </a:rPr>
              <a:t>규칙 정하기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361BA5-1D25-47C0-A293-59676BDBA40D}"/>
              </a:ext>
            </a:extLst>
          </p:cNvPr>
          <p:cNvSpPr/>
          <p:nvPr/>
        </p:nvSpPr>
        <p:spPr>
          <a:xfrm>
            <a:off x="9623697" y="4460528"/>
            <a:ext cx="1593908" cy="47466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accent2"/>
                </a:solidFill>
              </a:rPr>
              <a:t>수학적으로 정하기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4AB3926-C022-4111-A92E-691E9E91A3F1}"/>
              </a:ext>
            </a:extLst>
          </p:cNvPr>
          <p:cNvSpPr/>
          <p:nvPr/>
        </p:nvSpPr>
        <p:spPr>
          <a:xfrm>
            <a:off x="9623697" y="5364578"/>
            <a:ext cx="1593908" cy="47466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accent2"/>
                </a:solidFill>
              </a:rPr>
              <a:t>기타</a:t>
            </a:r>
          </a:p>
        </p:txBody>
      </p:sp>
    </p:spTree>
    <p:extLst>
      <p:ext uri="{BB962C8B-B14F-4D97-AF65-F5344CB8AC3E}">
        <p14:creationId xmlns:p14="http://schemas.microsoft.com/office/powerpoint/2010/main" val="2115218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CCA1A2-970E-4757-94C1-090CB4F5F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Type of Machine Learning</a:t>
            </a:r>
            <a:br>
              <a:rPr lang="en-US" altLang="ko-KR" dirty="0"/>
            </a:br>
            <a:r>
              <a:rPr lang="en-US" altLang="ko-KR" sz="2400" dirty="0"/>
              <a:t>supervised learning(Classification problem)</a:t>
            </a:r>
            <a:endParaRPr lang="ko-KR" altLang="en-US" sz="24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33C25F-A956-4CCE-9514-EFB2901253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Supervised learning is training a machine learning model by inputting the correct answer to a problem into a computer.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386165F1-EB37-4162-AB50-2E49372DD53E}"/>
              </a:ext>
            </a:extLst>
          </p:cNvPr>
          <p:cNvGraphicFramePr>
            <a:graphicFrameLocks noGrp="1"/>
          </p:cNvGraphicFramePr>
          <p:nvPr/>
        </p:nvGraphicFramePr>
        <p:xfrm>
          <a:off x="1125989" y="3046597"/>
          <a:ext cx="3051729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7243">
                  <a:extLst>
                    <a:ext uri="{9D8B030D-6E8A-4147-A177-3AD203B41FA5}">
                      <a16:colId xmlns:a16="http://schemas.microsoft.com/office/drawing/2014/main" val="3365037398"/>
                    </a:ext>
                  </a:extLst>
                </a:gridCol>
                <a:gridCol w="1017243">
                  <a:extLst>
                    <a:ext uri="{9D8B030D-6E8A-4147-A177-3AD203B41FA5}">
                      <a16:colId xmlns:a16="http://schemas.microsoft.com/office/drawing/2014/main" val="703333826"/>
                    </a:ext>
                  </a:extLst>
                </a:gridCol>
                <a:gridCol w="1017243">
                  <a:extLst>
                    <a:ext uri="{9D8B030D-6E8A-4147-A177-3AD203B41FA5}">
                      <a16:colId xmlns:a16="http://schemas.microsoft.com/office/drawing/2014/main" val="4005302824"/>
                    </a:ext>
                  </a:extLst>
                </a:gridCol>
              </a:tblGrid>
              <a:tr h="2467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체중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성별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1389771"/>
                  </a:ext>
                </a:extLst>
              </a:tr>
              <a:tr h="2467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180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75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남자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6682368"/>
                  </a:ext>
                </a:extLst>
              </a:tr>
              <a:tr h="2467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155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48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여자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944365"/>
                  </a:ext>
                </a:extLst>
              </a:tr>
              <a:tr h="2467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170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남자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769632"/>
                  </a:ext>
                </a:extLst>
              </a:tr>
            </a:tbl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1150D7D5-FADD-4F18-83E9-FE1E5036921D}"/>
              </a:ext>
            </a:extLst>
          </p:cNvPr>
          <p:cNvSpPr/>
          <p:nvPr/>
        </p:nvSpPr>
        <p:spPr>
          <a:xfrm>
            <a:off x="3163078" y="3409559"/>
            <a:ext cx="1014640" cy="1100078"/>
          </a:xfrm>
          <a:prstGeom prst="rect">
            <a:avLst/>
          </a:prstGeom>
          <a:noFill/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7EFCA50D-B381-4A95-9C77-9802EE7BF5D1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>
            <a:off x="4177718" y="3959598"/>
            <a:ext cx="459137" cy="226874"/>
          </a:xfrm>
          <a:prstGeom prst="bentConnector3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587A066-238F-4D05-BECB-7D8DE44B592A}"/>
              </a:ext>
            </a:extLst>
          </p:cNvPr>
          <p:cNvSpPr txBox="1"/>
          <p:nvPr/>
        </p:nvSpPr>
        <p:spPr>
          <a:xfrm>
            <a:off x="4636855" y="3863306"/>
            <a:ext cx="134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Dependent</a:t>
            </a:r>
          </a:p>
          <a:p>
            <a:r>
              <a:rPr lang="en-US" altLang="ko-KR" dirty="0">
                <a:solidFill>
                  <a:srgbClr val="FF0000"/>
                </a:solidFill>
              </a:rPr>
              <a:t>variable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D8592F-20FD-43A8-A9BB-3F5531B03985}"/>
              </a:ext>
            </a:extLst>
          </p:cNvPr>
          <p:cNvSpPr/>
          <p:nvPr/>
        </p:nvSpPr>
        <p:spPr>
          <a:xfrm>
            <a:off x="1133798" y="3409559"/>
            <a:ext cx="2029280" cy="1100078"/>
          </a:xfrm>
          <a:prstGeom prst="rect">
            <a:avLst/>
          </a:prstGeom>
          <a:noFill/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5" name="연결선: 꺾임 14">
            <a:extLst>
              <a:ext uri="{FF2B5EF4-FFF2-40B4-BE49-F238E27FC236}">
                <a16:creationId xmlns:a16="http://schemas.microsoft.com/office/drawing/2014/main" id="{8C5D3DB5-BF49-425A-BD7B-269F87A45535}"/>
              </a:ext>
            </a:extLst>
          </p:cNvPr>
          <p:cNvCxnSpPr>
            <a:cxnSpLocks/>
            <a:stCxn id="5" idx="1"/>
            <a:endCxn id="19" idx="0"/>
          </p:cNvCxnSpPr>
          <p:nvPr/>
        </p:nvCxnSpPr>
        <p:spPr>
          <a:xfrm rot="10800000" flipV="1">
            <a:off x="720309" y="3778116"/>
            <a:ext cx="405680" cy="866457"/>
          </a:xfrm>
          <a:prstGeom prst="bentConnector2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AD6CCD7-8E67-4686-819B-2520B01C781C}"/>
              </a:ext>
            </a:extLst>
          </p:cNvPr>
          <p:cNvSpPr txBox="1"/>
          <p:nvPr/>
        </p:nvSpPr>
        <p:spPr>
          <a:xfrm>
            <a:off x="261722" y="4644574"/>
            <a:ext cx="917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feature</a:t>
            </a:r>
            <a:endParaRPr lang="ko-KR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36" name="표 36">
            <a:extLst>
              <a:ext uri="{FF2B5EF4-FFF2-40B4-BE49-F238E27FC236}">
                <a16:creationId xmlns:a16="http://schemas.microsoft.com/office/drawing/2014/main" id="{8A7A6017-B38F-403E-AF07-9F38BBEC9D99}"/>
              </a:ext>
            </a:extLst>
          </p:cNvPr>
          <p:cNvGraphicFramePr>
            <a:graphicFrameLocks noGrp="1"/>
          </p:cNvGraphicFramePr>
          <p:nvPr/>
        </p:nvGraphicFramePr>
        <p:xfrm>
          <a:off x="1133799" y="5448035"/>
          <a:ext cx="304392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4640">
                  <a:extLst>
                    <a:ext uri="{9D8B030D-6E8A-4147-A177-3AD203B41FA5}">
                      <a16:colId xmlns:a16="http://schemas.microsoft.com/office/drawing/2014/main" val="1315925744"/>
                    </a:ext>
                  </a:extLst>
                </a:gridCol>
                <a:gridCol w="1014640">
                  <a:extLst>
                    <a:ext uri="{9D8B030D-6E8A-4147-A177-3AD203B41FA5}">
                      <a16:colId xmlns:a16="http://schemas.microsoft.com/office/drawing/2014/main" val="3606161248"/>
                    </a:ext>
                  </a:extLst>
                </a:gridCol>
                <a:gridCol w="1014640">
                  <a:extLst>
                    <a:ext uri="{9D8B030D-6E8A-4147-A177-3AD203B41FA5}">
                      <a16:colId xmlns:a16="http://schemas.microsoft.com/office/drawing/2014/main" val="14319418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체중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성별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77131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175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70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?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6636299"/>
                  </a:ext>
                </a:extLst>
              </a:tr>
            </a:tbl>
          </a:graphicData>
        </a:graphic>
      </p:graphicFrame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E9BEA6D4-55AA-4C66-9E9B-B8E8011F3260}"/>
              </a:ext>
            </a:extLst>
          </p:cNvPr>
          <p:cNvCxnSpPr/>
          <p:nvPr/>
        </p:nvCxnSpPr>
        <p:spPr>
          <a:xfrm>
            <a:off x="4503604" y="5833174"/>
            <a:ext cx="1247163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1" name="그림 40">
            <a:extLst>
              <a:ext uri="{FF2B5EF4-FFF2-40B4-BE49-F238E27FC236}">
                <a16:creationId xmlns:a16="http://schemas.microsoft.com/office/drawing/2014/main" id="{9CBE43F6-A085-4176-8DEC-B5CD37181F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9069" y="4881561"/>
            <a:ext cx="2174513" cy="2172801"/>
          </a:xfrm>
          <a:prstGeom prst="rect">
            <a:avLst/>
          </a:prstGeom>
        </p:spPr>
      </p:pic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C91E09A3-12D1-409C-9691-7EE37B4493BD}"/>
              </a:ext>
            </a:extLst>
          </p:cNvPr>
          <p:cNvCxnSpPr/>
          <p:nvPr/>
        </p:nvCxnSpPr>
        <p:spPr>
          <a:xfrm>
            <a:off x="8817455" y="5843327"/>
            <a:ext cx="1247163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8AC6B437-DCDB-452B-92D6-54A1A157C8DB}"/>
              </a:ext>
            </a:extLst>
          </p:cNvPr>
          <p:cNvSpPr txBox="1"/>
          <p:nvPr/>
        </p:nvSpPr>
        <p:spPr>
          <a:xfrm>
            <a:off x="8979316" y="5473995"/>
            <a:ext cx="9091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predict</a:t>
            </a:r>
            <a:endParaRPr lang="ko-KR" altLang="en-US" dirty="0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94C2D1A4-DE17-4F26-805C-9C7EB82BDFC4}"/>
              </a:ext>
            </a:extLst>
          </p:cNvPr>
          <p:cNvSpPr/>
          <p:nvPr/>
        </p:nvSpPr>
        <p:spPr>
          <a:xfrm>
            <a:off x="10636898" y="5648508"/>
            <a:ext cx="646331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/>
              <a:t>남자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0F5BE21-7285-4FE2-A3DC-D993A60861A2}"/>
              </a:ext>
            </a:extLst>
          </p:cNvPr>
          <p:cNvSpPr txBox="1">
            <a:spLocks noChangeAspect="1"/>
          </p:cNvSpPr>
          <p:nvPr/>
        </p:nvSpPr>
        <p:spPr>
          <a:xfrm>
            <a:off x="6289070" y="2678147"/>
            <a:ext cx="4735207" cy="24622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/>
              <a:t>Classify problems that predict classifications such</a:t>
            </a:r>
          </a:p>
          <a:p>
            <a:r>
              <a:rPr lang="en-US" altLang="ko-KR" sz="1400" dirty="0"/>
              <a:t>     as gender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/>
              <a:t>Binary classification of gender into male and female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/>
              <a:t>Multiclass classification to classify by multiple</a:t>
            </a:r>
          </a:p>
          <a:p>
            <a:r>
              <a:rPr lang="en-US" altLang="ko-KR" sz="1400" dirty="0"/>
              <a:t>     attributes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/>
              <a:t>Solve as a classification problem if the variable</a:t>
            </a:r>
          </a:p>
          <a:p>
            <a:r>
              <a:rPr lang="en-US" altLang="ko-KR" sz="1400" dirty="0"/>
              <a:t>     corresponding to the data representing the correct</a:t>
            </a:r>
          </a:p>
          <a:p>
            <a:r>
              <a:rPr lang="en-US" altLang="ko-KR" sz="1400" dirty="0"/>
              <a:t>     answer is a discrete value rather than a continuous</a:t>
            </a:r>
          </a:p>
          <a:p>
            <a:r>
              <a:rPr lang="en-US" altLang="ko-KR" sz="1400" dirty="0"/>
              <a:t>    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/>
              <a:t>Feature data are independent variables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/>
              <a:t>Correct answer data is the dependent variable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C09681-B6F6-4421-9A69-67FABEA1A2BD}"/>
              </a:ext>
            </a:extLst>
          </p:cNvPr>
          <p:cNvSpPr txBox="1"/>
          <p:nvPr/>
        </p:nvSpPr>
        <p:spPr>
          <a:xfrm>
            <a:off x="4716667" y="5473995"/>
            <a:ext cx="7248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input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52541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CCA1A2-970E-4757-94C1-090CB4F5F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Type of Machine Learning</a:t>
            </a:r>
            <a:br>
              <a:rPr lang="en-US" altLang="ko-KR" dirty="0"/>
            </a:br>
            <a:r>
              <a:rPr lang="en-US" altLang="ko-KR" sz="2400" dirty="0"/>
              <a:t>supervised learning(Regression problem)</a:t>
            </a:r>
            <a:endParaRPr lang="ko-KR" altLang="en-US" sz="24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33C25F-A956-4CCE-9514-EFB2901253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Supervised learning is training a machine learning model by inputting the correct answer to a problem into a computer.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386165F1-EB37-4162-AB50-2E49372DD5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2177612"/>
              </p:ext>
            </p:extLst>
          </p:nvPr>
        </p:nvGraphicFramePr>
        <p:xfrm>
          <a:off x="838199" y="3046597"/>
          <a:ext cx="3569247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9749">
                  <a:extLst>
                    <a:ext uri="{9D8B030D-6E8A-4147-A177-3AD203B41FA5}">
                      <a16:colId xmlns:a16="http://schemas.microsoft.com/office/drawing/2014/main" val="3365037398"/>
                    </a:ext>
                  </a:extLst>
                </a:gridCol>
                <a:gridCol w="1189749">
                  <a:extLst>
                    <a:ext uri="{9D8B030D-6E8A-4147-A177-3AD203B41FA5}">
                      <a16:colId xmlns:a16="http://schemas.microsoft.com/office/drawing/2014/main" val="703333826"/>
                    </a:ext>
                  </a:extLst>
                </a:gridCol>
                <a:gridCol w="1189749">
                  <a:extLst>
                    <a:ext uri="{9D8B030D-6E8A-4147-A177-3AD203B41FA5}">
                      <a16:colId xmlns:a16="http://schemas.microsoft.com/office/drawing/2014/main" val="4005302824"/>
                    </a:ext>
                  </a:extLst>
                </a:gridCol>
              </a:tblGrid>
              <a:tr h="2467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체중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신발 크기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1389771"/>
                  </a:ext>
                </a:extLst>
              </a:tr>
              <a:tr h="2467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180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75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265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6682368"/>
                  </a:ext>
                </a:extLst>
              </a:tr>
              <a:tr h="2467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155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48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240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944365"/>
                  </a:ext>
                </a:extLst>
              </a:tr>
              <a:tr h="24676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170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230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769632"/>
                  </a:ext>
                </a:extLst>
              </a:tr>
            </a:tbl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1150D7D5-FADD-4F18-83E9-FE1E5036921D}"/>
              </a:ext>
            </a:extLst>
          </p:cNvPr>
          <p:cNvSpPr/>
          <p:nvPr/>
        </p:nvSpPr>
        <p:spPr>
          <a:xfrm>
            <a:off x="3228392" y="3409559"/>
            <a:ext cx="1179054" cy="1100078"/>
          </a:xfrm>
          <a:prstGeom prst="rect">
            <a:avLst/>
          </a:prstGeom>
          <a:noFill/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7EFCA50D-B381-4A95-9C77-9802EE7BF5D1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>
            <a:off x="4407446" y="3959598"/>
            <a:ext cx="344916" cy="226874"/>
          </a:xfrm>
          <a:prstGeom prst="bentConnector3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587A066-238F-4D05-BECB-7D8DE44B592A}"/>
              </a:ext>
            </a:extLst>
          </p:cNvPr>
          <p:cNvSpPr txBox="1"/>
          <p:nvPr/>
        </p:nvSpPr>
        <p:spPr>
          <a:xfrm>
            <a:off x="4752362" y="3863306"/>
            <a:ext cx="134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Dependent</a:t>
            </a:r>
          </a:p>
          <a:p>
            <a:r>
              <a:rPr lang="en-US" altLang="ko-KR" dirty="0">
                <a:solidFill>
                  <a:srgbClr val="FF0000"/>
                </a:solidFill>
              </a:rPr>
              <a:t>variable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D8592F-20FD-43A8-A9BB-3F5531B03985}"/>
              </a:ext>
            </a:extLst>
          </p:cNvPr>
          <p:cNvSpPr/>
          <p:nvPr/>
        </p:nvSpPr>
        <p:spPr>
          <a:xfrm>
            <a:off x="838197" y="3409559"/>
            <a:ext cx="2390193" cy="1100078"/>
          </a:xfrm>
          <a:prstGeom prst="rect">
            <a:avLst/>
          </a:prstGeom>
          <a:noFill/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5" name="연결선: 꺾임 14">
            <a:extLst>
              <a:ext uri="{FF2B5EF4-FFF2-40B4-BE49-F238E27FC236}">
                <a16:creationId xmlns:a16="http://schemas.microsoft.com/office/drawing/2014/main" id="{8C5D3DB5-BF49-425A-BD7B-269F87A45535}"/>
              </a:ext>
            </a:extLst>
          </p:cNvPr>
          <p:cNvCxnSpPr>
            <a:cxnSpLocks/>
            <a:stCxn id="5" idx="1"/>
            <a:endCxn id="19" idx="0"/>
          </p:cNvCxnSpPr>
          <p:nvPr/>
        </p:nvCxnSpPr>
        <p:spPr>
          <a:xfrm rot="10800000" flipV="1">
            <a:off x="571019" y="3778116"/>
            <a:ext cx="267180" cy="866457"/>
          </a:xfrm>
          <a:prstGeom prst="bentConnector2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AD6CCD7-8E67-4686-819B-2520B01C781C}"/>
              </a:ext>
            </a:extLst>
          </p:cNvPr>
          <p:cNvSpPr txBox="1"/>
          <p:nvPr/>
        </p:nvSpPr>
        <p:spPr>
          <a:xfrm>
            <a:off x="112432" y="4644574"/>
            <a:ext cx="917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feature</a:t>
            </a:r>
            <a:endParaRPr lang="ko-KR" altLang="en-US" dirty="0">
              <a:solidFill>
                <a:srgbClr val="FF0000"/>
              </a:solidFill>
            </a:endParaRPr>
          </a:p>
        </p:txBody>
      </p:sp>
      <p:graphicFrame>
        <p:nvGraphicFramePr>
          <p:cNvPr id="36" name="표 36">
            <a:extLst>
              <a:ext uri="{FF2B5EF4-FFF2-40B4-BE49-F238E27FC236}">
                <a16:creationId xmlns:a16="http://schemas.microsoft.com/office/drawing/2014/main" id="{8A7A6017-B38F-403E-AF07-9F38BBEC9D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2730217"/>
              </p:ext>
            </p:extLst>
          </p:nvPr>
        </p:nvGraphicFramePr>
        <p:xfrm>
          <a:off x="838199" y="5448035"/>
          <a:ext cx="3569247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9749">
                  <a:extLst>
                    <a:ext uri="{9D8B030D-6E8A-4147-A177-3AD203B41FA5}">
                      <a16:colId xmlns:a16="http://schemas.microsoft.com/office/drawing/2014/main" val="1315925744"/>
                    </a:ext>
                  </a:extLst>
                </a:gridCol>
                <a:gridCol w="1189749">
                  <a:extLst>
                    <a:ext uri="{9D8B030D-6E8A-4147-A177-3AD203B41FA5}">
                      <a16:colId xmlns:a16="http://schemas.microsoft.com/office/drawing/2014/main" val="3606161248"/>
                    </a:ext>
                  </a:extLst>
                </a:gridCol>
                <a:gridCol w="1189749">
                  <a:extLst>
                    <a:ext uri="{9D8B030D-6E8A-4147-A177-3AD203B41FA5}">
                      <a16:colId xmlns:a16="http://schemas.microsoft.com/office/drawing/2014/main" val="14319418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체중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신발 크기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77131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175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70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?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6636299"/>
                  </a:ext>
                </a:extLst>
              </a:tr>
            </a:tbl>
          </a:graphicData>
        </a:graphic>
      </p:graphicFrame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E9BEA6D4-55AA-4C66-9E9B-B8E8011F3260}"/>
              </a:ext>
            </a:extLst>
          </p:cNvPr>
          <p:cNvCxnSpPr/>
          <p:nvPr/>
        </p:nvCxnSpPr>
        <p:spPr>
          <a:xfrm>
            <a:off x="4709340" y="5833174"/>
            <a:ext cx="1247163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1" name="그림 40">
            <a:extLst>
              <a:ext uri="{FF2B5EF4-FFF2-40B4-BE49-F238E27FC236}">
                <a16:creationId xmlns:a16="http://schemas.microsoft.com/office/drawing/2014/main" id="{9CBE43F6-A085-4176-8DEC-B5CD37181F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9069" y="4881561"/>
            <a:ext cx="2174513" cy="2172801"/>
          </a:xfrm>
          <a:prstGeom prst="rect">
            <a:avLst/>
          </a:prstGeom>
        </p:spPr>
      </p:pic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C91E09A3-12D1-409C-9691-7EE37B4493BD}"/>
              </a:ext>
            </a:extLst>
          </p:cNvPr>
          <p:cNvCxnSpPr/>
          <p:nvPr/>
        </p:nvCxnSpPr>
        <p:spPr>
          <a:xfrm>
            <a:off x="8817455" y="5843327"/>
            <a:ext cx="1247163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8AC6B437-DCDB-452B-92D6-54A1A157C8DB}"/>
              </a:ext>
            </a:extLst>
          </p:cNvPr>
          <p:cNvSpPr txBox="1"/>
          <p:nvPr/>
        </p:nvSpPr>
        <p:spPr>
          <a:xfrm>
            <a:off x="8979316" y="5473995"/>
            <a:ext cx="9091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predict</a:t>
            </a:r>
            <a:endParaRPr lang="ko-KR" altLang="en-US" dirty="0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94C2D1A4-DE17-4F26-805C-9C7EB82BDFC4}"/>
              </a:ext>
            </a:extLst>
          </p:cNvPr>
          <p:cNvSpPr/>
          <p:nvPr/>
        </p:nvSpPr>
        <p:spPr>
          <a:xfrm>
            <a:off x="10636898" y="5648508"/>
            <a:ext cx="646331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/>
              <a:t>남자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0F5BE21-7285-4FE2-A3DC-D993A60861A2}"/>
              </a:ext>
            </a:extLst>
          </p:cNvPr>
          <p:cNvSpPr txBox="1">
            <a:spLocks noChangeAspect="1"/>
          </p:cNvSpPr>
          <p:nvPr/>
        </p:nvSpPr>
        <p:spPr>
          <a:xfrm>
            <a:off x="6289069" y="3703703"/>
            <a:ext cx="5191293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/>
              <a:t>Another method of supervised learning is regression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/>
              <a:t>A regression problem is to make predictions by attaching</a:t>
            </a:r>
          </a:p>
          <a:p>
            <a:r>
              <a:rPr lang="en-US" altLang="ko-KR" sz="1400" dirty="0"/>
              <a:t>     meaning to the large and small values of numeric values.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C09681-B6F6-4421-9A69-67FABEA1A2BD}"/>
              </a:ext>
            </a:extLst>
          </p:cNvPr>
          <p:cNvSpPr txBox="1"/>
          <p:nvPr/>
        </p:nvSpPr>
        <p:spPr>
          <a:xfrm>
            <a:off x="4922403" y="5473995"/>
            <a:ext cx="7248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input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488361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C23065-563E-4DE7-B64E-DA4D23238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Correlation with</a:t>
            </a:r>
            <a:br>
              <a:rPr lang="en-US" altLang="ko-KR" dirty="0"/>
            </a:br>
            <a:r>
              <a:rPr lang="en-US" altLang="ko-KR" dirty="0"/>
              <a:t>classification and regression</a:t>
            </a:r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44AF710-9CE5-42C0-95CF-05B9D19D9E29}"/>
              </a:ext>
            </a:extLst>
          </p:cNvPr>
          <p:cNvSpPr/>
          <p:nvPr/>
        </p:nvSpPr>
        <p:spPr>
          <a:xfrm>
            <a:off x="2913719" y="2434068"/>
            <a:ext cx="6612836" cy="2952925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FD3C7C-7D07-4510-8198-F7257D3EE3A0}"/>
              </a:ext>
            </a:extLst>
          </p:cNvPr>
          <p:cNvSpPr txBox="1"/>
          <p:nvPr/>
        </p:nvSpPr>
        <p:spPr>
          <a:xfrm>
            <a:off x="3198944" y="2129959"/>
            <a:ext cx="14491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Supervised</a:t>
            </a:r>
          </a:p>
          <a:p>
            <a:r>
              <a:rPr lang="en-US" altLang="ko-KR" sz="1400" dirty="0"/>
              <a:t>Learning</a:t>
            </a:r>
            <a:endParaRPr lang="ko-KR" altLang="en-US" sz="1400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7F404AD-6E9F-47EE-AF14-0FC738C8F3F0}"/>
              </a:ext>
            </a:extLst>
          </p:cNvPr>
          <p:cNvSpPr/>
          <p:nvPr/>
        </p:nvSpPr>
        <p:spPr>
          <a:xfrm>
            <a:off x="3396962" y="2919542"/>
            <a:ext cx="2491531" cy="212241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2CAE767-36D5-42E7-8BAB-3926008535BB}"/>
              </a:ext>
            </a:extLst>
          </p:cNvPr>
          <p:cNvSpPr/>
          <p:nvPr/>
        </p:nvSpPr>
        <p:spPr>
          <a:xfrm>
            <a:off x="3679132" y="3303427"/>
            <a:ext cx="1936459" cy="144130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Logistic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Regression</a:t>
            </a:r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 err="1">
                <a:solidFill>
                  <a:schemeClr val="tx1"/>
                </a:solidFill>
              </a:rPr>
              <a:t>etc</a:t>
            </a:r>
            <a:r>
              <a:rPr lang="en-US" altLang="ko-KR" sz="12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3A9938-8C50-4CB6-88EA-68904BCC886A}"/>
              </a:ext>
            </a:extLst>
          </p:cNvPr>
          <p:cNvSpPr txBox="1"/>
          <p:nvPr/>
        </p:nvSpPr>
        <p:spPr>
          <a:xfrm>
            <a:off x="3679132" y="2653179"/>
            <a:ext cx="12362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Classification</a:t>
            </a:r>
          </a:p>
          <a:p>
            <a:r>
              <a:rPr lang="en-US" altLang="ko-KR" sz="1400" dirty="0"/>
              <a:t>problem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BD5A238-58E7-4051-8AC1-1D1BA0F42EA4}"/>
              </a:ext>
            </a:extLst>
          </p:cNvPr>
          <p:cNvSpPr/>
          <p:nvPr/>
        </p:nvSpPr>
        <p:spPr>
          <a:xfrm>
            <a:off x="6576410" y="2919542"/>
            <a:ext cx="2491531" cy="212241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ECA0B20-A6EF-4CB6-A07A-B3DCA0CFF436}"/>
              </a:ext>
            </a:extLst>
          </p:cNvPr>
          <p:cNvSpPr/>
          <p:nvPr/>
        </p:nvSpPr>
        <p:spPr>
          <a:xfrm>
            <a:off x="6858580" y="3303427"/>
            <a:ext cx="1936459" cy="144130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Linear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Regression</a:t>
            </a:r>
            <a:r>
              <a:rPr lang="ko-KR" altLang="en-US" sz="1200" dirty="0">
                <a:solidFill>
                  <a:schemeClr val="tx1"/>
                </a:solidFill>
              </a:rPr>
              <a:t> </a:t>
            </a:r>
            <a:r>
              <a:rPr lang="en-US" altLang="ko-KR" sz="1200" dirty="0" err="1">
                <a:solidFill>
                  <a:schemeClr val="tx1"/>
                </a:solidFill>
              </a:rPr>
              <a:t>etc</a:t>
            </a:r>
            <a:r>
              <a:rPr lang="en-US" altLang="ko-KR" sz="12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4D0AD4D-E69A-436D-9B06-C938CE69DA0A}"/>
              </a:ext>
            </a:extLst>
          </p:cNvPr>
          <p:cNvSpPr txBox="1"/>
          <p:nvPr/>
        </p:nvSpPr>
        <p:spPr>
          <a:xfrm>
            <a:off x="6858580" y="2653179"/>
            <a:ext cx="10631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Regression</a:t>
            </a:r>
          </a:p>
          <a:p>
            <a:r>
              <a:rPr lang="en-US" altLang="ko-KR" sz="1400" dirty="0"/>
              <a:t>problem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31170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C23065-563E-4DE7-B64E-DA4D23238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Supervised Learning Algorithms and</a:t>
            </a:r>
            <a:br>
              <a:rPr lang="en-US" altLang="ko-KR" dirty="0"/>
            </a:br>
            <a:r>
              <a:rPr lang="en-US" altLang="ko-KR" dirty="0"/>
              <a:t>Classification and Regression Problems</a:t>
            </a:r>
            <a:endParaRPr lang="ko-KR" altLang="en-US" dirty="0"/>
          </a:p>
        </p:txBody>
      </p:sp>
      <p:graphicFrame>
        <p:nvGraphicFramePr>
          <p:cNvPr id="3" name="표 8">
            <a:extLst>
              <a:ext uri="{FF2B5EF4-FFF2-40B4-BE49-F238E27FC236}">
                <a16:creationId xmlns:a16="http://schemas.microsoft.com/office/drawing/2014/main" id="{950B744E-F322-4B5B-A42A-B0EB2648D5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9484642"/>
              </p:ext>
            </p:extLst>
          </p:nvPr>
        </p:nvGraphicFramePr>
        <p:xfrm>
          <a:off x="1063690" y="2259217"/>
          <a:ext cx="9889471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6284">
                  <a:extLst>
                    <a:ext uri="{9D8B030D-6E8A-4147-A177-3AD203B41FA5}">
                      <a16:colId xmlns:a16="http://schemas.microsoft.com/office/drawing/2014/main" val="2933820052"/>
                    </a:ext>
                  </a:extLst>
                </a:gridCol>
                <a:gridCol w="5171895">
                  <a:extLst>
                    <a:ext uri="{9D8B030D-6E8A-4147-A177-3AD203B41FA5}">
                      <a16:colId xmlns:a16="http://schemas.microsoft.com/office/drawing/2014/main" val="1516757694"/>
                    </a:ext>
                  </a:extLst>
                </a:gridCol>
                <a:gridCol w="1804149">
                  <a:extLst>
                    <a:ext uri="{9D8B030D-6E8A-4147-A177-3AD203B41FA5}">
                      <a16:colId xmlns:a16="http://schemas.microsoft.com/office/drawing/2014/main" val="210477781"/>
                    </a:ext>
                  </a:extLst>
                </a:gridCol>
                <a:gridCol w="1767143">
                  <a:extLst>
                    <a:ext uri="{9D8B030D-6E8A-4147-A177-3AD203B41FA5}">
                      <a16:colId xmlns:a16="http://schemas.microsoft.com/office/drawing/2014/main" val="99145006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Number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Algorithm name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Classification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Regression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89837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Linear regression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52816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Regularization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70279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Logistic regression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245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Support vector machine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04210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Support vector machine using kernel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96128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Naïve Bayes classification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09715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7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Random forest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6896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Neural network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053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9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k-nearest neighbors algorithm, </a:t>
                      </a:r>
                      <a:r>
                        <a:rPr lang="en-US" altLang="ko-KR" dirty="0" err="1"/>
                        <a:t>kNN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33373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846665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CCA1A2-970E-4757-94C1-090CB4F5F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Type of Machine Learning</a:t>
            </a:r>
            <a:br>
              <a:rPr lang="en-US" altLang="ko-KR" dirty="0"/>
            </a:br>
            <a:r>
              <a:rPr lang="en-US" altLang="ko-KR" sz="2400" dirty="0"/>
              <a:t>unsupervised learning(principal component analysis)</a:t>
            </a:r>
            <a:endParaRPr lang="ko-KR" altLang="en-US" sz="24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33C25F-A956-4CCE-9514-EFB2901253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Supervised learning is a method of learning by combining independent and dependent variables. Whereas unsupervised learning is a method in which there is no dependent variable indicating the correct answer</a:t>
            </a:r>
            <a:endParaRPr lang="ko-KR" altLang="en-US" dirty="0"/>
          </a:p>
        </p:txBody>
      </p:sp>
      <p:graphicFrame>
        <p:nvGraphicFramePr>
          <p:cNvPr id="4" name="표 6">
            <a:extLst>
              <a:ext uri="{FF2B5EF4-FFF2-40B4-BE49-F238E27FC236}">
                <a16:creationId xmlns:a16="http://schemas.microsoft.com/office/drawing/2014/main" id="{0C875F86-E76B-4AF9-B9A6-F3A4F139C3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5668738"/>
              </p:ext>
            </p:extLst>
          </p:nvPr>
        </p:nvGraphicFramePr>
        <p:xfrm>
          <a:off x="1406850" y="3733453"/>
          <a:ext cx="3267788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6947">
                  <a:extLst>
                    <a:ext uri="{9D8B030D-6E8A-4147-A177-3AD203B41FA5}">
                      <a16:colId xmlns:a16="http://schemas.microsoft.com/office/drawing/2014/main" val="3935813768"/>
                    </a:ext>
                  </a:extLst>
                </a:gridCol>
                <a:gridCol w="816947">
                  <a:extLst>
                    <a:ext uri="{9D8B030D-6E8A-4147-A177-3AD203B41FA5}">
                      <a16:colId xmlns:a16="http://schemas.microsoft.com/office/drawing/2014/main" val="1025174063"/>
                    </a:ext>
                  </a:extLst>
                </a:gridCol>
                <a:gridCol w="816947">
                  <a:extLst>
                    <a:ext uri="{9D8B030D-6E8A-4147-A177-3AD203B41FA5}">
                      <a16:colId xmlns:a16="http://schemas.microsoft.com/office/drawing/2014/main" val="1135877483"/>
                    </a:ext>
                  </a:extLst>
                </a:gridCol>
                <a:gridCol w="816947">
                  <a:extLst>
                    <a:ext uri="{9D8B030D-6E8A-4147-A177-3AD203B41FA5}">
                      <a16:colId xmlns:a16="http://schemas.microsoft.com/office/drawing/2014/main" val="575719366"/>
                    </a:ext>
                  </a:extLst>
                </a:gridCol>
              </a:tblGrid>
              <a:tr h="28749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수학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과학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국어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사회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7220500"/>
                  </a:ext>
                </a:extLst>
              </a:tr>
              <a:tr h="287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76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89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7526723"/>
                  </a:ext>
                </a:extLst>
              </a:tr>
              <a:tr h="287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88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92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29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4537890"/>
                  </a:ext>
                </a:extLst>
              </a:tr>
              <a:tr h="287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90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91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92573"/>
                  </a:ext>
                </a:extLst>
              </a:tr>
              <a:tr h="287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90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91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5286854"/>
                  </a:ext>
                </a:extLst>
              </a:tr>
              <a:tr h="287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70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852469"/>
                  </a:ext>
                </a:extLst>
              </a:tr>
            </a:tbl>
          </a:graphicData>
        </a:graphic>
      </p:graphicFrame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9DAE305A-4FC6-42A3-98D1-F315BC0EEE19}"/>
              </a:ext>
            </a:extLst>
          </p:cNvPr>
          <p:cNvCxnSpPr>
            <a:cxnSpLocks/>
          </p:cNvCxnSpPr>
          <p:nvPr/>
        </p:nvCxnSpPr>
        <p:spPr>
          <a:xfrm>
            <a:off x="4961267" y="4909443"/>
            <a:ext cx="3268333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14B980F-B984-4A5D-A71D-E5DAF022FB4A}"/>
              </a:ext>
            </a:extLst>
          </p:cNvPr>
          <p:cNvSpPr txBox="1"/>
          <p:nvPr/>
        </p:nvSpPr>
        <p:spPr>
          <a:xfrm>
            <a:off x="4942819" y="4215898"/>
            <a:ext cx="32206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dirty="0"/>
              <a:t>Principal</a:t>
            </a:r>
            <a:r>
              <a:rPr lang="ko-KR" altLang="en-US" dirty="0"/>
              <a:t> </a:t>
            </a:r>
            <a:r>
              <a:rPr lang="en-US" altLang="ko-KR" dirty="0"/>
              <a:t>component</a:t>
            </a:r>
            <a:r>
              <a:rPr lang="ko-KR" altLang="en-US" dirty="0"/>
              <a:t> </a:t>
            </a:r>
            <a:r>
              <a:rPr lang="en-US" altLang="ko-KR" dirty="0"/>
              <a:t>analysis</a:t>
            </a:r>
          </a:p>
          <a:p>
            <a:pPr algn="ctr"/>
            <a:r>
              <a:rPr lang="en-US" altLang="ko-KR" dirty="0"/>
              <a:t>(dimensionality reduction)</a:t>
            </a:r>
            <a:endParaRPr lang="ko-KR" altLang="en-US" dirty="0"/>
          </a:p>
        </p:txBody>
      </p:sp>
      <p:graphicFrame>
        <p:nvGraphicFramePr>
          <p:cNvPr id="11" name="표 11">
            <a:extLst>
              <a:ext uri="{FF2B5EF4-FFF2-40B4-BE49-F238E27FC236}">
                <a16:creationId xmlns:a16="http://schemas.microsoft.com/office/drawing/2014/main" id="{C50AF250-2862-4ED1-B9DC-B57E7BB109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8404577"/>
              </p:ext>
            </p:extLst>
          </p:nvPr>
        </p:nvGraphicFramePr>
        <p:xfrm>
          <a:off x="8431690" y="3733453"/>
          <a:ext cx="191484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849">
                  <a:extLst>
                    <a:ext uri="{9D8B030D-6E8A-4147-A177-3AD203B41FA5}">
                      <a16:colId xmlns:a16="http://schemas.microsoft.com/office/drawing/2014/main" val="3358591330"/>
                    </a:ext>
                  </a:extLst>
                </a:gridCol>
              </a:tblGrid>
              <a:tr h="20973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첫 번째 성분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6363140"/>
                  </a:ext>
                </a:extLst>
              </a:tr>
              <a:tr h="20973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-56.1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6846739"/>
                  </a:ext>
                </a:extLst>
              </a:tr>
              <a:tr h="20973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-54.3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9302415"/>
                  </a:ext>
                </a:extLst>
              </a:tr>
              <a:tr h="20973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49.1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86842"/>
                  </a:ext>
                </a:extLst>
              </a:tr>
              <a:tr h="20973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56.6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0689098"/>
                  </a:ext>
                </a:extLst>
              </a:tr>
              <a:tr h="20973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4.6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10908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18236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CCA1A2-970E-4757-94C1-090CB4F5F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Type of Machine Learning</a:t>
            </a:r>
            <a:br>
              <a:rPr lang="en-US" altLang="ko-KR" dirty="0"/>
            </a:br>
            <a:r>
              <a:rPr lang="en-US" altLang="ko-KR" sz="2400" dirty="0"/>
              <a:t>unsupervised learning(</a:t>
            </a:r>
            <a:r>
              <a:rPr lang="en-US" altLang="ko-KR" sz="2400" dirty="0" err="1"/>
              <a:t>clusting</a:t>
            </a:r>
            <a:r>
              <a:rPr lang="en-US" altLang="ko-KR" sz="2400" dirty="0"/>
              <a:t>)</a:t>
            </a:r>
            <a:endParaRPr lang="ko-KR" altLang="en-US" sz="24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33C25F-A956-4CCE-9514-EFB2901253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Supervised learning is a method of learning by combining independent and dependent variables. Whereas unsupervised learning is a method in which there is no dependent variable indicating the correct answer</a:t>
            </a:r>
          </a:p>
          <a:p>
            <a:r>
              <a:rPr lang="en-US" altLang="ko-KR" dirty="0"/>
              <a:t>Clustering is the classification of input data into several groups.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601972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C23065-563E-4DE7-B64E-DA4D23238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Correlation with</a:t>
            </a:r>
            <a:br>
              <a:rPr lang="en-US" altLang="ko-KR" dirty="0"/>
            </a:br>
            <a:r>
              <a:rPr lang="en-US" altLang="ko-KR" dirty="0"/>
              <a:t>dimensionality reduction and clustering</a:t>
            </a:r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44AF710-9CE5-42C0-95CF-05B9D19D9E29}"/>
              </a:ext>
            </a:extLst>
          </p:cNvPr>
          <p:cNvSpPr/>
          <p:nvPr/>
        </p:nvSpPr>
        <p:spPr>
          <a:xfrm>
            <a:off x="2913719" y="2434068"/>
            <a:ext cx="6612836" cy="2952925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FD3C7C-7D07-4510-8198-F7257D3EE3A0}"/>
              </a:ext>
            </a:extLst>
          </p:cNvPr>
          <p:cNvSpPr txBox="1"/>
          <p:nvPr/>
        </p:nvSpPr>
        <p:spPr>
          <a:xfrm>
            <a:off x="3198944" y="2129959"/>
            <a:ext cx="14491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Unsupervised</a:t>
            </a:r>
          </a:p>
          <a:p>
            <a:r>
              <a:rPr lang="en-US" altLang="ko-KR" sz="1400" dirty="0"/>
              <a:t>Learning</a:t>
            </a:r>
            <a:endParaRPr lang="ko-KR" altLang="en-US" sz="1400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7F404AD-6E9F-47EE-AF14-0FC738C8F3F0}"/>
              </a:ext>
            </a:extLst>
          </p:cNvPr>
          <p:cNvSpPr/>
          <p:nvPr/>
        </p:nvSpPr>
        <p:spPr>
          <a:xfrm>
            <a:off x="3396962" y="2919542"/>
            <a:ext cx="2491531" cy="212241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2CAE767-36D5-42E7-8BAB-3926008535BB}"/>
              </a:ext>
            </a:extLst>
          </p:cNvPr>
          <p:cNvSpPr/>
          <p:nvPr/>
        </p:nvSpPr>
        <p:spPr>
          <a:xfrm>
            <a:off x="3679132" y="3303427"/>
            <a:ext cx="1936459" cy="144130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Principal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Component</a:t>
            </a:r>
          </a:p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Analysis </a:t>
            </a:r>
            <a:r>
              <a:rPr lang="en-US" altLang="ko-KR" sz="1200" dirty="0" err="1">
                <a:solidFill>
                  <a:schemeClr val="tx1"/>
                </a:solidFill>
              </a:rPr>
              <a:t>etc</a:t>
            </a:r>
            <a:r>
              <a:rPr lang="en-US" altLang="ko-KR" sz="12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3A9938-8C50-4CB6-88EA-68904BCC886A}"/>
              </a:ext>
            </a:extLst>
          </p:cNvPr>
          <p:cNvSpPr txBox="1"/>
          <p:nvPr/>
        </p:nvSpPr>
        <p:spPr>
          <a:xfrm>
            <a:off x="3679132" y="2653179"/>
            <a:ext cx="13853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Dimensionality</a:t>
            </a:r>
          </a:p>
          <a:p>
            <a:r>
              <a:rPr lang="en-US" altLang="ko-KR" sz="1400" dirty="0"/>
              <a:t>reduction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BD5A238-58E7-4051-8AC1-1D1BA0F42EA4}"/>
              </a:ext>
            </a:extLst>
          </p:cNvPr>
          <p:cNvSpPr/>
          <p:nvPr/>
        </p:nvSpPr>
        <p:spPr>
          <a:xfrm>
            <a:off x="6576410" y="2919542"/>
            <a:ext cx="2491531" cy="212241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ECA0B20-A6EF-4CB6-A07A-B3DCA0CFF436}"/>
              </a:ext>
            </a:extLst>
          </p:cNvPr>
          <p:cNvSpPr/>
          <p:nvPr/>
        </p:nvSpPr>
        <p:spPr>
          <a:xfrm>
            <a:off x="6858580" y="3303427"/>
            <a:ext cx="1936459" cy="144130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K-means algorithm </a:t>
            </a:r>
            <a:r>
              <a:rPr lang="en-US" altLang="ko-KR" sz="1200" dirty="0" err="1">
                <a:solidFill>
                  <a:schemeClr val="tx1"/>
                </a:solidFill>
              </a:rPr>
              <a:t>etc</a:t>
            </a:r>
            <a:r>
              <a:rPr lang="en-US" altLang="ko-KR" sz="1200" dirty="0">
                <a:solidFill>
                  <a:schemeClr val="tx1"/>
                </a:solidFill>
              </a:rPr>
              <a:t>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4D0AD4D-E69A-436D-9B06-C938CE69DA0A}"/>
              </a:ext>
            </a:extLst>
          </p:cNvPr>
          <p:cNvSpPr txBox="1"/>
          <p:nvPr/>
        </p:nvSpPr>
        <p:spPr>
          <a:xfrm>
            <a:off x="6807964" y="2752913"/>
            <a:ext cx="9750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clustering</a:t>
            </a:r>
          </a:p>
        </p:txBody>
      </p:sp>
    </p:spTree>
    <p:extLst>
      <p:ext uri="{BB962C8B-B14F-4D97-AF65-F5344CB8AC3E}">
        <p14:creationId xmlns:p14="http://schemas.microsoft.com/office/powerpoint/2010/main" val="35414570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C23065-563E-4DE7-B64E-DA4D23238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Supervised Learning Algorithms and</a:t>
            </a:r>
            <a:br>
              <a:rPr lang="en-US" altLang="ko-KR" dirty="0"/>
            </a:br>
            <a:r>
              <a:rPr lang="en-US" altLang="ko-KR" dirty="0"/>
              <a:t>Classification and Regression Problems</a:t>
            </a:r>
            <a:endParaRPr lang="ko-KR" altLang="en-US" dirty="0"/>
          </a:p>
        </p:txBody>
      </p:sp>
      <p:graphicFrame>
        <p:nvGraphicFramePr>
          <p:cNvPr id="3" name="표 8">
            <a:extLst>
              <a:ext uri="{FF2B5EF4-FFF2-40B4-BE49-F238E27FC236}">
                <a16:creationId xmlns:a16="http://schemas.microsoft.com/office/drawing/2014/main" id="{950B744E-F322-4B5B-A42A-B0EB2648D5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0572671"/>
              </p:ext>
            </p:extLst>
          </p:nvPr>
        </p:nvGraphicFramePr>
        <p:xfrm>
          <a:off x="838200" y="2259217"/>
          <a:ext cx="10515599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3237">
                  <a:extLst>
                    <a:ext uri="{9D8B030D-6E8A-4147-A177-3AD203B41FA5}">
                      <a16:colId xmlns:a16="http://schemas.microsoft.com/office/drawing/2014/main" val="2933820052"/>
                    </a:ext>
                  </a:extLst>
                </a:gridCol>
                <a:gridCol w="5701004">
                  <a:extLst>
                    <a:ext uri="{9D8B030D-6E8A-4147-A177-3AD203B41FA5}">
                      <a16:colId xmlns:a16="http://schemas.microsoft.com/office/drawing/2014/main" val="1516757694"/>
                    </a:ext>
                  </a:extLst>
                </a:gridCol>
                <a:gridCol w="1894114">
                  <a:extLst>
                    <a:ext uri="{9D8B030D-6E8A-4147-A177-3AD203B41FA5}">
                      <a16:colId xmlns:a16="http://schemas.microsoft.com/office/drawing/2014/main" val="210477781"/>
                    </a:ext>
                  </a:extLst>
                </a:gridCol>
                <a:gridCol w="1827244">
                  <a:extLst>
                    <a:ext uri="{9D8B030D-6E8A-4147-A177-3AD203B41FA5}">
                      <a16:colId xmlns:a16="http://schemas.microsoft.com/office/drawing/2014/main" val="991450068"/>
                    </a:ext>
                  </a:extLst>
                </a:gridCol>
              </a:tblGrid>
              <a:tr h="1325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Number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Algorithm name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Dimensionality reduction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clustering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8983730"/>
                  </a:ext>
                </a:extLst>
              </a:tr>
              <a:tr h="1325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Principal component analysis, PCA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5281607"/>
                  </a:ext>
                </a:extLst>
              </a:tr>
              <a:tr h="1325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Latent semantic analysis, LSA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7027956"/>
                  </a:ext>
                </a:extLst>
              </a:tr>
              <a:tr h="1325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Non-negative matrix factorization, NMF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245192"/>
                  </a:ext>
                </a:extLst>
              </a:tr>
              <a:tr h="1325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Latent Dirichlet allocation, LDA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0421086"/>
                  </a:ext>
                </a:extLst>
              </a:tr>
              <a:tr h="1325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k-means algorithm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9612845"/>
                  </a:ext>
                </a:extLst>
              </a:tr>
              <a:tr h="1325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Gaussian mixture model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0971506"/>
                  </a:ext>
                </a:extLst>
              </a:tr>
              <a:tr h="1325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16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Local linear embedding, LLE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6896220"/>
                  </a:ext>
                </a:extLst>
              </a:tr>
              <a:tr h="26511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17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T-distributed stochastic neighbor embedding, t-SNE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053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7084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5B5728-BE70-4628-8FF4-38BB3C2DA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Use of machine learning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48597E7-9A1E-4F30-AFA2-A3D736418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Machine learning is used in various fields.</a:t>
            </a:r>
          </a:p>
          <a:p>
            <a:r>
              <a:rPr lang="en-US" altLang="ko-KR" dirty="0"/>
              <a:t>There are fields that have achieved results, such as automatic classification of documents and automatic translation</a:t>
            </a:r>
          </a:p>
          <a:p>
            <a:r>
              <a:rPr lang="en-US" altLang="ko-KR" dirty="0"/>
              <a:t>Since ancient times, the main concept of machine learning has been used to predict weather information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275330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267</TotalTime>
  <Words>601</Words>
  <Application>Microsoft Office PowerPoint</Application>
  <PresentationFormat>와이드스크린</PresentationFormat>
  <Paragraphs>219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4" baseType="lpstr">
      <vt:lpstr>맑은 고딕</vt:lpstr>
      <vt:lpstr>Arial</vt:lpstr>
      <vt:lpstr>Office 테마</vt:lpstr>
      <vt:lpstr>Introducing Machine Learning</vt:lpstr>
      <vt:lpstr>Machine Learning</vt:lpstr>
      <vt:lpstr>Type of Machine Learning supervised learning(Classification problem)</vt:lpstr>
      <vt:lpstr>Type of Machine Learning supervised learning(Regression problem)</vt:lpstr>
      <vt:lpstr>Correlation with classification and regression</vt:lpstr>
      <vt:lpstr>Supervised Learning Algorithms and Classification and Regression Problems</vt:lpstr>
      <vt:lpstr>Type of Machine Learning unsupervised learning(principal component analysis)</vt:lpstr>
      <vt:lpstr>Type of Machine Learning unsupervised learning(clusting)</vt:lpstr>
      <vt:lpstr>Correlation with dimensionality reduction and clustering</vt:lpstr>
      <vt:lpstr>Supervised Learning Algorithms and Classification and Regression Problems</vt:lpstr>
      <vt:lpstr>Use of machine learning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신 주영</dc:creator>
  <cp:lastModifiedBy>신 주영</cp:lastModifiedBy>
  <cp:revision>31</cp:revision>
  <dcterms:created xsi:type="dcterms:W3CDTF">2022-03-28T02:38:19Z</dcterms:created>
  <dcterms:modified xsi:type="dcterms:W3CDTF">2022-03-28T07:05:29Z</dcterms:modified>
</cp:coreProperties>
</file>