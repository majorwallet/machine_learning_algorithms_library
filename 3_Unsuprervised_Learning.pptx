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7" r:id="rId10"/>
    <p:sldId id="268" r:id="rId11"/>
    <p:sldId id="269" r:id="rId12"/>
    <p:sldId id="262" r:id="rId13"/>
    <p:sldId id="263" r:id="rId14"/>
    <p:sldId id="264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1AB65-6792-41E1-9789-643B2E5136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49BF3E-2366-472D-92AD-F5AA4752E9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B21D59-5CBF-4488-B3D4-60973D0BE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46E000-80E2-4133-805B-930BF48AC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1125EE-8D81-4126-ACEF-675F55659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279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4CE308-693B-405A-95CB-73C6E466D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4B6D83-9837-4DD8-AFED-621E378D7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6837C7-8D44-4D01-95D2-ED06B72E7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5CA4DA-EF59-48E2-9786-0DB75F769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8D3DA7-3463-4D5F-8140-809B77B2E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088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2BE78-6123-4A2B-A8A9-31AE176F5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8CA48E-283D-47AE-8437-6CAE8FD4A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5503B8-26FF-4043-95DD-A47B6F729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7A3569-CEEC-4EA6-A9BC-A9EFCD6FB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75E763-17A6-4E0A-8410-743B450EC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10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742C0-9A2C-4650-B9EE-C02E613C5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8BE246-DB04-4EE7-AC18-82E2FB0D2E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F0D74D-544E-4D71-A7A4-52755A65BA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5A9B01-5C6E-467A-9959-F0B053D0C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1ABF99-C2E5-4F1D-BC50-75A5F59D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8E90D9F-EB39-4FCD-AE81-68922593F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73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5B78E6-95FB-47D9-81F3-4A5AA0227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3416E97-C506-451F-8EC0-BE97759F5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438371-7007-476A-80C0-9A23D5142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711EAC3-D7D4-41AE-9FCE-DDE2EC6075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D80AE25-C69E-4A99-9F2C-CB5A39C254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4B8C8C-96A9-49DD-814B-82B635E9C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E719274-7373-436C-8757-30FEBF2E7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B159A43-6EB7-4023-B3D3-BE6034E0E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134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E56B7C-87A1-4170-86A4-A5238D1A1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BE976F6-92E1-45EC-B997-41D0ED6B3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40E0AB-3834-49F7-9818-4943624BA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19F765-D59A-4A0C-9DB1-0A427DDB3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4274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82E648-C8F0-45B2-B885-81B55E978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B1EB1E1-8467-4EDE-8422-9E966C13F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647EB-2FC7-4C4E-A057-9CF7F59C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714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4172B3-7FAA-4C21-B4EC-9406BABBF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A326F2-F2E9-46B4-802E-E640720CF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1E72BB0-F50D-47CE-828B-9926DB9A1A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1F7E82-C9BC-405A-9CAE-8B1072803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D7A6EE-1B63-4F9F-8CD2-8D8A835A2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FE6F88-8963-4828-AC5F-FB889F4EC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747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76F7C-5D66-4DC8-BF23-EAAE7B3A1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92447C0-1D27-4C65-97EA-0859EF24A0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54B8E1-0DB5-4AA4-A152-19A993987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3AD42D-1091-4552-A666-53B36B1C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64F835-8661-4A83-B994-EC1FEE40F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0DDA630-21BA-4C85-A4FC-0F84EAF2F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562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CB851D-C9EB-4C9C-B74D-EDF1F13C2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BC24B7-041F-4C62-8B82-7679C90C1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20B6CB-D5CE-46E8-9641-89ED160A6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E725EE-64B3-4198-A0D2-21E4038F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FC8B68-3A39-4327-8456-406988CB8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279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799731-8557-4520-AB22-B606F8FC31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550ABD1-D06E-445D-A44A-BFB41EDC1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9554CA-7AFC-49D5-A727-8FBF691E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A522B6-E5A3-4D93-82DD-79470C463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17D114-37E6-4BC9-A382-9F47B1A0F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0230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410BC7-9452-4E1A-9212-694610014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E80163-39E6-45AE-A5CE-348DA346F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69646-3F63-44D1-9ABA-D0E7E0F857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EE5A6-929A-46EC-9C82-4B532476069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BE3859-0EC7-4440-88DF-016159A4D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348339-853E-4DF5-AE1D-09263CE59D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035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F96097-D496-4454-ACF3-7154A69B99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125AB1-60A5-4784-8CAC-3080066734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PCA (Principal Component Analysis)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EAEF362-CC94-48B5-A75E-6703C6C92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5F1B56-9D61-480C-AD5D-02B8A9D7AB8F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1390036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8A7DF99F-BAA2-4E8C-B089-F97B1F0BD1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9892" y="1772765"/>
            <a:ext cx="5432216" cy="4351338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638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Using PCA, correlated multivariate data can be concisely represented as the main component.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PCA is a method used to reduce variables in data.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 representative dimension reduction method that can be applied to data that is correlated between variables.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Dimension reduction means 'It is expressed as several variables while maintaining the characteristics of data with many variables.'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helps reduce complexity when analyzing multivariate data.</a:t>
            </a:r>
          </a:p>
        </p:txBody>
      </p:sp>
    </p:spTree>
    <p:extLst>
      <p:ext uri="{BB962C8B-B14F-4D97-AF65-F5344CB8AC3E}">
        <p14:creationId xmlns:p14="http://schemas.microsoft.com/office/powerpoint/2010/main" val="301880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Two ways to reduce variables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Choose only important variables and do not use the remaining variables.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constructing a new variable from the original data variable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PCA reduces variables by constructing a new variable from the original data variable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data represented in a high-dimensional space is represented by a lower-dimensional variable.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We call lower-dimensional axis as a principal component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24600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Find the direction and importance necessary for data principal component analysis.</a:t>
            </a:r>
          </a:p>
          <a:p>
            <a:pPr lvl="1"/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line is the direction of the data.</a:t>
            </a:r>
          </a:p>
          <a:p>
            <a:pPr lvl="1"/>
            <a:r>
              <a:rPr lang="en-US" altLang="ko-KR" b="0" i="0" dirty="0">
                <a:solidFill>
                  <a:srgbClr val="000000"/>
                </a:solidFill>
                <a:effectLst/>
              </a:rPr>
              <a:t>Length represents importance.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data is determined by how much weight is assigned to the data variable when configuring a new variable.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importance of data is related to changes in variables.</a:t>
            </a: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orthogonal line is used as a new axis and converted into original data.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changed data at this time is called the principal component score.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called the first principal component and the second principal component from the value of the axis with the greatest importance among the principal components.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84379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principal component analysis calculates the principal component in the following order.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variance covariance matrix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dirty="0">
                <a:solidFill>
                  <a:srgbClr val="000000"/>
                </a:solidFill>
              </a:rPr>
              <a:t>Solve eigenvalue problems and calculate eigenvalue of eigenvectors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dirty="0">
                <a:solidFill>
                  <a:srgbClr val="000000"/>
                </a:solidFill>
              </a:rPr>
              <a:t>Construct data in each principal component direction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30762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is a value representing the relationship between data points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mean was calculated after multiplying the difference between the mean and the data point of each of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  <a:endParaRPr lang="en-US" altLang="ko-KR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𝐶𝑜𝑣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solidFill>
                    <a:srgbClr val="000000"/>
                  </a:solidFill>
                </a:endParaRP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In this case, 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  <a:latin typeface="noto"/>
                  </a:rPr>
                  <a:t> </a:t>
                </a: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represents the average of each of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increases, so does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.</a:t>
                </a: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increases,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 decreases.</a:t>
                </a:r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 has no correlation.</a:t>
                </a:r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3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89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D09461FF-D4DA-4EC1-9775-795C71BD50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9581" y="2114025"/>
            <a:ext cx="8332838" cy="3271707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4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Correlation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9A145EEF-778A-4D7E-8BC0-10B9D82A9B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An index that does not depend on the size of the variance represents a correlation coefficient.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of the two data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divided by the standard deviations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dirty="0"/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correlation coefficient represents the relationship between data like covariance, but since it is divided by each standard deviation, a value between -1 and 1 is obtained.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9A145EEF-778A-4D7E-8BC0-10B9D82A9B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2908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 Matrix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matrix is made into a matrix by calculating the covariance of each of the two or more data.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</m:nary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ko-KR" dirty="0"/>
                  <a:t>represents the covariance of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7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Correlation Matrix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correlation matrix is made into a matrix by calculating the correlation of each of the two or more data.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</m:nary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/>
                  <a:t>represents the correlation of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49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F8CCD-B0A2-494C-BF20-BAAE2C5E6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DCCD220B-CFF2-4C47-82E4-1DD24400E54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680" y="1466695"/>
            <a:ext cx="7230979" cy="4067424"/>
          </a:xfr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F2044BE-0660-47AD-85CE-F20D93751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6C5E38E-C2C2-4B93-9A96-077C543139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341" y="2200019"/>
            <a:ext cx="5181600" cy="2914649"/>
          </a:xfrm>
        </p:spPr>
      </p:pic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3D9575A8-7D68-4EEC-BE04-FEF146CA187C}"/>
              </a:ext>
            </a:extLst>
          </p:cNvPr>
          <p:cNvSpPr/>
          <p:nvPr/>
        </p:nvSpPr>
        <p:spPr>
          <a:xfrm>
            <a:off x="6019800" y="3934437"/>
            <a:ext cx="968229" cy="453005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853261-FA43-484B-96D9-AA96D7A7B6E3}"/>
              </a:ext>
            </a:extLst>
          </p:cNvPr>
          <p:cNvSpPr/>
          <p:nvPr/>
        </p:nvSpPr>
        <p:spPr>
          <a:xfrm>
            <a:off x="5486400" y="4748169"/>
            <a:ext cx="609600" cy="5536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15B517A-5AE5-47C2-B23C-C08AF44A6953}"/>
              </a:ext>
            </a:extLst>
          </p:cNvPr>
          <p:cNvSpPr/>
          <p:nvPr/>
        </p:nvSpPr>
        <p:spPr>
          <a:xfrm>
            <a:off x="11070672" y="5114468"/>
            <a:ext cx="609600" cy="5536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018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data is related to the eigenvector.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importance of data is related to eigenvalues.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If the eigenvalue calculated for each principal component is divided by the total sum of several eigenvalues, the importance of the principal component can be expressed as a ratio, which is called the contribution rate.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value obtained by adding the contribution rate sequentially from the first main component is called the cumulative contribution rate.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4945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8592-EF30-4991-864F-5C322588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6DB3EE-75F3-4123-B1C8-20E2F1B4A6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Get iris dataset</a:t>
            </a:r>
          </a:p>
          <a:p>
            <a:r>
              <a:rPr lang="en-US" altLang="ko-KR" dirty="0"/>
              <a:t>Make PCA model</a:t>
            </a:r>
          </a:p>
          <a:p>
            <a:r>
              <a:rPr lang="en-US" altLang="ko-KR" dirty="0"/>
              <a:t>Train data into model</a:t>
            </a:r>
          </a:p>
          <a:p>
            <a:r>
              <a:rPr lang="en-US" altLang="ko-KR" dirty="0"/>
              <a:t>Print transformed data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C4B9EAC-38C8-45D7-AF4F-8441F24762F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50545"/>
            <a:ext cx="5181600" cy="430149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959D615-DBE2-47BB-9FDC-C0C2A539D2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273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37993E-4B47-420F-8C02-45912244A2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5F2B656-D547-44ED-85A3-2BF46AE269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Latent Semantic Analysis, LSA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74D955A-B598-4DD3-B041-C5EDC95F1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EE9905E-96DC-4804-8AE7-3589B8984D56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2213238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FED25-DB1E-4284-B816-C997CBCB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0E3849-519D-4C45-B977-CB0E7B75C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used in the field of data information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retreival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By using LSA, we can see the latent relevance of words from a large amount of document data.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5EAF53B-299C-42F2-A991-D7AFB1D670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240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19FA6-8141-4B9F-B7DF-25E7FE219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6F155D-3273-49FE-923E-2B00E058B5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Convert the sentence below to matrix X</a:t>
            </a:r>
          </a:p>
          <a:p>
            <a:pPr lvl="1"/>
            <a:r>
              <a:rPr lang="ko-KR" altLang="en-US" dirty="0"/>
              <a:t>자동차로 회사에 출근했다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차로 출근했다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레스토랑에서 햄버거를 먹는다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레스토랑에서 파스타를 먹는다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B9A14D29-E231-4D7F-B4B1-05CC3755C3FB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5"/>
          <a:ext cx="518159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916">
                  <a:extLst>
                    <a:ext uri="{9D8B030D-6E8A-4147-A177-3AD203B41FA5}">
                      <a16:colId xmlns:a16="http://schemas.microsoft.com/office/drawing/2014/main" val="3755711724"/>
                    </a:ext>
                  </a:extLst>
                </a:gridCol>
                <a:gridCol w="961722">
                  <a:extLst>
                    <a:ext uri="{9D8B030D-6E8A-4147-A177-3AD203B41FA5}">
                      <a16:colId xmlns:a16="http://schemas.microsoft.com/office/drawing/2014/main" val="3432100404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453006408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56720851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8110128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7139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자동차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4238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171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출근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7625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435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레스토랑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891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햄버거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835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먹다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01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파스타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349639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BFBE2CB1-26DB-462E-A83F-6F5D697492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66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Decompose the matrix X.</a:t>
            </a:r>
          </a:p>
          <a:p>
            <a:pPr marL="742950" lvl="1" indent="-28575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matrix X, which is an 8X4 matrix, is represented by the product of the 8X4 matrix U, the 4X4 matrix D, and the 4X4 matrix V^T.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U: Matrix with transformation information of characteristics made of words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D: Matrix with information importance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V: Matrix with word features and document conversion information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1AE939-79E4-4F33-8863-3DD234675950}"/>
                  </a:ext>
                </a:extLst>
              </p:cNvPr>
              <p:cNvSpPr txBox="1"/>
              <p:nvPr/>
            </p:nvSpPr>
            <p:spPr>
              <a:xfrm>
                <a:off x="838200" y="4543432"/>
                <a:ext cx="10613868" cy="1008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𝑈𝐷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−0.32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.24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1.90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1.18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1.00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</m:m>
                  </m:oMath>
                </a14:m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1AE939-79E4-4F33-8863-3DD234675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43432"/>
                <a:ext cx="10613868" cy="1008802"/>
              </a:xfrm>
              <a:prstGeom prst="rect">
                <a:avLst/>
              </a:prstGeom>
              <a:blipFill>
                <a:blip r:embed="rId3"/>
                <a:stretch>
                  <a:fillRect l="-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90590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matrix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 is a diagonal matrix.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Diagonal elements list values in order of greater importance of information.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Therefore, if we reduce the dimension to three matrices, we should look at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 carefully.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Since the original data has four features, let's say that the dimension is reduced to two features.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6644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812503F-28A9-49CC-8B99-034FD4634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l">
                  <a:buFont typeface="+mj-lt"/>
                  <a:buAutoNum type="arabicPeriod"/>
                </a:pPr>
                <a:r>
                  <a:rPr lang="en-US" altLang="ko-KR" sz="2400" b="0" i="0" dirty="0">
                    <a:solidFill>
                      <a:srgbClr val="000000"/>
                    </a:solidFill>
                    <a:effectLst/>
                  </a:rPr>
                  <a:t>From the diagonal element values of a matrix D with four features, choose two elements of greater importance to form a 2X2 diagonal matrix.</a:t>
                </a:r>
              </a:p>
              <a:p>
                <a:pPr algn="l">
                  <a:buFont typeface="+mj-lt"/>
                  <a:buAutoNum type="arabicPeriod"/>
                </a:pPr>
                <a:r>
                  <a:rPr lang="en-US" altLang="ko-KR" sz="2400" b="0" i="0" dirty="0">
                    <a:solidFill>
                      <a:srgbClr val="000000"/>
                    </a:solidFill>
                    <a:effectLst/>
                  </a:rPr>
                  <a:t>The other two matrices are also changed to correspond to the elements selected in D.</a:t>
                </a:r>
              </a:p>
              <a:p>
                <a:pPr algn="l">
                  <a:buFont typeface="+mj-lt"/>
                  <a:buAutoNum type="arabicPeriod"/>
                </a:pPr>
                <a:r>
                  <a:rPr lang="en-US" altLang="ko-KR" sz="2400" b="0" i="0" dirty="0">
                    <a:solidFill>
                      <a:srgbClr val="000000"/>
                    </a:solidFill>
                    <a:effectLst/>
                  </a:rPr>
                  <a:t>The matrix U deletes the entire elements of the third and fourth columns and replaces them with an 8X2 matrix.</a:t>
                </a:r>
              </a:p>
              <a:p>
                <a:pPr algn="l">
                  <a:buFont typeface="+mj-lt"/>
                  <a:buAutoNum type="arabicPeriod"/>
                </a:pPr>
                <a:r>
                  <a:rPr lang="en-US" altLang="ko-KR" sz="2400" b="0" i="0" dirty="0">
                    <a:solidFill>
                      <a:srgbClr val="000000"/>
                    </a:solidFill>
                    <a:effectLst/>
                  </a:rPr>
                  <a:t>The matrix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4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24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altLang="ko-KR" sz="2400" b="0" i="0" dirty="0">
                    <a:solidFill>
                      <a:srgbClr val="000000"/>
                    </a:solidFill>
                    <a:effectLst/>
                  </a:rPr>
                  <a:t> deletes all elements of the third and fourth rows to form a 2X4 matrix.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812503F-28A9-49CC-8B99-034FD4634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801" r="-16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40AC65-FADE-4B1D-85CC-CA8D013D1FC0}"/>
                  </a:ext>
                </a:extLst>
              </p:cNvPr>
              <p:cNvSpPr txBox="1"/>
              <p:nvPr/>
            </p:nvSpPr>
            <p:spPr>
              <a:xfrm>
                <a:off x="1083621" y="5303098"/>
                <a:ext cx="7688387" cy="1008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−0.32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.24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1.90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</m:m>
                  </m:oMath>
                </a14:m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40AC65-FADE-4B1D-85CC-CA8D013D1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621" y="5303098"/>
                <a:ext cx="7688387" cy="1008802"/>
              </a:xfrm>
              <a:prstGeom prst="rect">
                <a:avLst/>
              </a:prstGeom>
              <a:blipFill>
                <a:blip r:embed="rId4"/>
                <a:stretch>
                  <a:fillRect l="-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1794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AA183-4139-4FCF-B75D-0120E1AA4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173320-4440-47FF-9441-A2253E896E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Table of 2 features divided by latent variables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D760F876-BB9C-41F1-94BF-FFAE4A2BFAB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5"/>
          <a:ext cx="5181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52408427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1646673333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41418326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9581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자동차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0.85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564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0.85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004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출근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1.38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6797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0.53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189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레스토랑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1.41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824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햄버거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0.71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0149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먹다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1.41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794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파스타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0.71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296644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84F9E7A-99ED-4DB0-A396-428F455A8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8449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AA183-4139-4FCF-B75D-0120E1AA4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173320-4440-47FF-9441-A2253E896E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library</a:t>
            </a:r>
          </a:p>
          <a:p>
            <a:r>
              <a:rPr lang="en-US" altLang="ko-KR" dirty="0"/>
              <a:t>Set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Set dimension to reduce</a:t>
            </a:r>
          </a:p>
          <a:p>
            <a:r>
              <a:rPr lang="en-US" altLang="ko-KR" dirty="0">
                <a:solidFill>
                  <a:srgbClr val="000000"/>
                </a:solidFill>
              </a:rPr>
              <a:t>Print transformed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Print Contribution Rate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4F9E7A-99ED-4DB0-A396-428F455A8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BEC9262-1246-4543-B150-7A7C951612B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120" y="1825625"/>
            <a:ext cx="4257760" cy="4351338"/>
          </a:xfrm>
        </p:spPr>
      </p:pic>
    </p:spTree>
    <p:extLst>
      <p:ext uri="{BB962C8B-B14F-4D97-AF65-F5344CB8AC3E}">
        <p14:creationId xmlns:p14="http://schemas.microsoft.com/office/powerpoint/2010/main" val="3196942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Points to note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difficult to properly explain the relevance of words with the converted matrix. If each dimension is ortho</a:t>
            </a:r>
            <a:r>
              <a:rPr lang="en-US" altLang="ko-KR" dirty="0">
                <a:solidFill>
                  <a:srgbClr val="000000"/>
                </a:solidFill>
              </a:rPr>
              <a:t>gonal or the matrix element is negative, it is difficult to properly explain the relevance.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calculation can take a very </a:t>
            </a:r>
            <a:r>
              <a:rPr lang="en-US" altLang="ko-KR" b="0" i="0">
                <a:solidFill>
                  <a:srgbClr val="000000"/>
                </a:solidFill>
                <a:effectLst/>
              </a:rPr>
              <a:t>lo</a:t>
            </a:r>
            <a:r>
              <a:rPr lang="en-US" altLang="ko-KR">
                <a:solidFill>
                  <a:srgbClr val="000000"/>
                </a:solidFill>
              </a:rPr>
              <a:t>ng time.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0778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254EE8-CC75-42D2-8667-D0A54ED642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E6F261-3FA9-4310-A3C5-5807A8763E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Non-negative Matrix Factorization, NMF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F3AD093-8766-42CD-B0BD-35340562F0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768E707-4330-48C9-B884-8C602D08BC4E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2451055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NMF is a dimensionality reduction method in which features and labels are both positive.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Easy to model when dealing with image data,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etc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an algorithm that is applied only when all the components of the original matrix are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original matrix element must be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After matrix decomposition, the matrix element is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 NMF, there is no restriction that each dimension is orthogonal.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765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PCA always uses orthogonal eigenvectors, making it difficult to find associations between data, but NMF can grasp the nature of the data.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6164B93-C791-4068-9DCF-68F34C1B92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47" y="3189849"/>
            <a:ext cx="10022305" cy="279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NMF do dimensionality reduction by decompose original data to 2 matrix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6ECC6A3-6E59-44AC-A490-2004E311F7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166" y="3153545"/>
            <a:ext cx="9004763" cy="2540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0587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Calculation Process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Initialize W, H as a positive value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Treat H as a constant and renew W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Treat W as a constant and renew H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End calculation when W, H converges to the original matrix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634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E6744-FE38-402B-88E6-67DB91E6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C9F0E8-7A14-420B-A61E-1ECD06CC24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 err="1"/>
              <a:t>Imort</a:t>
            </a:r>
            <a:r>
              <a:rPr lang="en-US" altLang="ko-KR" dirty="0"/>
              <a:t> libraries</a:t>
            </a:r>
          </a:p>
          <a:p>
            <a:r>
              <a:rPr lang="en-US" altLang="ko-KR" dirty="0"/>
              <a:t>Set data</a:t>
            </a:r>
          </a:p>
          <a:p>
            <a:r>
              <a:rPr lang="en-US" altLang="ko-KR" dirty="0"/>
              <a:t>Set dimension to reduce</a:t>
            </a:r>
          </a:p>
          <a:p>
            <a:r>
              <a:rPr lang="en-US" altLang="ko-KR" dirty="0"/>
              <a:t>Make model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W matrix and H matrix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9ED2FAC8-DBC4-41B8-8055-66F1A9FBDA3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07" y="1825625"/>
            <a:ext cx="4663386" cy="435133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0C0AFF4-D668-4F9E-965E-DC79BA51A7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6898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A58025-647C-47D7-A8CA-865111C373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681C490-1BC5-4C61-B3A0-843845EADE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Latent Dirichlet Allocation, LDA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9B4AA6-7872-4FDA-9FFD-A0AAF4654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CA0455-BE2C-4620-9741-8996B28583C3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18525253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F79E4-85D0-4CC3-B80C-F1336499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1E9F59-1E95-44A1-805E-84C0D16A5C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One of the dimensional reduction methods suitable for modeling documents.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Various topics can be covered by using words in the document as input data.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used in NLP,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etc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Create latent topics with the words in the document to indicate what each document is composed of.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You can explain that there are multiple topics in a document.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921922E-B3CC-4BFF-8FFB-688BE5E1B4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1728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AB58DD-9F24-4076-A4F2-12280CC4B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1AC127-8501-45D0-861A-EA8D82201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Assign a topic randomly to each word in a document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Calculate the probability of each topic in a document from the topic you assign to the word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Calculate the probability of words by topic from the topic you assign to the word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Reassign the topic to each word in the document with the probability of multiplying by 2 and 3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Repeat courses 2 through 4 until converging conditions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38FF5CB-D1E9-4532-8D78-90A492F7EC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5787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20D15F-AE16-4388-8E34-5A3885E9B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932DB0-D62F-4CA3-906A-1E21669238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dataset</a:t>
            </a:r>
          </a:p>
          <a:p>
            <a:r>
              <a:rPr lang="en-US" altLang="ko-KR" dirty="0"/>
              <a:t>Set max feature</a:t>
            </a:r>
          </a:p>
          <a:p>
            <a:r>
              <a:rPr lang="en-US" altLang="ko-KR" dirty="0"/>
              <a:t>Set stop words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results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7833D591-C906-4440-865D-2E50F80BE29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16368"/>
            <a:ext cx="5181600" cy="336985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FCD326E-F2B0-4319-A131-1B4D6D77CE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620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95DA5-A644-45D4-ADA6-E65EB2CC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Disposal of stop word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18046F-55FA-40CD-AE27-344932E946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Topic 4</a:t>
            </a:r>
            <a:br>
              <a:rPr lang="en-US" altLang="ko-KR" b="0" i="0" dirty="0">
                <a:solidFill>
                  <a:srgbClr val="000000"/>
                </a:solidFill>
                <a:effectLst/>
              </a:rPr>
            </a:br>
            <a:r>
              <a:rPr lang="en-US" altLang="ko-KR" b="0" i="0" dirty="0">
                <a:solidFill>
                  <a:srgbClr val="000000"/>
                </a:solidFill>
                <a:effectLst/>
              </a:rPr>
              <a:t>:00 10 25 15 12 11 16 20 14 13 18 30 50 17 55 40 21 ...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Topic 6</a:t>
            </a:r>
            <a:br>
              <a:rPr lang="en-US" altLang="ko-KR" b="0" i="0" dirty="0">
                <a:solidFill>
                  <a:srgbClr val="000000"/>
                </a:solidFill>
                <a:effectLst/>
              </a:rPr>
            </a:br>
            <a:r>
              <a:rPr lang="en-US" altLang="ko-KR" b="0" i="0" dirty="0">
                <a:solidFill>
                  <a:srgbClr val="000000"/>
                </a:solidFill>
                <a:effectLst/>
              </a:rPr>
              <a:t>:people said know did don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didn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just time went like say think told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000000"/>
                </a:solidFill>
                <a:effectLst/>
              </a:rPr>
              <a:t>As described above, the distribution of topics that are difficult to intuitively explain the topic can be improved by learning to exclude stop word.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F1AA622-A187-465F-8F10-D64AF6C83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952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C5D614-9794-4866-8A3E-B32B27A9E5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86A905D-3B79-44D1-BC18-D190AA2A20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K-Means Algorithm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45B35E9-49A0-43D0-AEDC-024F338136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DB894A-C009-43C4-8CAF-09711DEF8B6C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2204010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 method of dividing data of similar characteristics into groups is called clustering.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group to which the data points belong is determined as the group whose distance between the data points and the center of each group is closest.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Determining the center of this group is an important operation of the K-means algorithm.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6364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FC1069-0AC9-4A0E-8B7B-DA42548C1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4BD4B49-D049-4E8A-8A2B-AF775A876C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94" y="1825625"/>
            <a:ext cx="10443211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CD5A4F0-0CDF-45B8-9B03-31A8392E9B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9307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K-means algorithm learning process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Choose and center the appropriate number of data pointers by the number of groups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Calculates the distance between a data point and each center to determine the nearest center as the group to which that data point belongs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Average data points for each group and set them as new centers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Repeat steps 2-3 until convergence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298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FC1069-0AC9-4A0E-8B7B-DA42548C1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D5A4F0-0CDF-45B8-9B03-31A8392E9B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D57A3363-7634-4D68-A814-3A41CA6BD1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9835" y="1690688"/>
            <a:ext cx="8832329" cy="4433415"/>
          </a:xfrm>
        </p:spPr>
      </p:pic>
    </p:spTree>
    <p:extLst>
      <p:ext uri="{BB962C8B-B14F-4D97-AF65-F5344CB8AC3E}">
        <p14:creationId xmlns:p14="http://schemas.microsoft.com/office/powerpoint/2010/main" val="3262002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3354A9-E25D-4171-A135-36DC73069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BBA53F-C12B-475D-AD6E-983850A690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Load iris dataset</a:t>
            </a:r>
          </a:p>
          <a:p>
            <a:r>
              <a:rPr lang="en-US" altLang="ko-KR" dirty="0"/>
              <a:t>Make K-Means model</a:t>
            </a:r>
          </a:p>
          <a:p>
            <a:r>
              <a:rPr lang="en-US" altLang="ko-KR" dirty="0"/>
              <a:t>Set </a:t>
            </a:r>
            <a:r>
              <a:rPr lang="en-US" altLang="ko-KR" dirty="0" err="1"/>
              <a:t>n_cluster</a:t>
            </a:r>
            <a:endParaRPr lang="en-US" altLang="ko-KR" dirty="0"/>
          </a:p>
          <a:p>
            <a:r>
              <a:rPr lang="en-US" altLang="ko-KR" dirty="0"/>
              <a:t>Fit data</a:t>
            </a:r>
          </a:p>
          <a:p>
            <a:r>
              <a:rPr lang="en-US" altLang="ko-KR" dirty="0"/>
              <a:t>Print labels</a:t>
            </a:r>
          </a:p>
          <a:p>
            <a:r>
              <a:rPr lang="en-US" altLang="ko-KR" dirty="0"/>
              <a:t>Print cluster’s center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ED0F5793-8987-43C0-B010-2C669D3DC4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55057"/>
            <a:ext cx="5181600" cy="4092473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7001D21-B820-4D44-8F25-9B96EA1C58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052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Within-cluster sum of squares, WCSS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good or bad of clustering is evaluated quantitatively by calculating the WCSS.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smaller the distance between the center of the group and the data point belonging to the group, the smaller the WCSS value.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17CB3D4-74BC-4463-9E46-4860B8373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6598" y="4001294"/>
            <a:ext cx="3978803" cy="1308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3633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WCSS elbow method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number of clusters can be determined using the WCSS elbow-method.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Determine the number based on the point on the graph that looks like an elbow.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C9A9959-70BC-4DF5-A5B2-4D3A0B235E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662" y="3628553"/>
            <a:ext cx="3876675" cy="249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7999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63E830-5C97-4A75-9BC1-361A4198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Over-fitting in unsupervised learning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877D35-8D6A-4A99-BAF4-3952F2BA0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If there are too many clusters for a particular dataset, a generalized model is not created.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For example, there are three actual types of iris varieties, but setting the cluster to five creates an unsuitable model.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C9FAC72-A3C3-492E-B174-FF1E2EF371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315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E768E2-A535-4DE5-B299-72A89AC438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A474EA-640F-4507-AFC8-0846D3134F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Gaussian mixture model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10E97B4-24DA-421D-9217-6F2C21207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274059-5659-4933-817F-7AD3B7018BA9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40271186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39C8-076B-4121-9725-EA4775E0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1A2A2E-B282-4CC9-9004-93BAE3C79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used in clustering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data distribution is represented using the mean and variance of the data.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Gaussian distribution is mixed to represent complex data consisting of several groups.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871EAA-86D7-4D96-B210-F21438B92C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2529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39C8-076B-4121-9725-EA4775E0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34F5DA8-A4A9-4ECE-AEEB-A5A5B51A45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9837" y="2062956"/>
            <a:ext cx="7172325" cy="3876675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2871EAA-86D7-4D96-B210-F21438B92C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4301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39C8-076B-4121-9725-EA4775E0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1A2A2E-B282-4CC9-9004-93BAE3C79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Gaussian mixture model calculates the mean and variance for each Gaussian distribution at the data point.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Initialize the mean and variance of each Gaussian distribution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the weight of each data point from group to group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Recompute parameters with weights obtained in course 2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Repeat Steps 2 and 3 until each change in the average updated in Course 3 is sufficiently small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871EAA-86D7-4D96-B210-F21438B92C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7099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3D4E02-8B50-4FCF-95C4-843AC2F9D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8DEBA6-2AB8-4E4C-9FF7-F5422FB015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Gaussian mixture model instance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predicted data</a:t>
            </a:r>
          </a:p>
          <a:p>
            <a:r>
              <a:rPr lang="en-US" altLang="ko-KR" dirty="0"/>
              <a:t>Print means</a:t>
            </a:r>
          </a:p>
          <a:p>
            <a:r>
              <a:rPr lang="en-US" altLang="ko-KR"/>
              <a:t>Print covariances</a:t>
            </a:r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9AC66AFE-FCB0-4DEF-9D8F-F309F8F0BBF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26630"/>
            <a:ext cx="5181600" cy="394932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321480A-F299-4B1D-8693-B07962BE99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2425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FBA749-92AB-45F5-A5B9-1FB19BC174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9DBC248-5B4C-4735-AD63-7BF2D6109F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Local Linear Embedding, LLE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F1395D0-51A0-4404-B999-D86CBCA95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D958A0-E95B-496C-9A22-A311F679748D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27140135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B40961-8433-45B4-9971-EEEE06E58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Dictionary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12C357-8B58-4C80-9C0F-277140D430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manifold: The low-dimensional manifold is a low-dimensional shape bent or twisted in a high-dimensional space.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75C7467-E6E4-477F-AA33-21F15135D6B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938" y="1825625"/>
            <a:ext cx="3978442" cy="392563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28F8509-B123-4F59-84A3-4ED97E298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4343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1CA9C-D61D-4F44-8906-9353A301D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38A385-E52F-4B4B-AF20-3E3AB7063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LLE is an algorithm that represents a curved or twisted structure in a high-dimensional space as a simple structure in a low-dimensional space.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LLE is one of the manifold learnings that dimensionally reduce data of nonlinear structures.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LLE takes out the 2D structure hidden in the 3D space and represents it as 2D data.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03B52E7-2F47-4BB9-86CB-2CF5A96AB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731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1CA9C-D61D-4F44-8906-9353A301D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6437E611-D0FA-4F71-9C3B-4BD8A0B649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243" y="2247037"/>
            <a:ext cx="8673513" cy="3320716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03B52E7-2F47-4BB9-86CB-2CF5A96ABD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0106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90F7BD-D3DE-4461-B2F6-64926AC95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Three steps in LLE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Construct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kNN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graph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the reconstruction of weights for reconstructing every point by its neighbors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Use the obtained weights to embed the points in the low dimensional subspace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1192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390F7BD-D3DE-4461-B2F6-64926AC958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solidFill>
                      <a:srgbClr val="000000"/>
                    </a:solidFill>
                  </a:rPr>
                  <a:t>Training data: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}</m:t>
                        </m:r>
                        <m:r>
                          <m:rPr>
                            <m:nor/>
                          </m:rPr>
                          <a:rPr lang="ko-KR" altLang="en-US" dirty="0"/>
                          <m:t> 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solidFill>
                      <a:srgbClr val="000000"/>
                    </a:solidFill>
                  </a:rPr>
                  <a:t>j–</a:t>
                </a:r>
                <a:r>
                  <a:rPr lang="en-US" altLang="ko-KR" dirty="0" err="1">
                    <a:solidFill>
                      <a:srgbClr val="000000"/>
                    </a:solidFill>
                  </a:rPr>
                  <a:t>th</a:t>
                </a:r>
                <a:r>
                  <a:rPr lang="en-US" altLang="ko-KR" dirty="0">
                    <a:solidFill>
                      <a:srgbClr val="000000"/>
                    </a:solidFill>
                  </a:rPr>
                  <a:t> neighbor of</a:t>
                </a:r>
                <a:r>
                  <a:rPr lang="en-US" altLang="ko-KR" dirty="0">
                    <a:solidFill>
                      <a:srgbClr val="000000"/>
                    </a:solidFill>
                    <a:latin typeface="Helvetica Neu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: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solidFill>
                      <a:srgbClr val="000000"/>
                    </a:solidFill>
                  </a:rPr>
                  <a:t>Test dataset: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sSubSup>
                          <m:sSub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}</m:t>
                        </m:r>
                        <m:r>
                          <m:rPr>
                            <m:nor/>
                          </m:rPr>
                          <a:rPr lang="ko-KR" altLang="en-US" dirty="0"/>
                          <m:t> 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</m:sSup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Training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rgbClr val="000000"/>
                    </a:solidFill>
                    <a:latin typeface="Helvetica Neue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: 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altLang="ko-KR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endParaRPr lang="en-US" altLang="ko-KR" b="0" i="0" dirty="0">
                  <a:solidFill>
                    <a:srgbClr val="000000"/>
                  </a:solidFill>
                  <a:effectLst/>
                  <a:latin typeface="Helvetica Neue"/>
                </a:endParaRP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390F7BD-D3DE-4461-B2F6-64926AC958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1763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LLE step 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90F7BD-D3DE-4461-B2F6-64926AC95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Linear regional relationship modeling.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000000"/>
                </a:solidFill>
              </a:rPr>
              <a:t>Fix the sample and find the optimal weight.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DDF403-81C0-4F3B-88FE-2CF53783C8F8}"/>
                  </a:ext>
                </a:extLst>
              </p:cNvPr>
              <p:cNvSpPr txBox="1"/>
              <p:nvPr/>
            </p:nvSpPr>
            <p:spPr>
              <a:xfrm>
                <a:off x="838200" y="2822942"/>
                <a:ext cx="3818931" cy="8667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𝑎𝑟𝑔𝑚𝑖𝑛</m:t>
                      </m:r>
                      <m:nary>
                        <m:naryPr>
                          <m:chr m:val="∑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p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DDF403-81C0-4F3B-88FE-2CF53783C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22942"/>
                <a:ext cx="3818931" cy="866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AA7D3B-63FA-46C1-B04D-F3EB18AA0590}"/>
                  </a:ext>
                </a:extLst>
              </p:cNvPr>
              <p:cNvSpPr txBox="1"/>
              <p:nvPr/>
            </p:nvSpPr>
            <p:spPr>
              <a:xfrm>
                <a:off x="838200" y="3730368"/>
                <a:ext cx="6379247" cy="8842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조</m:t>
                    </m:r>
                  </m:oMath>
                </a14:m>
                <a:r>
                  <a:rPr lang="ko-KR" altLang="en-US" dirty="0"/>
                  <a:t>건</a:t>
                </a:r>
                <a:r>
                  <a:rPr lang="en-US" altLang="ko-KR" dirty="0"/>
                  <a:t>]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Pre>
                          <m:sPrePr>
                            <m:ctrlPr>
                              <a:rPr lang="en-US" altLang="ko-KR" i="1" dirty="0" smtClean="0">
                                <a:latin typeface="Cambria Math" panose="02040503050406030204" pitchFamily="18" charset="0"/>
                              </a:rPr>
                            </m:ctrlPr>
                          </m:sPrePr>
                          <m:sub>
                            <m:nary>
                              <m:naryPr>
                                <m:chr m:val="∑"/>
                                <m:ctrlP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nary>
                          </m:sub>
                          <m:sup>
                            <m:sSub>
                              <m:sSub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</m:sSub>
                          </m:sup>
                          <m:e>
                            <m:sPre>
                              <m:sPre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PrePr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=1, 2, 3, …,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일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때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                                                                                  </m:t>
                                </m:r>
                              </m:sub>
                              <m:sup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d>
                                      <m:d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가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의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최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근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접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이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웃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개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중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하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나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가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아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닐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때</m:t>
                                </m:r>
                              </m:sup>
                              <m:e/>
                            </m:sPre>
                          </m:e>
                        </m:sPre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AA7D3B-63FA-46C1-B04D-F3EB18AA0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730368"/>
                <a:ext cx="6379247" cy="8842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84535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LLE step 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90F7BD-D3DE-4461-B2F6-64926AC95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Reduce the dimension of preserving relationships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Fix the weights and find the optimal location of the sample image in the low-dimensional space.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1AE7616-9556-4218-839F-EA00F07296B1}"/>
                  </a:ext>
                </a:extLst>
              </p:cNvPr>
              <p:cNvSpPr txBox="1"/>
              <p:nvPr/>
            </p:nvSpPr>
            <p:spPr>
              <a:xfrm>
                <a:off x="838200" y="3429000"/>
                <a:ext cx="3670044" cy="8422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𝑎𝑟𝑔𝑚𝑖𝑛</m:t>
                      </m:r>
                      <m:nary>
                        <m:naryPr>
                          <m:chr m:val="∑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p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1AE7616-9556-4218-839F-EA00F07296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429000"/>
                <a:ext cx="3670044" cy="8422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70082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B0237-A0B5-4EBA-8931-21916DDC5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2D941E-9E90-4A7C-BD60-35356E97F4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dataset</a:t>
            </a:r>
          </a:p>
          <a:p>
            <a:r>
              <a:rPr lang="en-US" altLang="ko-KR" dirty="0"/>
              <a:t>Set </a:t>
            </a:r>
            <a:r>
              <a:rPr lang="en-US" altLang="ko-KR" dirty="0" err="1"/>
              <a:t>n_neighbors</a:t>
            </a:r>
            <a:r>
              <a:rPr lang="en-US" altLang="ko-KR" dirty="0"/>
              <a:t> and dimension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result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014757D0-53FD-4766-BB86-0176250F0D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39608"/>
            <a:ext cx="5181600" cy="332337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3B9212F-5231-43BB-830E-5F40A4732D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520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71E3C5-BDF0-4947-A8D6-D690CED2A6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5BB64F4-5683-4E4D-8FB5-54E770083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t-distributed stochastic neighbor embedding, t-SNE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C680046-0F2D-406B-934D-2497A3FEB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2696A6-AC2D-4572-BECE-FB4993CA88FA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164683391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039-6517-4E3D-A561-CD5AC24AE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6C73AD-6A1F-4336-8A97-45B39F081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 method of dimensionally reducing complex data in high dimensions to two dimensions.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t-SNE is one of manifold learning and aims to visualize complex data.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3CA0AF8-7840-4632-BAEC-9BC74151CD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5526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62962-8B85-4367-9716-B39DE4FB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774E18B-8BBE-4D9E-8686-21B0FCD378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4337" y="1825625"/>
            <a:ext cx="4503325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EDD3078-659B-4BBE-8C8B-01B85D160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5929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323A33-2FA2-450A-BF6F-56353143A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9C9DA01-AEB3-4EB8-B67D-91FADFB7EC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t-SNE steps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similarity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pairs is expressed as similarity using Gaussian distribution.</a:t>
                </a:r>
              </a:p>
              <a:p>
                <a:pPr marL="742950" lvl="1" indent="-285750"/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We randomly place the same number of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in a low-dimensional space, and show the similarities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pairs using the t distribution.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If possible, the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updated so that the similarity distribution defined in 1 and 2 is the same.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Repeat step 3 until the convergence condition.</a:t>
                </a: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9C9DA01-AEB3-4EB8-B67D-91FADFB7EC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A6CEB165-8135-4852-93D4-3F13D2301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3775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868EB-18C1-4CAF-AE29-DFD7B61BF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FCC25D-9F86-4336-9E47-283FD2CE2B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Load data</a:t>
            </a:r>
          </a:p>
          <a:p>
            <a:r>
              <a:rPr lang="en-US" altLang="ko-KR" dirty="0"/>
              <a:t>Make t-SNE model</a:t>
            </a:r>
          </a:p>
          <a:p>
            <a:r>
              <a:rPr lang="en-US" altLang="ko-KR" dirty="0"/>
              <a:t>Print result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0AFC717C-2C7E-4F0E-A8D5-5B5DFA5F009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958"/>
            <a:ext cx="5181600" cy="317067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022C671-EE5B-46A3-9C47-0A23278590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97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2327</Words>
  <Application>Microsoft Office PowerPoint</Application>
  <PresentationFormat>와이드스크린</PresentationFormat>
  <Paragraphs>342</Paragraphs>
  <Slides>62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62</vt:i4>
      </vt:variant>
    </vt:vector>
  </HeadingPairs>
  <TitlesOfParts>
    <vt:vector size="68" baseType="lpstr">
      <vt:lpstr>Helvetica Neue</vt:lpstr>
      <vt:lpstr>noto</vt:lpstr>
      <vt:lpstr>맑은 고딕</vt:lpstr>
      <vt:lpstr>Arial</vt:lpstr>
      <vt:lpstr>Cambria Math</vt:lpstr>
      <vt:lpstr>Office 테마</vt:lpstr>
      <vt:lpstr>Unsupervised Learning</vt:lpstr>
      <vt:lpstr>Fundamental Concept</vt:lpstr>
      <vt:lpstr>Fundamental Concept</vt:lpstr>
      <vt:lpstr>Fundamental Concept</vt:lpstr>
      <vt:lpstr>Fundamental Concept</vt:lpstr>
      <vt:lpstr>Algorithm</vt:lpstr>
      <vt:lpstr>Algorithm Covariance</vt:lpstr>
      <vt:lpstr>Algorithm Covariance</vt:lpstr>
      <vt:lpstr>Algorithm Correlation</vt:lpstr>
      <vt:lpstr>Algorithm Covariance Matrix</vt:lpstr>
      <vt:lpstr>Algorithm Correlation Matrix</vt:lpstr>
      <vt:lpstr>Algorithm</vt:lpstr>
      <vt:lpstr>Algorithm</vt:lpstr>
      <vt:lpstr>Sample Code</vt:lpstr>
      <vt:lpstr>Unsupervised Learning</vt:lpstr>
      <vt:lpstr>Fundamental Concept</vt:lpstr>
      <vt:lpstr>Algorithm</vt:lpstr>
      <vt:lpstr>Algorithm</vt:lpstr>
      <vt:lpstr>Algorithm</vt:lpstr>
      <vt:lpstr>Algorithm</vt:lpstr>
      <vt:lpstr>Algorithm</vt:lpstr>
      <vt:lpstr>Sample Code</vt:lpstr>
      <vt:lpstr>Points to note</vt:lpstr>
      <vt:lpstr>Unsupervised Learning</vt:lpstr>
      <vt:lpstr>Fundamental Concept</vt:lpstr>
      <vt:lpstr>Fundamental Concept</vt:lpstr>
      <vt:lpstr>Fundamental Concept</vt:lpstr>
      <vt:lpstr>Fundamental Concept</vt:lpstr>
      <vt:lpstr>Sample Code</vt:lpstr>
      <vt:lpstr>Unsupervised Learning</vt:lpstr>
      <vt:lpstr>Fundamental Concept</vt:lpstr>
      <vt:lpstr>Algorithm</vt:lpstr>
      <vt:lpstr>Sample Code</vt:lpstr>
      <vt:lpstr>Disposal of stop word</vt:lpstr>
      <vt:lpstr>Unsupervised Learning</vt:lpstr>
      <vt:lpstr>Fundamental Concept</vt:lpstr>
      <vt:lpstr>Fundamental Concept</vt:lpstr>
      <vt:lpstr>Algorithm</vt:lpstr>
      <vt:lpstr>Algorithm</vt:lpstr>
      <vt:lpstr>Sample Code</vt:lpstr>
      <vt:lpstr>Within-cluster sum of squares, WCSS</vt:lpstr>
      <vt:lpstr>WCSS elbow method</vt:lpstr>
      <vt:lpstr>Over-fitting in unsupervised learning</vt:lpstr>
      <vt:lpstr>Unsupervised Learning</vt:lpstr>
      <vt:lpstr>Fundamental Concept</vt:lpstr>
      <vt:lpstr>Fundamental Concept</vt:lpstr>
      <vt:lpstr>Algorithm</vt:lpstr>
      <vt:lpstr>Sample Code</vt:lpstr>
      <vt:lpstr>Unsupervised Learning</vt:lpstr>
      <vt:lpstr>A Dictionary Concept</vt:lpstr>
      <vt:lpstr>Fundamental Concept</vt:lpstr>
      <vt:lpstr>Fundamental Concept</vt:lpstr>
      <vt:lpstr>Fundamental Concept</vt:lpstr>
      <vt:lpstr>Algorithm</vt:lpstr>
      <vt:lpstr>Algorithm LLE step 1</vt:lpstr>
      <vt:lpstr>Algorithm LLE step 2</vt:lpstr>
      <vt:lpstr>Sample Code</vt:lpstr>
      <vt:lpstr>Unsupervised Learning</vt:lpstr>
      <vt:lpstr>Fundamental Concept</vt:lpstr>
      <vt:lpstr>Fundamental Concept</vt:lpstr>
      <vt:lpstr>Algorithm</vt:lpstr>
      <vt:lpstr>Sample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Learning</dc:title>
  <dc:creator>신 주영</dc:creator>
  <cp:lastModifiedBy>신 주영</cp:lastModifiedBy>
  <cp:revision>9</cp:revision>
  <dcterms:created xsi:type="dcterms:W3CDTF">2022-04-10T06:58:19Z</dcterms:created>
  <dcterms:modified xsi:type="dcterms:W3CDTF">2022-04-12T13:14:33Z</dcterms:modified>
</cp:coreProperties>
</file>